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Lst>
  <p:notesMasterIdLst>
    <p:notesMasterId r:id="rId28"/>
  </p:notesMasterIdLst>
  <p:sldIdLst>
    <p:sldId id="256" r:id="rId5"/>
    <p:sldId id="1196" r:id="rId6"/>
    <p:sldId id="1102" r:id="rId7"/>
    <p:sldId id="1192" r:id="rId8"/>
    <p:sldId id="1194" r:id="rId9"/>
    <p:sldId id="2074" r:id="rId10"/>
    <p:sldId id="2073" r:id="rId11"/>
    <p:sldId id="1195" r:id="rId12"/>
    <p:sldId id="980" r:id="rId13"/>
    <p:sldId id="1158" r:id="rId14"/>
    <p:sldId id="1191" r:id="rId15"/>
    <p:sldId id="1160" r:id="rId16"/>
    <p:sldId id="1197" r:id="rId17"/>
    <p:sldId id="1190" r:id="rId18"/>
    <p:sldId id="1076" r:id="rId19"/>
    <p:sldId id="1145" r:id="rId20"/>
    <p:sldId id="1199" r:id="rId21"/>
    <p:sldId id="1150" r:id="rId22"/>
    <p:sldId id="2075" r:id="rId23"/>
    <p:sldId id="1079" r:id="rId24"/>
    <p:sldId id="1092" r:id="rId25"/>
    <p:sldId id="1093" r:id="rId26"/>
    <p:sldId id="1198" r:id="rId27"/>
  </p:sldIdLst>
  <p:sldSz cx="12192000" cy="6858000"/>
  <p:notesSz cx="6792913" cy="9925050"/>
  <p:defaultTextStyle>
    <a:defPPr>
      <a:defRPr lang="de-CH"/>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3F3F"/>
    <a:srgbClr val="CC0000"/>
    <a:srgbClr val="4F81BD"/>
    <a:srgbClr val="C0C0C0"/>
    <a:srgbClr val="FF9900"/>
    <a:srgbClr val="5F5F5F"/>
    <a:srgbClr val="EE7700"/>
    <a:srgbClr val="FF9933"/>
    <a:srgbClr val="CBD9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autoAdjust="0"/>
    <p:restoredTop sz="94422" autoAdjust="0"/>
  </p:normalViewPr>
  <p:slideViewPr>
    <p:cSldViewPr snapToGrid="0">
      <p:cViewPr varScale="1">
        <p:scale>
          <a:sx n="87" d="100"/>
          <a:sy n="87" d="100"/>
        </p:scale>
        <p:origin x="355" y="67"/>
      </p:cViewPr>
      <p:guideLst>
        <p:guide orient="horz" pos="2160"/>
        <p:guide pos="3840"/>
      </p:guideLst>
    </p:cSldViewPr>
  </p:slideViewPr>
  <p:notesTextViewPr>
    <p:cViewPr>
      <p:scale>
        <a:sx n="1" d="1"/>
        <a:sy n="1" d="1"/>
      </p:scale>
      <p:origin x="0" y="0"/>
    </p:cViewPr>
  </p:notesTextViewPr>
  <p:sorterViewPr>
    <p:cViewPr>
      <p:scale>
        <a:sx n="100" d="100"/>
        <a:sy n="100" d="100"/>
      </p:scale>
      <p:origin x="0" y="-3288"/>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D0A97C6-CBA4-7D47-99BA-440EDEC3C2FF}"/>
              </a:ext>
            </a:extLst>
          </p:cNvPr>
          <p:cNvSpPr>
            <a:spLocks noGrp="1"/>
          </p:cNvSpPr>
          <p:nvPr>
            <p:ph type="hdr" sz="quarter"/>
          </p:nvPr>
        </p:nvSpPr>
        <p:spPr>
          <a:xfrm>
            <a:off x="1" y="0"/>
            <a:ext cx="2943595" cy="496253"/>
          </a:xfrm>
          <a:prstGeom prst="rect">
            <a:avLst/>
          </a:prstGeom>
        </p:spPr>
        <p:txBody>
          <a:bodyPr vert="horz" lIns="91403" tIns="45702" rIns="91403" bIns="45702" rtlCol="0"/>
          <a:lstStyle>
            <a:lvl1pPr algn="l" eaLnBrk="1" hangingPunct="1">
              <a:defRPr sz="1200">
                <a:latin typeface="Tahoma" charset="0"/>
              </a:defRPr>
            </a:lvl1pPr>
          </a:lstStyle>
          <a:p>
            <a:pPr>
              <a:defRPr/>
            </a:pPr>
            <a:endParaRPr lang="de-CH"/>
          </a:p>
        </p:txBody>
      </p:sp>
      <p:sp>
        <p:nvSpPr>
          <p:cNvPr id="3" name="Datumsplatzhalter 2">
            <a:extLst>
              <a:ext uri="{FF2B5EF4-FFF2-40B4-BE49-F238E27FC236}">
                <a16:creationId xmlns:a16="http://schemas.microsoft.com/office/drawing/2014/main" id="{C9E0F7FB-50C6-7749-97DA-D20439BD20BD}"/>
              </a:ext>
            </a:extLst>
          </p:cNvPr>
          <p:cNvSpPr>
            <a:spLocks noGrp="1"/>
          </p:cNvSpPr>
          <p:nvPr>
            <p:ph type="dt" idx="1"/>
          </p:nvPr>
        </p:nvSpPr>
        <p:spPr>
          <a:xfrm>
            <a:off x="3847747" y="0"/>
            <a:ext cx="2943595" cy="496253"/>
          </a:xfrm>
          <a:prstGeom prst="rect">
            <a:avLst/>
          </a:prstGeom>
        </p:spPr>
        <p:txBody>
          <a:bodyPr vert="horz" lIns="91403" tIns="45702" rIns="91403" bIns="45702" rtlCol="0"/>
          <a:lstStyle>
            <a:lvl1pPr algn="r" eaLnBrk="1" hangingPunct="1">
              <a:defRPr sz="1200">
                <a:latin typeface="Tahoma" charset="0"/>
              </a:defRPr>
            </a:lvl1pPr>
          </a:lstStyle>
          <a:p>
            <a:pPr>
              <a:defRPr/>
            </a:pPr>
            <a:fld id="{9C337507-0E08-D746-B86D-97C6D35B86F4}" type="datetimeFigureOut">
              <a:rPr lang="de-DE"/>
              <a:pPr>
                <a:defRPr/>
              </a:pPr>
              <a:t>06.10.2025</a:t>
            </a:fld>
            <a:endParaRPr lang="de-CH"/>
          </a:p>
        </p:txBody>
      </p:sp>
      <p:sp>
        <p:nvSpPr>
          <p:cNvPr id="4" name="Folienbildplatzhalter 3">
            <a:extLst>
              <a:ext uri="{FF2B5EF4-FFF2-40B4-BE49-F238E27FC236}">
                <a16:creationId xmlns:a16="http://schemas.microsoft.com/office/drawing/2014/main" id="{C5EDB9EC-F031-7749-94FC-6A190E2D5F1A}"/>
              </a:ext>
            </a:extLst>
          </p:cNvPr>
          <p:cNvSpPr>
            <a:spLocks noGrp="1" noRot="1" noChangeAspect="1"/>
          </p:cNvSpPr>
          <p:nvPr>
            <p:ph type="sldImg" idx="2"/>
          </p:nvPr>
        </p:nvSpPr>
        <p:spPr>
          <a:xfrm>
            <a:off x="88900" y="744538"/>
            <a:ext cx="6615113" cy="3721100"/>
          </a:xfrm>
          <a:prstGeom prst="rect">
            <a:avLst/>
          </a:prstGeom>
          <a:noFill/>
          <a:ln w="12700">
            <a:solidFill>
              <a:prstClr val="black"/>
            </a:solidFill>
          </a:ln>
        </p:spPr>
        <p:txBody>
          <a:bodyPr vert="horz" lIns="91403" tIns="45702" rIns="91403" bIns="45702" rtlCol="0" anchor="ctr"/>
          <a:lstStyle/>
          <a:p>
            <a:pPr lvl="0"/>
            <a:endParaRPr lang="de-CH" noProof="0"/>
          </a:p>
        </p:txBody>
      </p:sp>
      <p:sp>
        <p:nvSpPr>
          <p:cNvPr id="5" name="Notizenplatzhalter 4">
            <a:extLst>
              <a:ext uri="{FF2B5EF4-FFF2-40B4-BE49-F238E27FC236}">
                <a16:creationId xmlns:a16="http://schemas.microsoft.com/office/drawing/2014/main" id="{C121924E-C3C2-DB4D-BC47-32BB777B1A0B}"/>
              </a:ext>
            </a:extLst>
          </p:cNvPr>
          <p:cNvSpPr>
            <a:spLocks noGrp="1"/>
          </p:cNvSpPr>
          <p:nvPr>
            <p:ph type="body" sz="quarter" idx="3"/>
          </p:nvPr>
        </p:nvSpPr>
        <p:spPr>
          <a:xfrm>
            <a:off x="679292" y="4714399"/>
            <a:ext cx="5434330" cy="4466272"/>
          </a:xfrm>
          <a:prstGeom prst="rect">
            <a:avLst/>
          </a:prstGeom>
        </p:spPr>
        <p:txBody>
          <a:bodyPr vert="horz" lIns="91403" tIns="45702" rIns="91403" bIns="45702" rtlCol="0">
            <a:normAutofit/>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6" name="Fußzeilenplatzhalter 5">
            <a:extLst>
              <a:ext uri="{FF2B5EF4-FFF2-40B4-BE49-F238E27FC236}">
                <a16:creationId xmlns:a16="http://schemas.microsoft.com/office/drawing/2014/main" id="{F0FC0098-2159-DF40-898B-21AB2C650A09}"/>
              </a:ext>
            </a:extLst>
          </p:cNvPr>
          <p:cNvSpPr>
            <a:spLocks noGrp="1"/>
          </p:cNvSpPr>
          <p:nvPr>
            <p:ph type="ftr" sz="quarter" idx="4"/>
          </p:nvPr>
        </p:nvSpPr>
        <p:spPr>
          <a:xfrm>
            <a:off x="1" y="9427075"/>
            <a:ext cx="2943595" cy="496253"/>
          </a:xfrm>
          <a:prstGeom prst="rect">
            <a:avLst/>
          </a:prstGeom>
        </p:spPr>
        <p:txBody>
          <a:bodyPr vert="horz" lIns="91403" tIns="45702" rIns="91403" bIns="45702" rtlCol="0" anchor="b"/>
          <a:lstStyle>
            <a:lvl1pPr algn="l" eaLnBrk="1" hangingPunct="1">
              <a:defRPr sz="1200">
                <a:latin typeface="Tahoma" charset="0"/>
              </a:defRPr>
            </a:lvl1pPr>
          </a:lstStyle>
          <a:p>
            <a:pPr>
              <a:defRPr/>
            </a:pPr>
            <a:endParaRPr lang="de-CH"/>
          </a:p>
        </p:txBody>
      </p:sp>
      <p:sp>
        <p:nvSpPr>
          <p:cNvPr id="7" name="Foliennummernplatzhalter 6">
            <a:extLst>
              <a:ext uri="{FF2B5EF4-FFF2-40B4-BE49-F238E27FC236}">
                <a16:creationId xmlns:a16="http://schemas.microsoft.com/office/drawing/2014/main" id="{F9C2706E-26DC-9A43-B20D-8F61CA097B22}"/>
              </a:ext>
            </a:extLst>
          </p:cNvPr>
          <p:cNvSpPr>
            <a:spLocks noGrp="1"/>
          </p:cNvSpPr>
          <p:nvPr>
            <p:ph type="sldNum" sz="quarter" idx="5"/>
          </p:nvPr>
        </p:nvSpPr>
        <p:spPr>
          <a:xfrm>
            <a:off x="3847747" y="9427075"/>
            <a:ext cx="2943595" cy="496253"/>
          </a:xfrm>
          <a:prstGeom prst="rect">
            <a:avLst/>
          </a:prstGeom>
        </p:spPr>
        <p:txBody>
          <a:bodyPr vert="horz" wrap="square" lIns="91403" tIns="45702" rIns="91403" bIns="45702" numCol="1" anchor="b" anchorCtr="0" compatLnSpc="1">
            <a:prstTxWarp prst="textNoShape">
              <a:avLst/>
            </a:prstTxWarp>
          </a:bodyPr>
          <a:lstStyle>
            <a:lvl1pPr algn="r" eaLnBrk="1" hangingPunct="1">
              <a:defRPr sz="1200"/>
            </a:lvl1pPr>
          </a:lstStyle>
          <a:p>
            <a:pPr>
              <a:defRPr/>
            </a:pPr>
            <a:fld id="{0923BCDD-C6ED-2E4C-BC83-F2D85D5A489B}" type="slidenum">
              <a:rPr lang="de-CH" altLang="de-DE"/>
              <a:pPr>
                <a:defRPr/>
              </a:pPr>
              <a:t>‹#›</a:t>
            </a:fld>
            <a:endParaRPr lang="de-CH" altLang="de-D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F5BD2-831C-DE35-3745-F9E7F9599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8B357-F92B-66F9-A69C-A9005A0DA2B8}"/>
              </a:ext>
            </a:extLst>
          </p:cNvPr>
          <p:cNvSpPr>
            <a:spLocks noGrp="1" noRot="1" noChangeAspect="1"/>
          </p:cNvSpPr>
          <p:nvPr>
            <p:ph type="sldImg"/>
          </p:nvPr>
        </p:nvSpPr>
        <p:spPr>
          <a:xfrm>
            <a:off x="765175" y="900113"/>
            <a:ext cx="5559425" cy="3127375"/>
          </a:xfrm>
        </p:spPr>
      </p:sp>
      <p:sp>
        <p:nvSpPr>
          <p:cNvPr id="3" name="Notes Placeholder 2">
            <a:extLst>
              <a:ext uri="{FF2B5EF4-FFF2-40B4-BE49-F238E27FC236}">
                <a16:creationId xmlns:a16="http://schemas.microsoft.com/office/drawing/2014/main" id="{6CD00ECF-19CB-4A96-5D65-168894F960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a:t>«An expert </a:t>
            </a:r>
            <a:r>
              <a:rPr lang="de-CH" err="1"/>
              <a:t>system</a:t>
            </a:r>
            <a:r>
              <a:rPr lang="de-CH"/>
              <a:t> </a:t>
            </a:r>
            <a:r>
              <a:rPr lang="de-CH" err="1"/>
              <a:t>is</a:t>
            </a:r>
            <a:r>
              <a:rPr lang="de-CH"/>
              <a:t> an intelligent </a:t>
            </a:r>
            <a:r>
              <a:rPr lang="de-CH" err="1"/>
              <a:t>computer</a:t>
            </a:r>
            <a:r>
              <a:rPr lang="de-CH"/>
              <a:t> </a:t>
            </a:r>
            <a:r>
              <a:rPr lang="de-CH" err="1"/>
              <a:t>program</a:t>
            </a:r>
            <a:r>
              <a:rPr lang="de-CH"/>
              <a:t> </a:t>
            </a:r>
            <a:r>
              <a:rPr lang="de-CH" err="1"/>
              <a:t>that</a:t>
            </a:r>
            <a:r>
              <a:rPr lang="de-CH"/>
              <a:t> </a:t>
            </a:r>
            <a:r>
              <a:rPr lang="de-CH" err="1"/>
              <a:t>uses</a:t>
            </a:r>
            <a:r>
              <a:rPr lang="de-CH"/>
              <a:t> </a:t>
            </a:r>
            <a:r>
              <a:rPr lang="de-CH" err="1"/>
              <a:t>knowledge</a:t>
            </a:r>
            <a:r>
              <a:rPr lang="de-CH"/>
              <a:t> </a:t>
            </a:r>
            <a:r>
              <a:rPr lang="de-CH" err="1"/>
              <a:t>and</a:t>
            </a:r>
            <a:r>
              <a:rPr lang="de-CH"/>
              <a:t> </a:t>
            </a:r>
            <a:r>
              <a:rPr lang="de-CH" err="1"/>
              <a:t>inference</a:t>
            </a:r>
            <a:r>
              <a:rPr lang="de-CH"/>
              <a:t> </a:t>
            </a:r>
            <a:r>
              <a:rPr lang="de-CH" err="1"/>
              <a:t>procedures</a:t>
            </a:r>
            <a:r>
              <a:rPr lang="de-CH"/>
              <a:t> </a:t>
            </a:r>
            <a:r>
              <a:rPr lang="de-CH" err="1"/>
              <a:t>to</a:t>
            </a:r>
            <a:r>
              <a:rPr lang="de-CH"/>
              <a:t> </a:t>
            </a:r>
            <a:r>
              <a:rPr lang="de-CH" err="1"/>
              <a:t>solve</a:t>
            </a:r>
            <a:r>
              <a:rPr lang="de-CH"/>
              <a:t> </a:t>
            </a:r>
            <a:r>
              <a:rPr lang="de-CH" err="1"/>
              <a:t>problems</a:t>
            </a:r>
            <a:r>
              <a:rPr lang="de-CH"/>
              <a:t> </a:t>
            </a:r>
            <a:r>
              <a:rPr lang="de-CH" err="1"/>
              <a:t>that</a:t>
            </a:r>
            <a:r>
              <a:rPr lang="de-CH"/>
              <a:t> </a:t>
            </a:r>
            <a:r>
              <a:rPr lang="de-CH" err="1"/>
              <a:t>are</a:t>
            </a:r>
            <a:r>
              <a:rPr lang="de-CH"/>
              <a:t> </a:t>
            </a:r>
            <a:r>
              <a:rPr lang="de-CH" err="1"/>
              <a:t>difficult</a:t>
            </a:r>
            <a:r>
              <a:rPr lang="de-CH"/>
              <a:t> </a:t>
            </a:r>
            <a:r>
              <a:rPr lang="de-CH" err="1"/>
              <a:t>enough</a:t>
            </a:r>
            <a:r>
              <a:rPr lang="de-CH"/>
              <a:t> </a:t>
            </a:r>
            <a:r>
              <a:rPr lang="de-CH" err="1"/>
              <a:t>to</a:t>
            </a:r>
            <a:r>
              <a:rPr lang="de-CH"/>
              <a:t> </a:t>
            </a:r>
            <a:r>
              <a:rPr lang="de-CH" err="1"/>
              <a:t>require</a:t>
            </a:r>
            <a:r>
              <a:rPr lang="de-CH"/>
              <a:t> </a:t>
            </a:r>
            <a:r>
              <a:rPr lang="de-CH" err="1"/>
              <a:t>significant</a:t>
            </a:r>
            <a:r>
              <a:rPr lang="de-CH"/>
              <a:t> human </a:t>
            </a:r>
            <a:r>
              <a:rPr lang="de-CH" err="1"/>
              <a:t>expertise</a:t>
            </a:r>
            <a:r>
              <a:rPr lang="de-CH"/>
              <a:t> </a:t>
            </a:r>
            <a:r>
              <a:rPr lang="de-CH" err="1"/>
              <a:t>for</a:t>
            </a:r>
            <a:r>
              <a:rPr lang="de-CH"/>
              <a:t> </a:t>
            </a:r>
            <a:r>
              <a:rPr lang="de-CH" err="1"/>
              <a:t>their</a:t>
            </a:r>
            <a:r>
              <a:rPr lang="de-CH"/>
              <a:t> </a:t>
            </a:r>
            <a:r>
              <a:rPr lang="de-CH" err="1"/>
              <a:t>solution</a:t>
            </a:r>
            <a:r>
              <a:rPr lang="de-CH"/>
              <a:t>.»</a:t>
            </a:r>
          </a:p>
          <a:p>
            <a:endParaRPr lang="en-US"/>
          </a:p>
        </p:txBody>
      </p:sp>
      <p:sp>
        <p:nvSpPr>
          <p:cNvPr id="4" name="Slide Number Placeholder 3">
            <a:extLst>
              <a:ext uri="{FF2B5EF4-FFF2-40B4-BE49-F238E27FC236}">
                <a16:creationId xmlns:a16="http://schemas.microsoft.com/office/drawing/2014/main" id="{31AD3251-E0C0-FF56-FDEB-7AF93A9C2AB5}"/>
              </a:ext>
            </a:extLst>
          </p:cNvPr>
          <p:cNvSpPr>
            <a:spLocks noGrp="1"/>
          </p:cNvSpPr>
          <p:nvPr>
            <p:ph type="sldNum" sz="quarter" idx="10"/>
          </p:nvPr>
        </p:nvSpPr>
        <p:spPr/>
        <p:txBody>
          <a:bodyPr/>
          <a:lstStyle/>
          <a:p>
            <a:fld id="{20395AE0-6581-444C-B4AF-2E8182E623ED}" type="slidenum">
              <a:rPr lang="en-US" smtClean="0"/>
              <a:t>7</a:t>
            </a:fld>
            <a:endParaRPr lang="en-US"/>
          </a:p>
        </p:txBody>
      </p:sp>
    </p:spTree>
    <p:extLst>
      <p:ext uri="{BB962C8B-B14F-4D97-AF65-F5344CB8AC3E}">
        <p14:creationId xmlns:p14="http://schemas.microsoft.com/office/powerpoint/2010/main" val="284589924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Textplatzhalter 8">
            <a:extLst>
              <a:ext uri="{FF2B5EF4-FFF2-40B4-BE49-F238E27FC236}">
                <a16:creationId xmlns:a16="http://schemas.microsoft.com/office/drawing/2014/main" id="{E7CA4209-AF48-B74C-A72C-0D887AB24E1D}"/>
              </a:ext>
            </a:extLst>
          </p:cNvPr>
          <p:cNvSpPr>
            <a:spLocks noGrp="1"/>
          </p:cNvSpPr>
          <p:nvPr>
            <p:ph type="body" sz="quarter" idx="13"/>
          </p:nvPr>
        </p:nvSpPr>
        <p:spPr>
          <a:xfrm>
            <a:off x="335860" y="896120"/>
            <a:ext cx="9575286" cy="382047"/>
          </a:xfrm>
          <a:prstGeom prst="rect">
            <a:avLst/>
          </a:prstGeom>
        </p:spPr>
        <p:txBody>
          <a:bodyPr/>
          <a:lstStyle>
            <a:lvl1pPr marL="0" indent="0">
              <a:buNone/>
              <a:defRPr sz="1800" b="0" i="0">
                <a:solidFill>
                  <a:srgbClr val="557DBE"/>
                </a:solidFill>
                <a:latin typeface="Roboto Light" panose="02000000000000000000" pitchFamily="2" charset="0"/>
                <a:ea typeface="Roboto Light" panose="02000000000000000000" pitchFamily="2" charset="0"/>
                <a:cs typeface="Roboto Light" panose="02000000000000000000" pitchFamily="2" charset="0"/>
              </a:defRPr>
            </a:lvl1pPr>
            <a:lvl2pPr>
              <a:defRPr sz="2400">
                <a:solidFill>
                  <a:srgbClr val="557DBE"/>
                </a:solidFill>
                <a:latin typeface="+mj-lt"/>
              </a:defRPr>
            </a:lvl2pPr>
            <a:lvl3pPr>
              <a:defRPr sz="2400">
                <a:solidFill>
                  <a:srgbClr val="557DBE"/>
                </a:solidFill>
                <a:latin typeface="+mj-lt"/>
              </a:defRPr>
            </a:lvl3pPr>
            <a:lvl4pPr>
              <a:defRPr sz="2400">
                <a:solidFill>
                  <a:srgbClr val="557DBE"/>
                </a:solidFill>
                <a:latin typeface="+mj-lt"/>
              </a:defRPr>
            </a:lvl4pPr>
            <a:lvl5pPr>
              <a:defRPr sz="2400">
                <a:solidFill>
                  <a:srgbClr val="557DBE"/>
                </a:solidFill>
                <a:latin typeface="+mj-lt"/>
              </a:defRPr>
            </a:lvl5pPr>
          </a:lstStyle>
          <a:p>
            <a:pPr lvl="0"/>
            <a:endParaRPr lang="de-DE"/>
          </a:p>
        </p:txBody>
      </p:sp>
      <p:sp>
        <p:nvSpPr>
          <p:cNvPr id="8" name="Titelplatzhalter 1">
            <a:extLst>
              <a:ext uri="{FF2B5EF4-FFF2-40B4-BE49-F238E27FC236}">
                <a16:creationId xmlns:a16="http://schemas.microsoft.com/office/drawing/2014/main" id="{DAF79AD6-44A7-654A-9F00-E55D27FFAEA8}"/>
              </a:ext>
            </a:extLst>
          </p:cNvPr>
          <p:cNvSpPr>
            <a:spLocks noGrp="1" noChangeArrowheads="1"/>
          </p:cNvSpPr>
          <p:nvPr>
            <p:ph type="title"/>
          </p:nvPr>
        </p:nvSpPr>
        <p:spPr bwMode="auto">
          <a:xfrm>
            <a:off x="337139" y="404664"/>
            <a:ext cx="9575286" cy="491456"/>
          </a:xfrm>
          <a:prstGeom prst="rect">
            <a:avLst/>
          </a:prstGeom>
          <a:noFill/>
          <a:ln>
            <a:noFill/>
          </a:ln>
        </p:spPr>
        <p:txBody>
          <a:bodyPr/>
          <a:lstStyle>
            <a:lvl1pPr>
              <a:defRPr/>
            </a:lvl1pPr>
          </a:lstStyle>
          <a:p>
            <a:pPr lvl="0"/>
            <a:endParaRPr lang="de-CH" altLang="de-DE"/>
          </a:p>
        </p:txBody>
      </p:sp>
      <p:sp>
        <p:nvSpPr>
          <p:cNvPr id="9" name="Datumsplatzhalter 5">
            <a:extLst>
              <a:ext uri="{FF2B5EF4-FFF2-40B4-BE49-F238E27FC236}">
                <a16:creationId xmlns:a16="http://schemas.microsoft.com/office/drawing/2014/main" id="{FDC5BC38-EF67-4018-9BCD-C83DFD3094FE}"/>
              </a:ext>
            </a:extLst>
          </p:cNvPr>
          <p:cNvSpPr>
            <a:spLocks noGrp="1"/>
          </p:cNvSpPr>
          <p:nvPr>
            <p:ph type="dt" sz="half" idx="14"/>
          </p:nvPr>
        </p:nvSpPr>
        <p:spPr>
          <a:xfrm>
            <a:off x="335859" y="6520259"/>
            <a:ext cx="2844800" cy="365125"/>
          </a:xfrm>
          <a:prstGeom prst="rect">
            <a:avLst/>
          </a:prstGeom>
        </p:spPr>
        <p:txBody>
          <a:bodyPr/>
          <a:lstStyle>
            <a:lvl1pPr algn="l">
              <a:defRPr sz="900">
                <a:solidFill>
                  <a:schemeClr val="bg1">
                    <a:lumMod val="65000"/>
                  </a:schemeClr>
                </a:solidFill>
                <a:latin typeface="Roboto" panose="02000000000000000000"/>
              </a:defRPr>
            </a:lvl1pPr>
          </a:lstStyle>
          <a:p>
            <a:pPr>
              <a:defRPr/>
            </a:pPr>
            <a:endParaRPr lang="de-CH"/>
          </a:p>
        </p:txBody>
      </p:sp>
      <p:sp>
        <p:nvSpPr>
          <p:cNvPr id="10" name="Fußzeilenplatzhalter 8">
            <a:extLst>
              <a:ext uri="{FF2B5EF4-FFF2-40B4-BE49-F238E27FC236}">
                <a16:creationId xmlns:a16="http://schemas.microsoft.com/office/drawing/2014/main" id="{3F5C77A4-7549-4142-98D4-C36BB2B11D25}"/>
              </a:ext>
            </a:extLst>
          </p:cNvPr>
          <p:cNvSpPr>
            <a:spLocks noGrp="1"/>
          </p:cNvSpPr>
          <p:nvPr>
            <p:ph type="ftr" sz="quarter" idx="15"/>
          </p:nvPr>
        </p:nvSpPr>
        <p:spPr>
          <a:xfrm>
            <a:off x="4223792" y="6520259"/>
            <a:ext cx="3860800" cy="365125"/>
          </a:xfrm>
          <a:prstGeom prst="rect">
            <a:avLst/>
          </a:prstGeom>
        </p:spPr>
        <p:txBody>
          <a:bodyPr/>
          <a:lstStyle>
            <a:lvl1pPr algn="ctr">
              <a:defRPr sz="900">
                <a:solidFill>
                  <a:schemeClr val="bg1">
                    <a:lumMod val="65000"/>
                  </a:schemeClr>
                </a:solidFill>
                <a:latin typeface="Roboto" panose="02000000000000000000"/>
              </a:defRPr>
            </a:lvl1pPr>
          </a:lstStyle>
          <a:p>
            <a:pPr>
              <a:defRPr/>
            </a:pPr>
            <a:endParaRPr lang="de-CH"/>
          </a:p>
        </p:txBody>
      </p:sp>
      <p:sp>
        <p:nvSpPr>
          <p:cNvPr id="11" name="Foliennummernplatzhalter 9">
            <a:extLst>
              <a:ext uri="{FF2B5EF4-FFF2-40B4-BE49-F238E27FC236}">
                <a16:creationId xmlns:a16="http://schemas.microsoft.com/office/drawing/2014/main" id="{F04B6518-BA45-4C16-B0A4-9999371A1AAE}"/>
              </a:ext>
            </a:extLst>
          </p:cNvPr>
          <p:cNvSpPr txBox="1">
            <a:spLocks/>
          </p:cNvSpPr>
          <p:nvPr userDrawn="1"/>
        </p:nvSpPr>
        <p:spPr>
          <a:xfrm>
            <a:off x="9011343" y="6520259"/>
            <a:ext cx="2744787" cy="365125"/>
          </a:xfrm>
          <a:prstGeom prst="rect">
            <a:avLst/>
          </a:prstGeom>
        </p:spPr>
        <p:txBody>
          <a:bodyPr/>
          <a:lstStyle>
            <a:defPPr>
              <a:defRPr lang="de-CH"/>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a:lstStyle>
          <a:p>
            <a:pPr algn="r">
              <a:defRPr/>
            </a:pPr>
            <a:fld id="{56B4A143-B6E4-4EE5-B547-206737602E72}" type="slidenum">
              <a:rPr lang="de-CH" altLang="de-DE" sz="900" smtClean="0">
                <a:solidFill>
                  <a:schemeClr val="bg1">
                    <a:lumMod val="65000"/>
                  </a:schemeClr>
                </a:solidFill>
                <a:latin typeface="Roboto" panose="02000000000000000000"/>
              </a:rPr>
              <a:pPr algn="r">
                <a:defRPr/>
              </a:pPr>
              <a:t>‹#›</a:t>
            </a:fld>
            <a:endParaRPr lang="de-CH" altLang="de-DE" sz="900">
              <a:solidFill>
                <a:schemeClr val="bg1">
                  <a:lumMod val="65000"/>
                </a:schemeClr>
              </a:solidFill>
              <a:latin typeface="Roboto" panose="02000000000000000000"/>
            </a:endParaRPr>
          </a:p>
        </p:txBody>
      </p:sp>
      <p:pic>
        <p:nvPicPr>
          <p:cNvPr id="4" name="Grafik 3" descr="Ein Bild, das Text, Schrift, Grafiken, Logo enthält.&#10;&#10;Automatisch generierte Beschreibung">
            <a:extLst>
              <a:ext uri="{FF2B5EF4-FFF2-40B4-BE49-F238E27FC236}">
                <a16:creationId xmlns:a16="http://schemas.microsoft.com/office/drawing/2014/main" id="{BAF5DD5F-F841-BC3B-5826-726063AC1833}"/>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851" t="30050" r="14300" b="30050"/>
          <a:stretch/>
        </p:blipFill>
        <p:spPr>
          <a:xfrm>
            <a:off x="10178595" y="209440"/>
            <a:ext cx="1603092" cy="1068728"/>
          </a:xfrm>
          <a:prstGeom prst="rect">
            <a:avLst/>
          </a:prstGeom>
        </p:spPr>
      </p:pic>
      <p:sp>
        <p:nvSpPr>
          <p:cNvPr id="2" name="Textplatzhalter 2">
            <a:extLst>
              <a:ext uri="{FF2B5EF4-FFF2-40B4-BE49-F238E27FC236}">
                <a16:creationId xmlns:a16="http://schemas.microsoft.com/office/drawing/2014/main" id="{FBEB9209-3247-E960-A738-94BD1818F919}"/>
              </a:ext>
            </a:extLst>
          </p:cNvPr>
          <p:cNvSpPr>
            <a:spLocks noGrp="1"/>
          </p:cNvSpPr>
          <p:nvPr>
            <p:ph idx="1"/>
          </p:nvPr>
        </p:nvSpPr>
        <p:spPr bwMode="auto">
          <a:xfrm>
            <a:off x="334963" y="2195513"/>
            <a:ext cx="11425237" cy="389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dirty="0"/>
              <a:t>Textmasterformate durch Klicken bearbeiten</a:t>
            </a:r>
          </a:p>
          <a:p>
            <a:pPr lvl="1"/>
            <a:r>
              <a:rPr lang="de-DE" altLang="de-DE" dirty="0"/>
              <a:t>Zweite Ebene</a:t>
            </a:r>
          </a:p>
          <a:p>
            <a:pPr lvl="2"/>
            <a:r>
              <a:rPr lang="de-DE" altLang="de-DE" dirty="0"/>
              <a:t>Dritte Ebene</a:t>
            </a:r>
          </a:p>
          <a:p>
            <a:pPr lvl="3"/>
            <a:r>
              <a:rPr lang="de-DE" altLang="de-DE" dirty="0"/>
              <a:t>Vierte Ebene</a:t>
            </a:r>
          </a:p>
          <a:p>
            <a:pPr lvl="4"/>
            <a:r>
              <a:rPr lang="de-DE" altLang="de-DE" dirty="0"/>
              <a:t>Fünfte Ebene</a:t>
            </a:r>
            <a:endParaRPr lang="de-CH" altLang="de-DE" dirty="0"/>
          </a:p>
        </p:txBody>
      </p:sp>
    </p:spTree>
    <p:extLst>
      <p:ext uri="{BB962C8B-B14F-4D97-AF65-F5344CB8AC3E}">
        <p14:creationId xmlns:p14="http://schemas.microsoft.com/office/powerpoint/2010/main" val="257623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E006AFA3-FE57-FB4C-A7D1-9D66D2CB2447}"/>
              </a:ext>
            </a:extLst>
          </p:cNvPr>
          <p:cNvSpPr/>
          <p:nvPr userDrawn="1"/>
        </p:nvSpPr>
        <p:spPr>
          <a:xfrm>
            <a:off x="-12700" y="0"/>
            <a:ext cx="12204700" cy="5590403"/>
          </a:xfrm>
          <a:prstGeom prst="rect">
            <a:avLst/>
          </a:prstGeom>
          <a:solidFill>
            <a:srgbClr val="2351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CH"/>
          </a:p>
        </p:txBody>
      </p:sp>
      <p:sp>
        <p:nvSpPr>
          <p:cNvPr id="6" name="Titel 1"/>
          <p:cNvSpPr>
            <a:spLocks noGrp="1"/>
          </p:cNvSpPr>
          <p:nvPr>
            <p:ph type="title"/>
          </p:nvPr>
        </p:nvSpPr>
        <p:spPr>
          <a:xfrm>
            <a:off x="661565" y="1700809"/>
            <a:ext cx="8818811" cy="2088232"/>
          </a:xfrm>
        </p:spPr>
        <p:txBody>
          <a:bodyPr/>
          <a:lstStyle>
            <a:lvl1pPr algn="l">
              <a:defRPr sz="4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de-DE"/>
              <a:t>Mastertitelformat bearbeiten</a:t>
            </a:r>
            <a:endParaRPr lang="de-CH"/>
          </a:p>
        </p:txBody>
      </p:sp>
      <p:pic>
        <p:nvPicPr>
          <p:cNvPr id="2" name="Grafik 1">
            <a:extLst>
              <a:ext uri="{FF2B5EF4-FFF2-40B4-BE49-F238E27FC236}">
                <a16:creationId xmlns:a16="http://schemas.microsoft.com/office/drawing/2014/main" id="{7B14ECE8-E9FF-7889-3539-4D447A7D09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91744" y="6083585"/>
            <a:ext cx="2013597" cy="548679"/>
          </a:xfrm>
          <a:prstGeom prst="rect">
            <a:avLst/>
          </a:prstGeom>
        </p:spPr>
      </p:pic>
      <p:pic>
        <p:nvPicPr>
          <p:cNvPr id="4" name="Picture 2">
            <a:extLst>
              <a:ext uri="{FF2B5EF4-FFF2-40B4-BE49-F238E27FC236}">
                <a16:creationId xmlns:a16="http://schemas.microsoft.com/office/drawing/2014/main" id="{0A1F5588-2DC2-D675-6B7B-2147CE862F1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61565" y="6037543"/>
            <a:ext cx="2577122" cy="594721"/>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descr="Ein Bild, das Text, Schrift, Grafiken, Logo enthält.&#10;&#10;Automatisch generierte Beschreibung">
            <a:extLst>
              <a:ext uri="{FF2B5EF4-FFF2-40B4-BE49-F238E27FC236}">
                <a16:creationId xmlns:a16="http://schemas.microsoft.com/office/drawing/2014/main" id="{B9710724-1C9A-2F5A-D0D4-4A1A44354FBE}"/>
              </a:ext>
            </a:extLst>
          </p:cNvPr>
          <p:cNvPicPr>
            <a:picLocks noChangeAspect="1"/>
          </p:cNvPicPr>
          <p:nvPr userDrawn="1"/>
        </p:nvPicPr>
        <p:blipFill rotWithShape="1">
          <a:blip r:embed="rId4">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l="25851" t="30050" r="14300" b="30050"/>
          <a:stretch/>
        </p:blipFill>
        <p:spPr>
          <a:xfrm>
            <a:off x="10200456" y="404664"/>
            <a:ext cx="1603092" cy="1068728"/>
          </a:xfrm>
          <a:prstGeom prst="rect">
            <a:avLst/>
          </a:prstGeom>
        </p:spPr>
      </p:pic>
    </p:spTree>
    <p:extLst>
      <p:ext uri="{BB962C8B-B14F-4D97-AF65-F5344CB8AC3E}">
        <p14:creationId xmlns:p14="http://schemas.microsoft.com/office/powerpoint/2010/main" val="261194718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11" name="Foliennummernplatzhalter 9">
            <a:extLst>
              <a:ext uri="{FF2B5EF4-FFF2-40B4-BE49-F238E27FC236}">
                <a16:creationId xmlns:a16="http://schemas.microsoft.com/office/drawing/2014/main" id="{F04B6518-BA45-4C16-B0A4-9999371A1AAE}"/>
              </a:ext>
            </a:extLst>
          </p:cNvPr>
          <p:cNvSpPr txBox="1">
            <a:spLocks/>
          </p:cNvSpPr>
          <p:nvPr userDrawn="1"/>
        </p:nvSpPr>
        <p:spPr>
          <a:xfrm>
            <a:off x="9011343" y="6520259"/>
            <a:ext cx="2744787" cy="365125"/>
          </a:xfrm>
          <a:prstGeom prst="rect">
            <a:avLst/>
          </a:prstGeom>
        </p:spPr>
        <p:txBody>
          <a:bodyPr/>
          <a:lstStyle>
            <a:defPPr>
              <a:defRPr lang="de-CH"/>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a:lstStyle>
          <a:p>
            <a:pPr algn="r">
              <a:defRPr/>
            </a:pPr>
            <a:fld id="{56B4A143-B6E4-4EE5-B547-206737602E72}" type="slidenum">
              <a:rPr lang="de-CH" altLang="de-DE" sz="900" smtClean="0">
                <a:solidFill>
                  <a:schemeClr val="bg1">
                    <a:lumMod val="65000"/>
                  </a:schemeClr>
                </a:solidFill>
                <a:latin typeface="Roboto" panose="02000000000000000000"/>
              </a:rPr>
              <a:pPr algn="r">
                <a:defRPr/>
              </a:pPr>
              <a:t>‹#›</a:t>
            </a:fld>
            <a:endParaRPr lang="de-CH" altLang="de-DE" sz="900">
              <a:solidFill>
                <a:schemeClr val="bg1">
                  <a:lumMod val="65000"/>
                </a:schemeClr>
              </a:solidFill>
              <a:latin typeface="Roboto" panose="02000000000000000000"/>
            </a:endParaRPr>
          </a:p>
        </p:txBody>
      </p:sp>
      <p:pic>
        <p:nvPicPr>
          <p:cNvPr id="4" name="Grafik 3" descr="Ein Bild, das Text, Schrift, Grafiken, Logo enthält.&#10;&#10;Automatisch generierte Beschreibung">
            <a:extLst>
              <a:ext uri="{FF2B5EF4-FFF2-40B4-BE49-F238E27FC236}">
                <a16:creationId xmlns:a16="http://schemas.microsoft.com/office/drawing/2014/main" id="{BAF5DD5F-F841-BC3B-5826-726063AC1833}"/>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851" t="30050" r="14300" b="30050"/>
          <a:stretch/>
        </p:blipFill>
        <p:spPr>
          <a:xfrm>
            <a:off x="10178595" y="209440"/>
            <a:ext cx="1603092" cy="1068728"/>
          </a:xfrm>
          <a:prstGeom prst="rect">
            <a:avLst/>
          </a:prstGeom>
        </p:spPr>
      </p:pic>
    </p:spTree>
    <p:extLst>
      <p:ext uri="{BB962C8B-B14F-4D97-AF65-F5344CB8AC3E}">
        <p14:creationId xmlns:p14="http://schemas.microsoft.com/office/powerpoint/2010/main" val="2693581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pic>
        <p:nvPicPr>
          <p:cNvPr id="4" name="Grafik 3" descr="Ein Bild, das Text, Schrift, Grafiken, Logo enthält.&#10;&#10;Automatisch generierte Beschreibung">
            <a:extLst>
              <a:ext uri="{FF2B5EF4-FFF2-40B4-BE49-F238E27FC236}">
                <a16:creationId xmlns:a16="http://schemas.microsoft.com/office/drawing/2014/main" id="{BAF5DD5F-F841-BC3B-5826-726063AC1833}"/>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851" t="30050" r="14300" b="30050"/>
          <a:stretch/>
        </p:blipFill>
        <p:spPr>
          <a:xfrm>
            <a:off x="10178595" y="209440"/>
            <a:ext cx="1603092" cy="1068728"/>
          </a:xfrm>
          <a:prstGeom prst="rect">
            <a:avLst/>
          </a:prstGeom>
        </p:spPr>
      </p:pic>
    </p:spTree>
    <p:extLst>
      <p:ext uri="{BB962C8B-B14F-4D97-AF65-F5344CB8AC3E}">
        <p14:creationId xmlns:p14="http://schemas.microsoft.com/office/powerpoint/2010/main" val="4019857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Titel und Inhalt">
    <p:spTree>
      <p:nvGrpSpPr>
        <p:cNvPr id="1" name=""/>
        <p:cNvGrpSpPr/>
        <p:nvPr/>
      </p:nvGrpSpPr>
      <p:grpSpPr>
        <a:xfrm>
          <a:off x="0" y="0"/>
          <a:ext cx="0" cy="0"/>
          <a:chOff x="0" y="0"/>
          <a:chExt cx="0" cy="0"/>
        </a:xfrm>
      </p:grpSpPr>
      <p:sp>
        <p:nvSpPr>
          <p:cNvPr id="11" name="Foliennummernplatzhalter 9">
            <a:extLst>
              <a:ext uri="{FF2B5EF4-FFF2-40B4-BE49-F238E27FC236}">
                <a16:creationId xmlns:a16="http://schemas.microsoft.com/office/drawing/2014/main" id="{F04B6518-BA45-4C16-B0A4-9999371A1AAE}"/>
              </a:ext>
            </a:extLst>
          </p:cNvPr>
          <p:cNvSpPr txBox="1">
            <a:spLocks/>
          </p:cNvSpPr>
          <p:nvPr userDrawn="1"/>
        </p:nvSpPr>
        <p:spPr>
          <a:xfrm>
            <a:off x="9011343" y="6520259"/>
            <a:ext cx="2744787" cy="365125"/>
          </a:xfrm>
          <a:prstGeom prst="rect">
            <a:avLst/>
          </a:prstGeom>
        </p:spPr>
        <p:txBody>
          <a:bodyPr/>
          <a:lstStyle>
            <a:defPPr>
              <a:defRPr lang="de-CH"/>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a:lstStyle>
          <a:p>
            <a:pPr algn="r">
              <a:defRPr/>
            </a:pPr>
            <a:fld id="{56B4A143-B6E4-4EE5-B547-206737602E72}" type="slidenum">
              <a:rPr lang="de-CH" altLang="de-DE" sz="900" smtClean="0">
                <a:solidFill>
                  <a:schemeClr val="bg1">
                    <a:lumMod val="65000"/>
                  </a:schemeClr>
                </a:solidFill>
                <a:latin typeface="Roboto" panose="02000000000000000000"/>
              </a:rPr>
              <a:pPr algn="r">
                <a:defRPr/>
              </a:pPr>
              <a:t>‹#›</a:t>
            </a:fld>
            <a:endParaRPr lang="de-CH" altLang="de-DE" sz="900">
              <a:solidFill>
                <a:schemeClr val="bg1">
                  <a:lumMod val="65000"/>
                </a:schemeClr>
              </a:solidFill>
              <a:latin typeface="Roboto" panose="02000000000000000000"/>
            </a:endParaRPr>
          </a:p>
        </p:txBody>
      </p:sp>
      <p:pic>
        <p:nvPicPr>
          <p:cNvPr id="4" name="Grafik 3" descr="Ein Bild, das Text, Schrift, Grafiken, Logo enthält.&#10;&#10;Automatisch generierte Beschreibung">
            <a:extLst>
              <a:ext uri="{FF2B5EF4-FFF2-40B4-BE49-F238E27FC236}">
                <a16:creationId xmlns:a16="http://schemas.microsoft.com/office/drawing/2014/main" id="{BAF5DD5F-F841-BC3B-5826-726063AC1833}"/>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851" t="30050" r="14300" b="30050"/>
          <a:stretch/>
        </p:blipFill>
        <p:spPr>
          <a:xfrm>
            <a:off x="10178595" y="209440"/>
            <a:ext cx="1603092" cy="1068728"/>
          </a:xfrm>
          <a:prstGeom prst="rect">
            <a:avLst/>
          </a:prstGeom>
        </p:spPr>
      </p:pic>
    </p:spTree>
    <p:extLst>
      <p:ext uri="{BB962C8B-B14F-4D97-AF65-F5344CB8AC3E}">
        <p14:creationId xmlns:p14="http://schemas.microsoft.com/office/powerpoint/2010/main" val="45406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ielen Dank">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FD41D865-307C-7742-BD58-B3EC5D901E8F}"/>
              </a:ext>
            </a:extLst>
          </p:cNvPr>
          <p:cNvSpPr/>
          <p:nvPr userDrawn="1"/>
        </p:nvSpPr>
        <p:spPr>
          <a:xfrm>
            <a:off x="-12700" y="-9525"/>
            <a:ext cx="12204700" cy="6867525"/>
          </a:xfrm>
          <a:prstGeom prst="rect">
            <a:avLst/>
          </a:prstGeom>
          <a:solidFill>
            <a:srgbClr val="2351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CH" sz="2800"/>
          </a:p>
        </p:txBody>
      </p:sp>
      <p:sp>
        <p:nvSpPr>
          <p:cNvPr id="2" name="Titel 1"/>
          <p:cNvSpPr>
            <a:spLocks noGrp="1"/>
          </p:cNvSpPr>
          <p:nvPr>
            <p:ph type="title" hasCustomPrompt="1"/>
          </p:nvPr>
        </p:nvSpPr>
        <p:spPr>
          <a:xfrm>
            <a:off x="2927648" y="2270754"/>
            <a:ext cx="8848491" cy="1260000"/>
          </a:xfrm>
        </p:spPr>
        <p:txBody>
          <a:bodyPr/>
          <a:lstStyle>
            <a:lvl1pPr algn="l">
              <a:defRPr sz="3200">
                <a:solidFill>
                  <a:schemeClr val="bg1"/>
                </a:solidFill>
              </a:defRPr>
            </a:lvl1pPr>
          </a:lstStyle>
          <a:p>
            <a:r>
              <a:rPr lang="de-DE"/>
              <a:t>Kapitel</a:t>
            </a:r>
            <a:endParaRPr lang="de-CH"/>
          </a:p>
        </p:txBody>
      </p:sp>
      <p:pic>
        <p:nvPicPr>
          <p:cNvPr id="9" name="Grafik 8" descr="Ein Bild, das Text, Schrift, Grafiken, Logo enthält.&#10;&#10;Automatisch generierte Beschreibung">
            <a:extLst>
              <a:ext uri="{FF2B5EF4-FFF2-40B4-BE49-F238E27FC236}">
                <a16:creationId xmlns:a16="http://schemas.microsoft.com/office/drawing/2014/main" id="{81240C35-F6F4-99A5-0599-DF93132C0495}"/>
              </a:ext>
            </a:extLst>
          </p:cNvPr>
          <p:cNvPicPr>
            <a:picLocks noChangeAspect="1"/>
          </p:cNvPicPr>
          <p:nvPr userDrawn="1"/>
        </p:nvPicPr>
        <p:blipFill rotWithShape="1">
          <a:blip r:embed="rId2">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25851" t="30050" r="14300" b="30050"/>
          <a:stretch/>
        </p:blipFill>
        <p:spPr>
          <a:xfrm>
            <a:off x="10200456" y="404664"/>
            <a:ext cx="1603092" cy="1068728"/>
          </a:xfrm>
          <a:prstGeom prst="rect">
            <a:avLst/>
          </a:prstGeom>
        </p:spPr>
      </p:pic>
      <p:sp>
        <p:nvSpPr>
          <p:cNvPr id="7" name="Textplatzhalter 6">
            <a:extLst>
              <a:ext uri="{FF2B5EF4-FFF2-40B4-BE49-F238E27FC236}">
                <a16:creationId xmlns:a16="http://schemas.microsoft.com/office/drawing/2014/main" id="{83FB4BCE-BF97-64BE-67A0-3D9608DE23AB}"/>
              </a:ext>
            </a:extLst>
          </p:cNvPr>
          <p:cNvSpPr>
            <a:spLocks noGrp="1"/>
          </p:cNvSpPr>
          <p:nvPr>
            <p:ph type="body" sz="quarter" idx="10"/>
          </p:nvPr>
        </p:nvSpPr>
        <p:spPr>
          <a:xfrm>
            <a:off x="1415480" y="2270754"/>
            <a:ext cx="1223962" cy="1260000"/>
          </a:xfr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lvl1pPr marL="0" indent="0" algn="ctr">
              <a:buNone/>
              <a:defRPr lang="de-DE" sz="2800" b="1" dirty="0" smtClean="0">
                <a:solidFill>
                  <a:schemeClr val="bg1"/>
                </a:solidFill>
              </a:defRPr>
            </a:lvl1pPr>
            <a:lvl2pPr marL="171450" indent="0" algn="ctr">
              <a:buNone/>
              <a:defRPr lang="de-DE" sz="2800" b="1" dirty="0" smtClean="0">
                <a:solidFill>
                  <a:schemeClr val="bg1"/>
                </a:solidFill>
              </a:defRPr>
            </a:lvl2pPr>
            <a:lvl3pPr algn="ctr">
              <a:defRPr lang="de-DE" sz="2800" b="1" dirty="0" smtClean="0">
                <a:solidFill>
                  <a:schemeClr val="bg1"/>
                </a:solidFill>
              </a:defRPr>
            </a:lvl3pPr>
            <a:lvl4pPr algn="ctr">
              <a:defRPr lang="de-DE" sz="2800" b="1" dirty="0" smtClean="0">
                <a:solidFill>
                  <a:schemeClr val="bg1"/>
                </a:solidFill>
              </a:defRPr>
            </a:lvl4pPr>
            <a:lvl5pPr marL="1600200" indent="0" algn="ctr">
              <a:buNone/>
              <a:defRPr lang="de-CH" sz="2800" b="1" dirty="0">
                <a:solidFill>
                  <a:schemeClr val="bg1"/>
                </a:solidFill>
              </a:defRPr>
            </a:lvl5pPr>
          </a:lstStyle>
          <a:p>
            <a:pPr lvl="0" algn="ctr">
              <a:spcBef>
                <a:spcPct val="0"/>
              </a:spcBef>
            </a:pPr>
            <a:endParaRPr lang="de-DE"/>
          </a:p>
        </p:txBody>
      </p:sp>
    </p:spTree>
    <p:extLst>
      <p:ext uri="{BB962C8B-B14F-4D97-AF65-F5344CB8AC3E}">
        <p14:creationId xmlns:p14="http://schemas.microsoft.com/office/powerpoint/2010/main" val="2404345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Vielen Dank">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FD41D865-307C-7742-BD58-B3EC5D901E8F}"/>
              </a:ext>
            </a:extLst>
          </p:cNvPr>
          <p:cNvSpPr/>
          <p:nvPr userDrawn="1"/>
        </p:nvSpPr>
        <p:spPr>
          <a:xfrm>
            <a:off x="-12700" y="-9525"/>
            <a:ext cx="12204700" cy="6867525"/>
          </a:xfrm>
          <a:prstGeom prst="rect">
            <a:avLst/>
          </a:prstGeom>
          <a:solidFill>
            <a:srgbClr val="2351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CH"/>
          </a:p>
        </p:txBody>
      </p:sp>
      <p:sp>
        <p:nvSpPr>
          <p:cNvPr id="4" name="Textfeld 8">
            <a:extLst>
              <a:ext uri="{FF2B5EF4-FFF2-40B4-BE49-F238E27FC236}">
                <a16:creationId xmlns:a16="http://schemas.microsoft.com/office/drawing/2014/main" id="{77141691-1E0F-5D4C-8E99-06B6B14A5D02}"/>
              </a:ext>
            </a:extLst>
          </p:cNvPr>
          <p:cNvSpPr txBox="1">
            <a:spLocks noChangeArrowheads="1"/>
          </p:cNvSpPr>
          <p:nvPr userDrawn="1"/>
        </p:nvSpPr>
        <p:spPr bwMode="auto">
          <a:xfrm>
            <a:off x="334963" y="3298133"/>
            <a:ext cx="5607536" cy="1264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107000"/>
              </a:lnSpc>
            </a:pPr>
            <a:r>
              <a:rPr lang="de-CH" sz="1800">
                <a:solidFill>
                  <a:schemeClr val="bg1"/>
                </a:solidFill>
                <a:effectLst/>
                <a:latin typeface="Frutiger LT Com 55 Roman"/>
                <a:ea typeface="Times New Roman" panose="02020603050405020304" pitchFamily="18" charset="0"/>
                <a:cs typeface="Times New Roman" panose="02020603050405020304" pitchFamily="18" charset="0"/>
              </a:rPr>
              <a:t>Einfache Gesellschaft «</a:t>
            </a:r>
            <a:r>
              <a:rPr lang="de-CH" sz="1800">
                <a:solidFill>
                  <a:schemeClr val="bg1"/>
                </a:solidFill>
                <a:effectLst/>
                <a:latin typeface="Frutiger LT Com 55 Roman"/>
                <a:ea typeface="Times New Roman" panose="02020603050405020304" pitchFamily="18" charset="0"/>
                <a:cs typeface="Arial" panose="020B0604020202020204" pitchFamily="34" charset="0"/>
              </a:rPr>
              <a:t>Swiss KI-4-KMU Center»</a:t>
            </a:r>
          </a:p>
          <a:p>
            <a:pPr>
              <a:lnSpc>
                <a:spcPct val="107000"/>
              </a:lnSpc>
            </a:pPr>
            <a:r>
              <a:rPr lang="de-CH" sz="1800">
                <a:solidFill>
                  <a:schemeClr val="bg1"/>
                </a:solidFill>
                <a:effectLst/>
                <a:latin typeface="Frutiger LT Com 55 Roman"/>
                <a:ea typeface="Times New Roman" panose="02020603050405020304" pitchFamily="18" charset="0"/>
                <a:cs typeface="Arial" panose="020B0604020202020204" pitchFamily="34" charset="0"/>
              </a:rPr>
              <a:t>c/o Wirt</a:t>
            </a:r>
            <a:r>
              <a:rPr lang="de-CH" sz="1800">
                <a:solidFill>
                  <a:schemeClr val="bg1"/>
                </a:solidFill>
                <a:effectLst/>
                <a:latin typeface="Frutiger LT Com 55 Roman"/>
                <a:ea typeface="Times New Roman" panose="02020603050405020304" pitchFamily="18" charset="0"/>
                <a:cs typeface="Times New Roman" panose="02020603050405020304" pitchFamily="18" charset="0"/>
              </a:rPr>
              <a:t>schaftsförderung Region Olten</a:t>
            </a:r>
          </a:p>
          <a:p>
            <a:pPr>
              <a:lnSpc>
                <a:spcPct val="107000"/>
              </a:lnSpc>
            </a:pPr>
            <a:r>
              <a:rPr lang="de-CH" sz="1800" err="1">
                <a:solidFill>
                  <a:schemeClr val="bg1"/>
                </a:solidFill>
                <a:effectLst/>
                <a:latin typeface="Frutiger LT Com 55 Roman"/>
                <a:ea typeface="Times New Roman" panose="02020603050405020304" pitchFamily="18" charset="0"/>
                <a:cs typeface="Times New Roman" panose="02020603050405020304" pitchFamily="18" charset="0"/>
              </a:rPr>
              <a:t>Froburgstrasse</a:t>
            </a:r>
            <a:r>
              <a:rPr lang="de-CH" sz="1800">
                <a:solidFill>
                  <a:schemeClr val="bg1"/>
                </a:solidFill>
                <a:effectLst/>
                <a:latin typeface="Frutiger LT Com 55 Roman"/>
                <a:ea typeface="Times New Roman" panose="02020603050405020304" pitchFamily="18" charset="0"/>
                <a:cs typeface="Times New Roman" panose="02020603050405020304" pitchFamily="18" charset="0"/>
              </a:rPr>
              <a:t> 1</a:t>
            </a:r>
          </a:p>
          <a:p>
            <a:pPr>
              <a:lnSpc>
                <a:spcPct val="107000"/>
              </a:lnSpc>
            </a:pPr>
            <a:r>
              <a:rPr lang="de-CH" sz="1800">
                <a:solidFill>
                  <a:schemeClr val="bg1"/>
                </a:solidFill>
                <a:effectLst/>
                <a:latin typeface="Frutiger LT Com 55 Roman"/>
                <a:ea typeface="Times New Roman" panose="02020603050405020304" pitchFamily="18" charset="0"/>
                <a:cs typeface="Times New Roman" panose="02020603050405020304" pitchFamily="18" charset="0"/>
              </a:rPr>
              <a:t>4600 Olten</a:t>
            </a:r>
          </a:p>
        </p:txBody>
      </p:sp>
      <p:sp>
        <p:nvSpPr>
          <p:cNvPr id="2" name="Titel 1"/>
          <p:cNvSpPr>
            <a:spLocks noGrp="1"/>
          </p:cNvSpPr>
          <p:nvPr>
            <p:ph type="title" hasCustomPrompt="1"/>
          </p:nvPr>
        </p:nvSpPr>
        <p:spPr>
          <a:xfrm>
            <a:off x="334963" y="1473392"/>
            <a:ext cx="11425237" cy="821834"/>
          </a:xfrm>
        </p:spPr>
        <p:txBody>
          <a:bodyPr/>
          <a:lstStyle>
            <a:lvl1pPr algn="ctr">
              <a:defRPr>
                <a:solidFill>
                  <a:schemeClr val="bg1"/>
                </a:solidFill>
              </a:defRPr>
            </a:lvl1pPr>
          </a:lstStyle>
          <a:p>
            <a:r>
              <a:rPr lang="de-DE"/>
              <a:t>Vielen Dank für Ihre Aufmerksamkeit und Ihr Interesse.</a:t>
            </a:r>
            <a:endParaRPr lang="de-CH"/>
          </a:p>
        </p:txBody>
      </p:sp>
      <p:pic>
        <p:nvPicPr>
          <p:cNvPr id="9" name="Grafik 8" descr="Ein Bild, das Text, Schrift, Grafiken, Logo enthält.&#10;&#10;Automatisch generierte Beschreibung">
            <a:extLst>
              <a:ext uri="{FF2B5EF4-FFF2-40B4-BE49-F238E27FC236}">
                <a16:creationId xmlns:a16="http://schemas.microsoft.com/office/drawing/2014/main" id="{81240C35-F6F4-99A5-0599-DF93132C0495}"/>
              </a:ext>
            </a:extLst>
          </p:cNvPr>
          <p:cNvPicPr>
            <a:picLocks noChangeAspect="1"/>
          </p:cNvPicPr>
          <p:nvPr userDrawn="1"/>
        </p:nvPicPr>
        <p:blipFill rotWithShape="1">
          <a:blip r:embed="rId2">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25851" t="30050" r="14300" b="30050"/>
          <a:stretch/>
        </p:blipFill>
        <p:spPr>
          <a:xfrm>
            <a:off x="10200456" y="404664"/>
            <a:ext cx="1603092" cy="1068728"/>
          </a:xfrm>
          <a:prstGeom prst="rect">
            <a:avLst/>
          </a:prstGeom>
        </p:spPr>
      </p:pic>
    </p:spTree>
    <p:extLst>
      <p:ext uri="{BB962C8B-B14F-4D97-AF65-F5344CB8AC3E}">
        <p14:creationId xmlns:p14="http://schemas.microsoft.com/office/powerpoint/2010/main" val="3659050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35859" y="497582"/>
            <a:ext cx="11012400" cy="492443"/>
          </a:xfrm>
        </p:spPr>
        <p:txBody>
          <a:bodyPr/>
          <a:lstStyle/>
          <a:p>
            <a:r>
              <a:rPr lang="de-CH" dirty="0"/>
              <a:t>Titel hinzufügen</a:t>
            </a:r>
          </a:p>
        </p:txBody>
      </p:sp>
      <p:sp>
        <p:nvSpPr>
          <p:cNvPr id="3" name="Datumsplatzhalter 2">
            <a:extLst>
              <a:ext uri="{FF2B5EF4-FFF2-40B4-BE49-F238E27FC236}">
                <a16:creationId xmlns:a16="http://schemas.microsoft.com/office/drawing/2014/main" id="{9846EAAB-E9CC-4FBB-A777-DFD68618EF51}"/>
              </a:ext>
            </a:extLst>
          </p:cNvPr>
          <p:cNvSpPr>
            <a:spLocks noGrp="1"/>
          </p:cNvSpPr>
          <p:nvPr>
            <p:ph type="dt" sz="half" idx="10"/>
          </p:nvPr>
        </p:nvSpPr>
        <p:spPr/>
        <p:txBody>
          <a:bodyPr/>
          <a:lstStyle/>
          <a:p>
            <a:endParaRPr lang="de-CH" dirty="0"/>
          </a:p>
        </p:txBody>
      </p:sp>
      <p:sp>
        <p:nvSpPr>
          <p:cNvPr id="4" name="Fußzeilenplatzhalter 3">
            <a:extLst>
              <a:ext uri="{FF2B5EF4-FFF2-40B4-BE49-F238E27FC236}">
                <a16:creationId xmlns:a16="http://schemas.microsoft.com/office/drawing/2014/main" id="{4490A60D-3123-4534-B4E1-1B214E40238B}"/>
              </a:ext>
            </a:extLst>
          </p:cNvPr>
          <p:cNvSpPr>
            <a:spLocks noGrp="1"/>
          </p:cNvSpPr>
          <p:nvPr>
            <p:ph type="ftr" sz="quarter" idx="11"/>
          </p:nvPr>
        </p:nvSpPr>
        <p:spPr/>
        <p:txBody>
          <a:bodyPr/>
          <a:lstStyle/>
          <a:p>
            <a:r>
              <a:rPr lang="de-CH"/>
              <a:t>Künstliche Intelligenz im Alltag</a:t>
            </a:r>
            <a:endParaRPr lang="de-CH" dirty="0"/>
          </a:p>
        </p:txBody>
      </p:sp>
      <p:sp>
        <p:nvSpPr>
          <p:cNvPr id="5" name="Foliennummernplatzhalter 4">
            <a:extLst>
              <a:ext uri="{FF2B5EF4-FFF2-40B4-BE49-F238E27FC236}">
                <a16:creationId xmlns:a16="http://schemas.microsoft.com/office/drawing/2014/main" id="{9CA66DD1-3165-483D-99FB-202ADC04E1FF}"/>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
        <p:nvSpPr>
          <p:cNvPr id="6" name="Textplatzhalter 7">
            <a:extLst>
              <a:ext uri="{FF2B5EF4-FFF2-40B4-BE49-F238E27FC236}">
                <a16:creationId xmlns:a16="http://schemas.microsoft.com/office/drawing/2014/main" id="{44CB559F-321C-5EFB-120C-B8F8F3910F14}"/>
              </a:ext>
            </a:extLst>
          </p:cNvPr>
          <p:cNvSpPr>
            <a:spLocks noGrp="1"/>
          </p:cNvSpPr>
          <p:nvPr>
            <p:ph type="body" sz="quarter" idx="14" hasCustomPrompt="1"/>
          </p:nvPr>
        </p:nvSpPr>
        <p:spPr>
          <a:xfrm>
            <a:off x="408075" y="6337687"/>
            <a:ext cx="11012399" cy="192420"/>
          </a:xfrm>
        </p:spPr>
        <p:txBody>
          <a:bodyPr vert="horz" wrap="square" lIns="0" tIns="0" rIns="0" bIns="36000" rtlCol="0" anchor="b" anchorCtr="0">
            <a:spAutoFit/>
          </a:bodyPr>
          <a:lstStyle>
            <a:lvl1pPr marL="0" indent="0">
              <a:spcBef>
                <a:spcPts val="0"/>
              </a:spcBef>
              <a:buNone/>
              <a:defRPr lang="de-CH" sz="900" i="1" dirty="0"/>
            </a:lvl1pPr>
          </a:lstStyle>
          <a:p>
            <a:pPr marL="185738" lvl="0" indent="-185738">
              <a:spcBef>
                <a:spcPts val="0"/>
              </a:spcBef>
            </a:pPr>
            <a:r>
              <a:rPr lang="de-DE" dirty="0"/>
              <a:t>Referenz</a:t>
            </a:r>
            <a:endParaRPr lang="de-CH" dirty="0"/>
          </a:p>
        </p:txBody>
      </p:sp>
      <p:pic>
        <p:nvPicPr>
          <p:cNvPr id="7" name="Grafik 3" descr="Ein Bild, das Text, Schrift, Grafiken, Logo enthält.&#10;&#10;Automatisch generierte Beschreibung">
            <a:extLst>
              <a:ext uri="{FF2B5EF4-FFF2-40B4-BE49-F238E27FC236}">
                <a16:creationId xmlns:a16="http://schemas.microsoft.com/office/drawing/2014/main" id="{13962C31-E893-E7EB-A159-D39631B899A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851" t="30050" r="14300" b="30050"/>
          <a:stretch/>
        </p:blipFill>
        <p:spPr>
          <a:xfrm>
            <a:off x="10178595" y="209440"/>
            <a:ext cx="1603092" cy="1068728"/>
          </a:xfrm>
          <a:prstGeom prst="rect">
            <a:avLst/>
          </a:prstGeom>
        </p:spPr>
      </p:pic>
    </p:spTree>
    <p:extLst>
      <p:ext uri="{BB962C8B-B14F-4D97-AF65-F5344CB8AC3E}">
        <p14:creationId xmlns:p14="http://schemas.microsoft.com/office/powerpoint/2010/main" val="2620681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7_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06802" y="497582"/>
            <a:ext cx="11012400" cy="492443"/>
          </a:xfrm>
        </p:spPr>
        <p:txBody>
          <a:bodyPr/>
          <a:lstStyle/>
          <a:p>
            <a:r>
              <a:rPr lang="de-CH"/>
              <a:t>Titel hinzufügen</a:t>
            </a:r>
          </a:p>
        </p:txBody>
      </p:sp>
      <p:sp>
        <p:nvSpPr>
          <p:cNvPr id="3" name="Inhaltsplatzhalter 2"/>
          <p:cNvSpPr>
            <a:spLocks noGrp="1"/>
          </p:cNvSpPr>
          <p:nvPr>
            <p:ph idx="1" hasCustomPrompt="1"/>
          </p:nvPr>
        </p:nvSpPr>
        <p:spPr>
          <a:xfrm>
            <a:off x="406802" y="1989140"/>
            <a:ext cx="11016850" cy="4175125"/>
          </a:xfrm>
        </p:spPr>
        <p:txBody>
          <a:bodyPr/>
          <a:lstStyle>
            <a:lvl1pPr>
              <a:defRPr/>
            </a:lvl1pPr>
            <a:lvl3pPr marL="435956" indent="-217978">
              <a:defRPr/>
            </a:lvl3pPr>
          </a:lstStyle>
          <a:p>
            <a:pPr lvl="0"/>
            <a:r>
              <a:rPr lang="de-DE"/>
              <a:t>Inhalt hinzufügen</a:t>
            </a:r>
          </a:p>
        </p:txBody>
      </p:sp>
      <p:sp>
        <p:nvSpPr>
          <p:cNvPr id="9" name="Datumsplatzhalter 8">
            <a:extLst>
              <a:ext uri="{FF2B5EF4-FFF2-40B4-BE49-F238E27FC236}">
                <a16:creationId xmlns:a16="http://schemas.microsoft.com/office/drawing/2014/main" id="{89AB9197-1220-80BD-481F-90A973E1A02F}"/>
              </a:ext>
            </a:extLst>
          </p:cNvPr>
          <p:cNvSpPr>
            <a:spLocks noGrp="1"/>
          </p:cNvSpPr>
          <p:nvPr>
            <p:ph type="dt" sz="half" idx="10"/>
          </p:nvPr>
        </p:nvSpPr>
        <p:spPr/>
        <p:txBody>
          <a:bodyPr/>
          <a:lstStyle/>
          <a:p>
            <a:r>
              <a:rPr lang="en-US"/>
              <a:t>T. MMMM JJJJ</a:t>
            </a:r>
            <a:endParaRPr lang="de-CH"/>
          </a:p>
        </p:txBody>
      </p:sp>
      <p:sp>
        <p:nvSpPr>
          <p:cNvPr id="10" name="Fußzeilenplatzhalter 9">
            <a:extLst>
              <a:ext uri="{FF2B5EF4-FFF2-40B4-BE49-F238E27FC236}">
                <a16:creationId xmlns:a16="http://schemas.microsoft.com/office/drawing/2014/main" id="{2D173F40-185C-2ADF-A4DC-16363A32CC2E}"/>
              </a:ext>
            </a:extLst>
          </p:cNvPr>
          <p:cNvSpPr>
            <a:spLocks noGrp="1"/>
          </p:cNvSpPr>
          <p:nvPr>
            <p:ph type="ftr" sz="quarter" idx="11"/>
          </p:nvPr>
        </p:nvSpPr>
        <p:spPr/>
        <p:txBody>
          <a:bodyPr/>
          <a:lstStyle/>
          <a:p>
            <a:r>
              <a:rPr lang="en-US"/>
              <a:t>Machine Learning and Knowledge Engineering</a:t>
            </a:r>
            <a:endParaRPr lang="de-CH"/>
          </a:p>
        </p:txBody>
      </p:sp>
      <p:sp>
        <p:nvSpPr>
          <p:cNvPr id="11" name="Foliennummernplatzhalter 10">
            <a:extLst>
              <a:ext uri="{FF2B5EF4-FFF2-40B4-BE49-F238E27FC236}">
                <a16:creationId xmlns:a16="http://schemas.microsoft.com/office/drawing/2014/main" id="{40A1AFE9-5D1C-2846-D3BD-C3EFFEF9A52A}"/>
              </a:ext>
            </a:extLst>
          </p:cNvPr>
          <p:cNvSpPr>
            <a:spLocks noGrp="1"/>
          </p:cNvSpPr>
          <p:nvPr>
            <p:ph type="sldNum" sz="quarter" idx="12"/>
          </p:nvPr>
        </p:nvSpPr>
        <p:spPr>
          <a:xfrm>
            <a:off x="11460598" y="6620400"/>
            <a:ext cx="376711" cy="144016"/>
          </a:xfrm>
          <a:prstGeom prst="rect">
            <a:avLst/>
          </a:prstGeom>
        </p:spPr>
        <p:txBody>
          <a:bodyPr/>
          <a:lstStyle/>
          <a:p>
            <a:fld id="{442AD375-037F-43D0-B059-5172DA06796A}" type="slidenum">
              <a:rPr lang="de-CH" smtClean="0"/>
              <a:pPr/>
              <a:t>‹#›</a:t>
            </a:fld>
            <a:endParaRPr lang="de-CH"/>
          </a:p>
        </p:txBody>
      </p:sp>
      <p:pic>
        <p:nvPicPr>
          <p:cNvPr id="4" name="Grafik 3" descr="Ein Bild, das Text, Schrift, Grafiken, Logo enthält.&#10;&#10;Automatisch generierte Beschreibung">
            <a:extLst>
              <a:ext uri="{FF2B5EF4-FFF2-40B4-BE49-F238E27FC236}">
                <a16:creationId xmlns:a16="http://schemas.microsoft.com/office/drawing/2014/main" id="{77E758BA-77D6-5FDD-279A-C858C45030E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851" t="30050" r="14300" b="30050"/>
          <a:stretch/>
        </p:blipFill>
        <p:spPr>
          <a:xfrm>
            <a:off x="10178595" y="209440"/>
            <a:ext cx="1603092" cy="1068728"/>
          </a:xfrm>
          <a:prstGeom prst="rect">
            <a:avLst/>
          </a:prstGeom>
        </p:spPr>
      </p:pic>
    </p:spTree>
    <p:extLst>
      <p:ext uri="{BB962C8B-B14F-4D97-AF65-F5344CB8AC3E}">
        <p14:creationId xmlns:p14="http://schemas.microsoft.com/office/powerpoint/2010/main" val="4064167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el und Inhalt">
    <p:spTree>
      <p:nvGrpSpPr>
        <p:cNvPr id="1" name=""/>
        <p:cNvGrpSpPr/>
        <p:nvPr/>
      </p:nvGrpSpPr>
      <p:grpSpPr>
        <a:xfrm>
          <a:off x="0" y="0"/>
          <a:ext cx="0" cy="0"/>
          <a:chOff x="0" y="0"/>
          <a:chExt cx="0" cy="0"/>
        </a:xfrm>
      </p:grpSpPr>
      <p:sp>
        <p:nvSpPr>
          <p:cNvPr id="7" name="Textplatzhalter 8">
            <a:extLst>
              <a:ext uri="{FF2B5EF4-FFF2-40B4-BE49-F238E27FC236}">
                <a16:creationId xmlns:a16="http://schemas.microsoft.com/office/drawing/2014/main" id="{E7CA4209-AF48-B74C-A72C-0D887AB24E1D}"/>
              </a:ext>
            </a:extLst>
          </p:cNvPr>
          <p:cNvSpPr>
            <a:spLocks noGrp="1"/>
          </p:cNvSpPr>
          <p:nvPr>
            <p:ph type="body" sz="quarter" idx="13"/>
          </p:nvPr>
        </p:nvSpPr>
        <p:spPr>
          <a:xfrm>
            <a:off x="335860" y="896120"/>
            <a:ext cx="9575286" cy="382047"/>
          </a:xfrm>
          <a:prstGeom prst="rect">
            <a:avLst/>
          </a:prstGeom>
        </p:spPr>
        <p:txBody>
          <a:bodyPr/>
          <a:lstStyle>
            <a:lvl1pPr marL="0" indent="0">
              <a:buNone/>
              <a:defRPr sz="1800" b="0" i="0">
                <a:solidFill>
                  <a:srgbClr val="557DBE"/>
                </a:solidFill>
                <a:latin typeface="Roboto Light" panose="02000000000000000000" pitchFamily="2" charset="0"/>
                <a:ea typeface="Roboto Light" panose="02000000000000000000" pitchFamily="2" charset="0"/>
                <a:cs typeface="Roboto Light" panose="02000000000000000000" pitchFamily="2" charset="0"/>
              </a:defRPr>
            </a:lvl1pPr>
            <a:lvl2pPr>
              <a:defRPr sz="2400">
                <a:solidFill>
                  <a:srgbClr val="557DBE"/>
                </a:solidFill>
                <a:latin typeface="+mj-lt"/>
              </a:defRPr>
            </a:lvl2pPr>
            <a:lvl3pPr>
              <a:defRPr sz="2400">
                <a:solidFill>
                  <a:srgbClr val="557DBE"/>
                </a:solidFill>
                <a:latin typeface="+mj-lt"/>
              </a:defRPr>
            </a:lvl3pPr>
            <a:lvl4pPr>
              <a:defRPr sz="2400">
                <a:solidFill>
                  <a:srgbClr val="557DBE"/>
                </a:solidFill>
                <a:latin typeface="+mj-lt"/>
              </a:defRPr>
            </a:lvl4pPr>
            <a:lvl5pPr>
              <a:defRPr sz="2400">
                <a:solidFill>
                  <a:srgbClr val="557DBE"/>
                </a:solidFill>
                <a:latin typeface="+mj-lt"/>
              </a:defRPr>
            </a:lvl5pPr>
          </a:lstStyle>
          <a:p>
            <a:pPr lvl="0"/>
            <a:endParaRPr lang="de-DE"/>
          </a:p>
        </p:txBody>
      </p:sp>
      <p:sp>
        <p:nvSpPr>
          <p:cNvPr id="8" name="Titelplatzhalter 1">
            <a:extLst>
              <a:ext uri="{FF2B5EF4-FFF2-40B4-BE49-F238E27FC236}">
                <a16:creationId xmlns:a16="http://schemas.microsoft.com/office/drawing/2014/main" id="{DAF79AD6-44A7-654A-9F00-E55D27FFAEA8}"/>
              </a:ext>
            </a:extLst>
          </p:cNvPr>
          <p:cNvSpPr>
            <a:spLocks noGrp="1" noChangeArrowheads="1"/>
          </p:cNvSpPr>
          <p:nvPr>
            <p:ph type="title"/>
          </p:nvPr>
        </p:nvSpPr>
        <p:spPr bwMode="auto">
          <a:xfrm>
            <a:off x="337139" y="404664"/>
            <a:ext cx="9575286" cy="491456"/>
          </a:xfrm>
          <a:prstGeom prst="rect">
            <a:avLst/>
          </a:prstGeom>
          <a:noFill/>
          <a:ln>
            <a:noFill/>
          </a:ln>
        </p:spPr>
        <p:txBody>
          <a:bodyPr/>
          <a:lstStyle>
            <a:lvl1pPr>
              <a:defRPr/>
            </a:lvl1pPr>
          </a:lstStyle>
          <a:p>
            <a:pPr lvl="0"/>
            <a:endParaRPr lang="de-CH" altLang="de-DE"/>
          </a:p>
        </p:txBody>
      </p:sp>
      <p:sp>
        <p:nvSpPr>
          <p:cNvPr id="9" name="Datumsplatzhalter 5">
            <a:extLst>
              <a:ext uri="{FF2B5EF4-FFF2-40B4-BE49-F238E27FC236}">
                <a16:creationId xmlns:a16="http://schemas.microsoft.com/office/drawing/2014/main" id="{FDC5BC38-EF67-4018-9BCD-C83DFD3094FE}"/>
              </a:ext>
            </a:extLst>
          </p:cNvPr>
          <p:cNvSpPr>
            <a:spLocks noGrp="1"/>
          </p:cNvSpPr>
          <p:nvPr>
            <p:ph type="dt" sz="half" idx="14"/>
          </p:nvPr>
        </p:nvSpPr>
        <p:spPr>
          <a:xfrm>
            <a:off x="335859" y="6520259"/>
            <a:ext cx="2844800" cy="365125"/>
          </a:xfrm>
          <a:prstGeom prst="rect">
            <a:avLst/>
          </a:prstGeom>
        </p:spPr>
        <p:txBody>
          <a:bodyPr/>
          <a:lstStyle>
            <a:lvl1pPr algn="l">
              <a:defRPr sz="900">
                <a:solidFill>
                  <a:schemeClr val="bg1">
                    <a:lumMod val="65000"/>
                  </a:schemeClr>
                </a:solidFill>
                <a:latin typeface="Roboto" panose="02000000000000000000"/>
              </a:defRPr>
            </a:lvl1pPr>
          </a:lstStyle>
          <a:p>
            <a:pPr>
              <a:defRPr/>
            </a:pPr>
            <a:endParaRPr lang="de-CH"/>
          </a:p>
        </p:txBody>
      </p:sp>
      <p:sp>
        <p:nvSpPr>
          <p:cNvPr id="10" name="Fußzeilenplatzhalter 8">
            <a:extLst>
              <a:ext uri="{FF2B5EF4-FFF2-40B4-BE49-F238E27FC236}">
                <a16:creationId xmlns:a16="http://schemas.microsoft.com/office/drawing/2014/main" id="{3F5C77A4-7549-4142-98D4-C36BB2B11D25}"/>
              </a:ext>
            </a:extLst>
          </p:cNvPr>
          <p:cNvSpPr>
            <a:spLocks noGrp="1"/>
          </p:cNvSpPr>
          <p:nvPr>
            <p:ph type="ftr" sz="quarter" idx="15"/>
          </p:nvPr>
        </p:nvSpPr>
        <p:spPr>
          <a:xfrm>
            <a:off x="4223792" y="6520259"/>
            <a:ext cx="3860800" cy="365125"/>
          </a:xfrm>
          <a:prstGeom prst="rect">
            <a:avLst/>
          </a:prstGeom>
        </p:spPr>
        <p:txBody>
          <a:bodyPr/>
          <a:lstStyle>
            <a:lvl1pPr algn="ctr">
              <a:defRPr sz="900">
                <a:solidFill>
                  <a:schemeClr val="bg1">
                    <a:lumMod val="65000"/>
                  </a:schemeClr>
                </a:solidFill>
                <a:latin typeface="Roboto" panose="02000000000000000000"/>
              </a:defRPr>
            </a:lvl1pPr>
          </a:lstStyle>
          <a:p>
            <a:pPr>
              <a:defRPr/>
            </a:pPr>
            <a:endParaRPr lang="de-CH"/>
          </a:p>
        </p:txBody>
      </p:sp>
      <p:sp>
        <p:nvSpPr>
          <p:cNvPr id="11" name="Foliennummernplatzhalter 9">
            <a:extLst>
              <a:ext uri="{FF2B5EF4-FFF2-40B4-BE49-F238E27FC236}">
                <a16:creationId xmlns:a16="http://schemas.microsoft.com/office/drawing/2014/main" id="{F04B6518-BA45-4C16-B0A4-9999371A1AAE}"/>
              </a:ext>
            </a:extLst>
          </p:cNvPr>
          <p:cNvSpPr txBox="1">
            <a:spLocks/>
          </p:cNvSpPr>
          <p:nvPr userDrawn="1"/>
        </p:nvSpPr>
        <p:spPr>
          <a:xfrm>
            <a:off x="9011343" y="6520259"/>
            <a:ext cx="2744787" cy="365125"/>
          </a:xfrm>
          <a:prstGeom prst="rect">
            <a:avLst/>
          </a:prstGeom>
        </p:spPr>
        <p:txBody>
          <a:bodyPr/>
          <a:lstStyle>
            <a:defPPr>
              <a:defRPr lang="de-CH"/>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a:lstStyle>
          <a:p>
            <a:pPr algn="r">
              <a:defRPr/>
            </a:pPr>
            <a:fld id="{56B4A143-B6E4-4EE5-B547-206737602E72}" type="slidenum">
              <a:rPr lang="de-CH" altLang="de-DE" sz="900" smtClean="0">
                <a:solidFill>
                  <a:schemeClr val="bg1">
                    <a:lumMod val="65000"/>
                  </a:schemeClr>
                </a:solidFill>
                <a:latin typeface="Roboto" panose="02000000000000000000"/>
              </a:rPr>
              <a:pPr algn="r">
                <a:defRPr/>
              </a:pPr>
              <a:t>‹#›</a:t>
            </a:fld>
            <a:endParaRPr lang="de-CH" altLang="de-DE" sz="900">
              <a:solidFill>
                <a:schemeClr val="bg1">
                  <a:lumMod val="65000"/>
                </a:schemeClr>
              </a:solidFill>
              <a:latin typeface="Roboto" panose="02000000000000000000"/>
            </a:endParaRPr>
          </a:p>
        </p:txBody>
      </p:sp>
      <p:pic>
        <p:nvPicPr>
          <p:cNvPr id="4" name="Grafik 3" descr="Ein Bild, das Text, Schrift, Grafiken, Logo enthält.&#10;&#10;Automatisch generierte Beschreibung">
            <a:extLst>
              <a:ext uri="{FF2B5EF4-FFF2-40B4-BE49-F238E27FC236}">
                <a16:creationId xmlns:a16="http://schemas.microsoft.com/office/drawing/2014/main" id="{BAF5DD5F-F841-BC3B-5826-726063AC1833}"/>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851" t="30050" r="14300" b="30050"/>
          <a:stretch/>
        </p:blipFill>
        <p:spPr>
          <a:xfrm>
            <a:off x="10178595" y="209440"/>
            <a:ext cx="1603092" cy="1068728"/>
          </a:xfrm>
          <a:prstGeom prst="rect">
            <a:avLst/>
          </a:prstGeom>
        </p:spPr>
      </p:pic>
    </p:spTree>
    <p:extLst>
      <p:ext uri="{BB962C8B-B14F-4D97-AF65-F5344CB8AC3E}">
        <p14:creationId xmlns:p14="http://schemas.microsoft.com/office/powerpoint/2010/main" val="294973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Titelplatzhalter 1">
            <a:extLst>
              <a:ext uri="{FF2B5EF4-FFF2-40B4-BE49-F238E27FC236}">
                <a16:creationId xmlns:a16="http://schemas.microsoft.com/office/drawing/2014/main" id="{77484F6D-D7A5-A84C-8037-DC2B1C3F0412}"/>
              </a:ext>
            </a:extLst>
          </p:cNvPr>
          <p:cNvSpPr>
            <a:spLocks noGrp="1"/>
          </p:cNvSpPr>
          <p:nvPr>
            <p:ph type="title"/>
          </p:nvPr>
        </p:nvSpPr>
        <p:spPr bwMode="auto">
          <a:xfrm>
            <a:off x="330893" y="307975"/>
            <a:ext cx="11425237"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de-DE"/>
              <a:t>Titelmasterformat durch Klicken </a:t>
            </a:r>
            <a:br>
              <a:rPr lang="de-DE" altLang="de-DE"/>
            </a:br>
            <a:r>
              <a:rPr lang="de-DE" altLang="de-DE"/>
              <a:t>bearbeiten</a:t>
            </a:r>
            <a:endParaRPr lang="de-CH" altLang="de-DE"/>
          </a:p>
        </p:txBody>
      </p:sp>
      <p:sp>
        <p:nvSpPr>
          <p:cNvPr id="1031" name="Textplatzhalter 2">
            <a:extLst>
              <a:ext uri="{FF2B5EF4-FFF2-40B4-BE49-F238E27FC236}">
                <a16:creationId xmlns:a16="http://schemas.microsoft.com/office/drawing/2014/main" id="{E343E7F3-69C7-774E-ABEA-BB484DD06F50}"/>
              </a:ext>
            </a:extLst>
          </p:cNvPr>
          <p:cNvSpPr>
            <a:spLocks noGrp="1"/>
          </p:cNvSpPr>
          <p:nvPr>
            <p:ph type="body" idx="1"/>
          </p:nvPr>
        </p:nvSpPr>
        <p:spPr bwMode="auto">
          <a:xfrm>
            <a:off x="334963" y="2195513"/>
            <a:ext cx="11425237" cy="389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dirty="0"/>
              <a:t>Textmasterformate durch Klicken bearbeiten</a:t>
            </a:r>
          </a:p>
          <a:p>
            <a:pPr lvl="1"/>
            <a:r>
              <a:rPr lang="de-DE" altLang="de-DE" dirty="0"/>
              <a:t>Zweite Ebene</a:t>
            </a:r>
          </a:p>
          <a:p>
            <a:pPr lvl="2"/>
            <a:r>
              <a:rPr lang="de-DE" altLang="de-DE" dirty="0"/>
              <a:t>Dritte Ebene</a:t>
            </a:r>
          </a:p>
          <a:p>
            <a:pPr lvl="3"/>
            <a:r>
              <a:rPr lang="de-DE" altLang="de-DE" dirty="0"/>
              <a:t>Vierte Ebene</a:t>
            </a:r>
          </a:p>
          <a:p>
            <a:pPr lvl="4"/>
            <a:r>
              <a:rPr lang="de-DE" altLang="de-DE" dirty="0"/>
              <a:t>Fünfte Ebene</a:t>
            </a:r>
            <a:endParaRPr lang="de-CH" altLang="de-DE" dirty="0"/>
          </a:p>
        </p:txBody>
      </p:sp>
      <p:sp>
        <p:nvSpPr>
          <p:cNvPr id="7" name="Datumsplatzhalter 5">
            <a:extLst>
              <a:ext uri="{FF2B5EF4-FFF2-40B4-BE49-F238E27FC236}">
                <a16:creationId xmlns:a16="http://schemas.microsoft.com/office/drawing/2014/main" id="{8CE010BB-B8AC-4875-95BD-3DFF417F427F}"/>
              </a:ext>
            </a:extLst>
          </p:cNvPr>
          <p:cNvSpPr>
            <a:spLocks noGrp="1"/>
          </p:cNvSpPr>
          <p:nvPr>
            <p:ph type="dt" sz="half" idx="2"/>
          </p:nvPr>
        </p:nvSpPr>
        <p:spPr>
          <a:xfrm>
            <a:off x="335859" y="6520259"/>
            <a:ext cx="2844800" cy="365125"/>
          </a:xfrm>
          <a:prstGeom prst="rect">
            <a:avLst/>
          </a:prstGeom>
        </p:spPr>
        <p:txBody>
          <a:bodyPr/>
          <a:lstStyle>
            <a:lvl1pPr algn="l">
              <a:defRPr sz="900">
                <a:solidFill>
                  <a:schemeClr val="bg1">
                    <a:lumMod val="65000"/>
                  </a:schemeClr>
                </a:solidFill>
                <a:latin typeface="Roboto" panose="02000000000000000000"/>
              </a:defRPr>
            </a:lvl1pPr>
          </a:lstStyle>
          <a:p>
            <a:pPr>
              <a:defRPr/>
            </a:pPr>
            <a:endParaRPr lang="de-CH"/>
          </a:p>
        </p:txBody>
      </p:sp>
      <p:sp>
        <p:nvSpPr>
          <p:cNvPr id="8" name="Fußzeilenplatzhalter 8">
            <a:extLst>
              <a:ext uri="{FF2B5EF4-FFF2-40B4-BE49-F238E27FC236}">
                <a16:creationId xmlns:a16="http://schemas.microsoft.com/office/drawing/2014/main" id="{DBE98B80-C971-4620-A6EB-DCCB5FD7BFE9}"/>
              </a:ext>
            </a:extLst>
          </p:cNvPr>
          <p:cNvSpPr>
            <a:spLocks noGrp="1"/>
          </p:cNvSpPr>
          <p:nvPr>
            <p:ph type="ftr" sz="quarter" idx="3"/>
          </p:nvPr>
        </p:nvSpPr>
        <p:spPr>
          <a:xfrm>
            <a:off x="4223792" y="6520259"/>
            <a:ext cx="3860800" cy="365125"/>
          </a:xfrm>
          <a:prstGeom prst="rect">
            <a:avLst/>
          </a:prstGeom>
        </p:spPr>
        <p:txBody>
          <a:bodyPr/>
          <a:lstStyle>
            <a:lvl1pPr algn="ctr">
              <a:defRPr sz="900">
                <a:solidFill>
                  <a:schemeClr val="bg1">
                    <a:lumMod val="65000"/>
                  </a:schemeClr>
                </a:solidFill>
                <a:latin typeface="Roboto" panose="02000000000000000000"/>
              </a:defRPr>
            </a:lvl1pPr>
          </a:lstStyle>
          <a:p>
            <a:pPr>
              <a:defRPr/>
            </a:pPr>
            <a:endParaRPr lang="de-CH"/>
          </a:p>
        </p:txBody>
      </p:sp>
      <p:sp>
        <p:nvSpPr>
          <p:cNvPr id="9" name="Foliennummernplatzhalter 9">
            <a:extLst>
              <a:ext uri="{FF2B5EF4-FFF2-40B4-BE49-F238E27FC236}">
                <a16:creationId xmlns:a16="http://schemas.microsoft.com/office/drawing/2014/main" id="{C23DB4AE-6677-4078-B486-BF4D874CE6BD}"/>
              </a:ext>
            </a:extLst>
          </p:cNvPr>
          <p:cNvSpPr txBox="1">
            <a:spLocks/>
          </p:cNvSpPr>
          <p:nvPr userDrawn="1"/>
        </p:nvSpPr>
        <p:spPr>
          <a:xfrm>
            <a:off x="9011343" y="6520259"/>
            <a:ext cx="2744787" cy="365125"/>
          </a:xfrm>
          <a:prstGeom prst="rect">
            <a:avLst/>
          </a:prstGeom>
        </p:spPr>
        <p:txBody>
          <a:bodyPr/>
          <a:lstStyle>
            <a:defPPr>
              <a:defRPr lang="de-CH"/>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a:lstStyle>
          <a:p>
            <a:pPr algn="r">
              <a:defRPr/>
            </a:pPr>
            <a:fld id="{56B4A143-B6E4-4EE5-B547-206737602E72}" type="slidenum">
              <a:rPr lang="de-CH" altLang="de-DE" sz="900" smtClean="0">
                <a:solidFill>
                  <a:schemeClr val="bg1">
                    <a:lumMod val="65000"/>
                  </a:schemeClr>
                </a:solidFill>
                <a:latin typeface="Roboto" panose="02000000000000000000"/>
              </a:rPr>
              <a:pPr algn="r">
                <a:defRPr/>
              </a:pPr>
              <a:t>‹#›</a:t>
            </a:fld>
            <a:endParaRPr lang="de-CH" altLang="de-DE" sz="900">
              <a:solidFill>
                <a:schemeClr val="bg1">
                  <a:lumMod val="65000"/>
                </a:schemeClr>
              </a:solidFill>
              <a:latin typeface="Roboto" panose="02000000000000000000"/>
            </a:endParaRPr>
          </a:p>
        </p:txBody>
      </p:sp>
      <p:pic>
        <p:nvPicPr>
          <p:cNvPr id="2" name="Grafik 3" descr="Ein Bild, das Text, Schrift, Grafiken, Logo enthält.&#10;&#10;Automatisch generierte Beschreibung">
            <a:extLst>
              <a:ext uri="{FF2B5EF4-FFF2-40B4-BE49-F238E27FC236}">
                <a16:creationId xmlns:a16="http://schemas.microsoft.com/office/drawing/2014/main" id="{298E53F1-130E-820A-7750-5AE3B616451D}"/>
              </a:ext>
            </a:extLst>
          </p:cNvPr>
          <p:cNvPicPr>
            <a:picLocks noChangeAspect="1"/>
          </p:cNvPicPr>
          <p:nvPr userDrawn="1"/>
        </p:nvPicPr>
        <p:blipFill rotWithShape="1">
          <a:blip r:embed="rId12">
            <a:extLst>
              <a:ext uri="{BEBA8EAE-BF5A-486C-A8C5-ECC9F3942E4B}">
                <a14:imgProps xmlns:a14="http://schemas.microsoft.com/office/drawing/2010/main">
                  <a14:imgLayer r:embed="rId1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l="25851" t="30050" r="14300" b="30050"/>
          <a:stretch/>
        </p:blipFill>
        <p:spPr>
          <a:xfrm>
            <a:off x="10178595" y="209440"/>
            <a:ext cx="1603092" cy="1068728"/>
          </a:xfrm>
          <a:prstGeom prst="rect">
            <a:avLst/>
          </a:prstGeom>
        </p:spPr>
      </p:pic>
    </p:spTree>
  </p:cSld>
  <p:clrMap bg1="lt1" tx1="dk1" bg2="lt2" tx2="dk2" accent1="accent1" accent2="accent2" accent3="accent3" accent4="accent4" accent5="accent5" accent6="accent6" hlink="hlink" folHlink="folHlink"/>
  <p:sldLayoutIdLst>
    <p:sldLayoutId id="2147483768" r:id="rId1"/>
    <p:sldLayoutId id="2147483772" r:id="rId2"/>
    <p:sldLayoutId id="2147483775" r:id="rId3"/>
    <p:sldLayoutId id="2147483777" r:id="rId4"/>
    <p:sldLayoutId id="2147483779" r:id="rId5"/>
    <p:sldLayoutId id="2147483773" r:id="rId6"/>
    <p:sldLayoutId id="2147483786" r:id="rId7"/>
    <p:sldLayoutId id="2147483787" r:id="rId8"/>
    <p:sldLayoutId id="2147483788" r:id="rId9"/>
    <p:sldLayoutId id="2147483789" r:id="rId10"/>
  </p:sldLayoutIdLst>
  <p:hf hdr="0" ftr="0" dt="0"/>
  <p:txStyles>
    <p:titleStyle>
      <a:lvl1pPr algn="l" rtl="0" eaLnBrk="1" fontAlgn="base" hangingPunct="1">
        <a:spcBef>
          <a:spcPct val="0"/>
        </a:spcBef>
        <a:spcAft>
          <a:spcPct val="0"/>
        </a:spcAft>
        <a:defRPr lang="de-CH" altLang="de-DE" sz="2400" b="1" kern="1200">
          <a:solidFill>
            <a:srgbClr val="24519F"/>
          </a:solidFill>
          <a:latin typeface="Roboto" panose="02000000000000000000" pitchFamily="2" charset="0"/>
          <a:ea typeface="Roboto" panose="02000000000000000000" pitchFamily="2" charset="0"/>
          <a:cs typeface="Roboto" panose="02000000000000000000" pitchFamily="2" charset="0"/>
        </a:defRPr>
      </a:lvl1pPr>
      <a:lvl2pPr algn="l" rtl="0" eaLnBrk="1" fontAlgn="base" hangingPunct="1">
        <a:spcBef>
          <a:spcPct val="0"/>
        </a:spcBef>
        <a:spcAft>
          <a:spcPct val="0"/>
        </a:spcAft>
        <a:defRPr sz="2400" b="1">
          <a:solidFill>
            <a:srgbClr val="24519F"/>
          </a:solidFill>
          <a:latin typeface="Roboto" panose="02000000000000000000" pitchFamily="2" charset="0"/>
          <a:ea typeface="Roboto" panose="02000000000000000000" pitchFamily="2" charset="0"/>
          <a:cs typeface="Roboto" panose="02000000000000000000" pitchFamily="2" charset="0"/>
        </a:defRPr>
      </a:lvl2pPr>
      <a:lvl3pPr algn="l" rtl="0" eaLnBrk="1" fontAlgn="base" hangingPunct="1">
        <a:spcBef>
          <a:spcPct val="0"/>
        </a:spcBef>
        <a:spcAft>
          <a:spcPct val="0"/>
        </a:spcAft>
        <a:defRPr sz="2400" b="1">
          <a:solidFill>
            <a:srgbClr val="24519F"/>
          </a:solidFill>
          <a:latin typeface="Roboto" panose="02000000000000000000" pitchFamily="2" charset="0"/>
          <a:ea typeface="Roboto" panose="02000000000000000000" pitchFamily="2" charset="0"/>
          <a:cs typeface="Roboto" panose="02000000000000000000" pitchFamily="2" charset="0"/>
        </a:defRPr>
      </a:lvl3pPr>
      <a:lvl4pPr algn="l" rtl="0" eaLnBrk="1" fontAlgn="base" hangingPunct="1">
        <a:spcBef>
          <a:spcPct val="0"/>
        </a:spcBef>
        <a:spcAft>
          <a:spcPct val="0"/>
        </a:spcAft>
        <a:defRPr sz="2400" b="1">
          <a:solidFill>
            <a:srgbClr val="24519F"/>
          </a:solidFill>
          <a:latin typeface="Roboto" panose="02000000000000000000" pitchFamily="2" charset="0"/>
          <a:ea typeface="Roboto" panose="02000000000000000000" pitchFamily="2" charset="0"/>
          <a:cs typeface="Roboto" panose="02000000000000000000" pitchFamily="2" charset="0"/>
        </a:defRPr>
      </a:lvl4pPr>
      <a:lvl5pPr algn="l" rtl="0" eaLnBrk="1" fontAlgn="base" hangingPunct="1">
        <a:spcBef>
          <a:spcPct val="0"/>
        </a:spcBef>
        <a:spcAft>
          <a:spcPct val="0"/>
        </a:spcAft>
        <a:defRPr sz="2400" b="1">
          <a:solidFill>
            <a:srgbClr val="24519F"/>
          </a:solidFill>
          <a:latin typeface="Roboto" panose="02000000000000000000" pitchFamily="2" charset="0"/>
          <a:ea typeface="Roboto" panose="02000000000000000000" pitchFamily="2" charset="0"/>
          <a:cs typeface="Roboto" panose="02000000000000000000" pitchFamily="2" charset="0"/>
        </a:defRPr>
      </a:lvl5pPr>
      <a:lvl6pPr marL="457200" algn="l" rtl="0" eaLnBrk="1" fontAlgn="base" hangingPunct="1">
        <a:spcBef>
          <a:spcPct val="0"/>
        </a:spcBef>
        <a:spcAft>
          <a:spcPct val="0"/>
        </a:spcAft>
        <a:defRPr sz="2400" b="1">
          <a:solidFill>
            <a:srgbClr val="7F7F7F"/>
          </a:solidFill>
          <a:latin typeface="Tahoma" panose="020B0604030504040204" pitchFamily="34" charset="0"/>
          <a:cs typeface="Tahoma" panose="020B0604030504040204" pitchFamily="34" charset="0"/>
        </a:defRPr>
      </a:lvl6pPr>
      <a:lvl7pPr marL="914400" algn="l" rtl="0" eaLnBrk="1" fontAlgn="base" hangingPunct="1">
        <a:spcBef>
          <a:spcPct val="0"/>
        </a:spcBef>
        <a:spcAft>
          <a:spcPct val="0"/>
        </a:spcAft>
        <a:defRPr sz="2400" b="1">
          <a:solidFill>
            <a:srgbClr val="7F7F7F"/>
          </a:solidFill>
          <a:latin typeface="Tahoma" panose="020B0604030504040204" pitchFamily="34" charset="0"/>
          <a:cs typeface="Tahoma" panose="020B0604030504040204" pitchFamily="34" charset="0"/>
        </a:defRPr>
      </a:lvl7pPr>
      <a:lvl8pPr marL="1371600" algn="l" rtl="0" eaLnBrk="1" fontAlgn="base" hangingPunct="1">
        <a:spcBef>
          <a:spcPct val="0"/>
        </a:spcBef>
        <a:spcAft>
          <a:spcPct val="0"/>
        </a:spcAft>
        <a:defRPr sz="2400" b="1">
          <a:solidFill>
            <a:srgbClr val="7F7F7F"/>
          </a:solidFill>
          <a:latin typeface="Tahoma" panose="020B0604030504040204" pitchFamily="34" charset="0"/>
          <a:cs typeface="Tahoma" panose="020B0604030504040204" pitchFamily="34" charset="0"/>
        </a:defRPr>
      </a:lvl8pPr>
      <a:lvl9pPr marL="1828800" algn="l" rtl="0" eaLnBrk="1" fontAlgn="base" hangingPunct="1">
        <a:spcBef>
          <a:spcPct val="0"/>
        </a:spcBef>
        <a:spcAft>
          <a:spcPct val="0"/>
        </a:spcAft>
        <a:defRPr sz="2400" b="1">
          <a:solidFill>
            <a:srgbClr val="7F7F7F"/>
          </a:solidFill>
          <a:latin typeface="Tahoma" panose="020B0604030504040204" pitchFamily="34" charset="0"/>
          <a:cs typeface="Tahoma" panose="020B0604030504040204"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742950" indent="-285750" algn="l" rtl="0" eaLnBrk="1" fontAlgn="base" hangingPunct="1">
        <a:spcBef>
          <a:spcPct val="20000"/>
        </a:spcBef>
        <a:spcAft>
          <a:spcPct val="0"/>
        </a:spcAft>
        <a:buFont typeface="Arial" panose="020B0604020202020204" pitchFamily="34" charset="0"/>
        <a:buChar char="–"/>
        <a:defRPr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rtl="0" eaLnBrk="1" fontAlgn="base" hangingPunct="1">
        <a:spcBef>
          <a:spcPct val="20000"/>
        </a:spcBef>
        <a:spcAft>
          <a:spcPct val="0"/>
        </a:spcAft>
        <a:buFont typeface="Arial" panose="020B0604020202020204" pitchFamily="34" charset="0"/>
        <a:buChar char="•"/>
        <a:defRPr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rtl="0" eaLnBrk="1" fontAlgn="base" hangingPunct="1">
        <a:spcBef>
          <a:spcPct val="20000"/>
        </a:spcBef>
        <a:spcAft>
          <a:spcPct val="0"/>
        </a:spcAft>
        <a:buFont typeface="Arial" panose="020B0604020202020204" pitchFamily="34" charset="0"/>
        <a:buChar char="–"/>
        <a:defRPr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rtl="0" eaLnBrk="1" fontAlgn="base" hangingPunct="1">
        <a:spcBef>
          <a:spcPct val="20000"/>
        </a:spcBef>
        <a:spcAft>
          <a:spcPct val="0"/>
        </a:spcAft>
        <a:buFont typeface="Arial" panose="020B0604020202020204" pitchFamily="34" charset="0"/>
        <a:buChar char="»"/>
        <a:defRPr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eg"/><Relationship Id="rId4" Type="http://schemas.microsoft.com/office/2007/relationships/hdphoto" Target="../media/hdphoto2.wdp"/><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10.png"/><Relationship Id="rId4" Type="http://schemas.microsoft.com/office/2007/relationships/hdphoto" Target="../media/hdphoto4.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8.xml"/><Relationship Id="rId5" Type="http://schemas.openxmlformats.org/officeDocument/2006/relationships/image" Target="../media/image15.jpeg"/><Relationship Id="rId4" Type="http://schemas.microsoft.com/office/2007/relationships/hdphoto" Target="../media/hdphoto5.wdp"/></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AFE4DC-FACE-43EE-8D01-4CEBBFD67344}"/>
              </a:ext>
            </a:extLst>
          </p:cNvPr>
          <p:cNvSpPr>
            <a:spLocks noGrp="1"/>
          </p:cNvSpPr>
          <p:nvPr>
            <p:ph type="title"/>
          </p:nvPr>
        </p:nvSpPr>
        <p:spPr>
          <a:xfrm>
            <a:off x="630179" y="1145628"/>
            <a:ext cx="11288552" cy="4100521"/>
          </a:xfrm>
        </p:spPr>
        <p:txBody>
          <a:bodyPr/>
          <a:lstStyle/>
          <a:p>
            <a:r>
              <a:rPr lang="de-CH" b="0" dirty="0">
                <a:latin typeface="Roboto"/>
                <a:ea typeface="Roboto"/>
                <a:cs typeface="Roboto"/>
              </a:rPr>
              <a:t>KI-Zentrum für KMU: </a:t>
            </a:r>
            <a:br>
              <a:rPr lang="de-CH" dirty="0">
                <a:latin typeface="Roboto"/>
                <a:ea typeface="Roboto"/>
                <a:cs typeface="Roboto"/>
              </a:rPr>
            </a:br>
            <a:r>
              <a:rPr lang="de-CH" dirty="0">
                <a:latin typeface="Roboto"/>
                <a:ea typeface="Roboto"/>
                <a:cs typeface="Roboto"/>
              </a:rPr>
              <a:t>Potenziale der KI … </a:t>
            </a:r>
            <a:br>
              <a:rPr lang="de-CH" dirty="0">
                <a:latin typeface="Roboto"/>
                <a:ea typeface="Roboto"/>
                <a:cs typeface="Roboto"/>
              </a:rPr>
            </a:br>
            <a:r>
              <a:rPr lang="de-CH" dirty="0">
                <a:latin typeface="Roboto"/>
                <a:ea typeface="Roboto"/>
                <a:cs typeface="Roboto"/>
              </a:rPr>
              <a:t>              … für XYZ erkennen</a:t>
            </a:r>
            <a:br>
              <a:rPr lang="de-CH" sz="2800" b="0" dirty="0"/>
            </a:br>
            <a:br>
              <a:rPr lang="de-CH" sz="2800" b="0" dirty="0"/>
            </a:br>
            <a:br>
              <a:rPr lang="de-CH" sz="2800" b="0" dirty="0"/>
            </a:br>
            <a:br>
              <a:rPr lang="de-CH" sz="2000" b="0" dirty="0"/>
            </a:br>
            <a:br>
              <a:rPr lang="de-CH" sz="2000" b="0" dirty="0"/>
            </a:br>
            <a:endParaRPr lang="de-CH" sz="2800" b="0" dirty="0">
              <a:solidFill>
                <a:schemeClr val="bg1">
                  <a:lumMod val="50000"/>
                </a:schemeClr>
              </a:solidFill>
              <a:latin typeface="Roboto"/>
              <a:ea typeface="Roboto"/>
              <a:cs typeface="Roboto"/>
            </a:endParaRPr>
          </a:p>
        </p:txBody>
      </p:sp>
    </p:spTree>
    <p:extLst>
      <p:ext uri="{BB962C8B-B14F-4D97-AF65-F5344CB8AC3E}">
        <p14:creationId xmlns:p14="http://schemas.microsoft.com/office/powerpoint/2010/main" val="3522385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8EBD9-22CF-78B8-333B-D7AADCFB94B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7B9203D-BCFC-2B4E-8640-765214DA38DE}"/>
              </a:ext>
            </a:extLst>
          </p:cNvPr>
          <p:cNvSpPr>
            <a:spLocks noGrp="1"/>
          </p:cNvSpPr>
          <p:nvPr>
            <p:ph type="title"/>
          </p:nvPr>
        </p:nvSpPr>
        <p:spPr>
          <a:xfrm>
            <a:off x="2927648" y="2270753"/>
            <a:ext cx="8848491" cy="1439997"/>
          </a:xfrm>
        </p:spPr>
        <p:txBody>
          <a:bodyPr/>
          <a:lstStyle/>
          <a:p>
            <a:pPr>
              <a:lnSpc>
                <a:spcPct val="150000"/>
              </a:lnSpc>
            </a:pPr>
            <a:r>
              <a:rPr lang="de-CH" dirty="0"/>
              <a:t>Was ist KI</a:t>
            </a:r>
          </a:p>
        </p:txBody>
      </p:sp>
      <p:sp>
        <p:nvSpPr>
          <p:cNvPr id="4" name="Rechteck 3">
            <a:extLst>
              <a:ext uri="{FF2B5EF4-FFF2-40B4-BE49-F238E27FC236}">
                <a16:creationId xmlns:a16="http://schemas.microsoft.com/office/drawing/2014/main" id="{28EE64C0-C5BE-11B1-B761-331FFEB966ED}"/>
              </a:ext>
            </a:extLst>
          </p:cNvPr>
          <p:cNvSpPr/>
          <p:nvPr/>
        </p:nvSpPr>
        <p:spPr>
          <a:xfrm>
            <a:off x="1127448" y="2270751"/>
            <a:ext cx="1440160" cy="144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sz="8800" dirty="0">
                <a:solidFill>
                  <a:schemeClr val="bg1"/>
                </a:solidFill>
                <a:latin typeface="Roboto" panose="02000000000000000000" pitchFamily="2" charset="0"/>
                <a:ea typeface="Roboto" panose="02000000000000000000" pitchFamily="2" charset="0"/>
                <a:cs typeface="Roboto" panose="02000000000000000000" pitchFamily="2" charset="0"/>
              </a:rPr>
              <a:t>1</a:t>
            </a:r>
          </a:p>
        </p:txBody>
      </p:sp>
    </p:spTree>
    <p:extLst>
      <p:ext uri="{BB962C8B-B14F-4D97-AF65-F5344CB8AC3E}">
        <p14:creationId xmlns:p14="http://schemas.microsoft.com/office/powerpoint/2010/main" val="4238662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BF5A6-4FD4-429D-00C4-FF75A5298929}"/>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08551010-2CCB-697B-0E4E-38CE182C5706}"/>
              </a:ext>
            </a:extLst>
          </p:cNvPr>
          <p:cNvSpPr>
            <a:spLocks noGrp="1"/>
          </p:cNvSpPr>
          <p:nvPr>
            <p:ph type="title" idx="4294967295"/>
          </p:nvPr>
        </p:nvSpPr>
        <p:spPr>
          <a:xfrm>
            <a:off x="611981" y="57220"/>
            <a:ext cx="10968037" cy="1008062"/>
          </a:xfrm>
        </p:spPr>
        <p:txBody>
          <a:bodyPr/>
          <a:lstStyle/>
          <a:p>
            <a:r>
              <a:rPr lang="de-CH" dirty="0"/>
              <a:t>Einstiegsfrage</a:t>
            </a:r>
          </a:p>
        </p:txBody>
      </p:sp>
      <p:sp>
        <p:nvSpPr>
          <p:cNvPr id="7" name="TextBox 6">
            <a:extLst>
              <a:ext uri="{FF2B5EF4-FFF2-40B4-BE49-F238E27FC236}">
                <a16:creationId xmlns:a16="http://schemas.microsoft.com/office/drawing/2014/main" id="{38E63ED6-5CFA-5A69-2113-958C3223D8FD}"/>
              </a:ext>
            </a:extLst>
          </p:cNvPr>
          <p:cNvSpPr txBox="1"/>
          <p:nvPr/>
        </p:nvSpPr>
        <p:spPr>
          <a:xfrm>
            <a:off x="611981" y="2323454"/>
            <a:ext cx="10968036" cy="2954655"/>
          </a:xfrm>
          <a:prstGeom prst="rect">
            <a:avLst/>
          </a:prstGeom>
          <a:noFill/>
        </p:spPr>
        <p:txBody>
          <a:bodyPr wrap="square">
            <a:spAutoFit/>
          </a:bodyPr>
          <a:lstStyle/>
          <a:p>
            <a:endParaRPr lang="en-GB" dirty="0"/>
          </a:p>
          <a:p>
            <a:pPr algn="ctr"/>
            <a:r>
              <a:rPr lang="en-GB" sz="3000" dirty="0"/>
              <a:t>«Was verstehen Sie </a:t>
            </a:r>
            <a:r>
              <a:rPr lang="en-GB" sz="3000" dirty="0" err="1"/>
              <a:t>unter</a:t>
            </a:r>
            <a:r>
              <a:rPr lang="en-GB" sz="3000" dirty="0"/>
              <a:t> KI </a:t>
            </a:r>
            <a:br>
              <a:rPr lang="en-GB" sz="3000" dirty="0"/>
            </a:br>
            <a:r>
              <a:rPr lang="en-GB" sz="3000" dirty="0"/>
              <a:t>und was </a:t>
            </a:r>
            <a:r>
              <a:rPr lang="en-GB" sz="3000" dirty="0" err="1"/>
              <a:t>haben</a:t>
            </a:r>
            <a:r>
              <a:rPr lang="en-GB" sz="3000" dirty="0"/>
              <a:t> Sie </a:t>
            </a:r>
            <a:r>
              <a:rPr lang="en-GB" sz="3000" dirty="0" err="1"/>
              <a:t>bisher</a:t>
            </a:r>
            <a:r>
              <a:rPr lang="en-GB" sz="3000" dirty="0"/>
              <a:t> </a:t>
            </a:r>
            <a:r>
              <a:rPr lang="en-GB" sz="3000" dirty="0" err="1"/>
              <a:t>im</a:t>
            </a:r>
            <a:r>
              <a:rPr lang="en-GB" sz="3000" dirty="0"/>
              <a:t> </a:t>
            </a:r>
            <a:r>
              <a:rPr lang="en-GB" sz="3000" dirty="0" err="1"/>
              <a:t>Kontext</a:t>
            </a:r>
            <a:r>
              <a:rPr lang="en-GB" sz="3000" dirty="0"/>
              <a:t> von KI </a:t>
            </a:r>
            <a:r>
              <a:rPr lang="en-GB" sz="3000" dirty="0" err="1"/>
              <a:t>umgesetzt</a:t>
            </a:r>
            <a:r>
              <a:rPr lang="en-GB" sz="3000" dirty="0"/>
              <a:t>?».</a:t>
            </a:r>
          </a:p>
          <a:p>
            <a:pPr algn="ctr"/>
            <a:endParaRPr lang="en-GB" sz="3000" dirty="0"/>
          </a:p>
          <a:p>
            <a:pPr algn="ctr"/>
            <a:endParaRPr lang="en-GB" sz="3000" dirty="0"/>
          </a:p>
          <a:p>
            <a:endParaRPr lang="en-GB" dirty="0">
              <a:highlight>
                <a:srgbClr val="FFFF00"/>
              </a:highlight>
            </a:endParaRPr>
          </a:p>
          <a:p>
            <a:pPr algn="ctr"/>
            <a:endParaRPr lang="en-GB" sz="3000" dirty="0"/>
          </a:p>
        </p:txBody>
      </p:sp>
    </p:spTree>
    <p:extLst>
      <p:ext uri="{BB962C8B-B14F-4D97-AF65-F5344CB8AC3E}">
        <p14:creationId xmlns:p14="http://schemas.microsoft.com/office/powerpoint/2010/main" val="3344927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8ECD-1F47-FAE2-B1FB-737A528D0814}"/>
              </a:ext>
            </a:extLst>
          </p:cNvPr>
          <p:cNvSpPr>
            <a:spLocks noGrp="1"/>
          </p:cNvSpPr>
          <p:nvPr>
            <p:ph type="title"/>
          </p:nvPr>
        </p:nvSpPr>
        <p:spPr/>
        <p:txBody>
          <a:bodyPr/>
          <a:lstStyle/>
          <a:p>
            <a:r>
              <a:rPr lang="en-US" dirty="0"/>
              <a:t>KI </a:t>
            </a:r>
            <a:r>
              <a:rPr lang="en-US" dirty="0" err="1"/>
              <a:t>ist</a:t>
            </a:r>
            <a:r>
              <a:rPr lang="en-US" dirty="0"/>
              <a:t> </a:t>
            </a:r>
            <a:r>
              <a:rPr lang="en-US" dirty="0" err="1"/>
              <a:t>mehr</a:t>
            </a:r>
            <a:r>
              <a:rPr lang="en-US" dirty="0"/>
              <a:t> </a:t>
            </a:r>
            <a:r>
              <a:rPr lang="en-US" dirty="0" err="1"/>
              <a:t>als</a:t>
            </a:r>
            <a:r>
              <a:rPr lang="en-US" dirty="0"/>
              <a:t> ChatGPT und CoPilot</a:t>
            </a:r>
            <a:endParaRPr lang="en-CH" dirty="0"/>
          </a:p>
        </p:txBody>
      </p:sp>
      <p:sp>
        <p:nvSpPr>
          <p:cNvPr id="115" name="Sechseck 40">
            <a:extLst>
              <a:ext uri="{FF2B5EF4-FFF2-40B4-BE49-F238E27FC236}">
                <a16:creationId xmlns:a16="http://schemas.microsoft.com/office/drawing/2014/main" id="{431A6DD0-C52F-12FF-1BBA-15E1AF954105}"/>
              </a:ext>
            </a:extLst>
          </p:cNvPr>
          <p:cNvSpPr/>
          <p:nvPr/>
        </p:nvSpPr>
        <p:spPr>
          <a:xfrm>
            <a:off x="3254815" y="2117387"/>
            <a:ext cx="5356998" cy="963516"/>
          </a:xfrm>
          <a:custGeom>
            <a:avLst/>
            <a:gdLst>
              <a:gd name="connsiteX0" fmla="*/ 0 w 5356998"/>
              <a:gd name="connsiteY0" fmla="*/ 481758 h 963516"/>
              <a:gd name="connsiteX1" fmla="*/ 279362 w 5356998"/>
              <a:gd name="connsiteY1" fmla="*/ 0 h 963516"/>
              <a:gd name="connsiteX2" fmla="*/ 735198 w 5356998"/>
              <a:gd name="connsiteY2" fmla="*/ 0 h 963516"/>
              <a:gd name="connsiteX3" fmla="*/ 1287000 w 5356998"/>
              <a:gd name="connsiteY3" fmla="*/ 0 h 963516"/>
              <a:gd name="connsiteX4" fmla="*/ 1982749 w 5356998"/>
              <a:gd name="connsiteY4" fmla="*/ 0 h 963516"/>
              <a:gd name="connsiteX5" fmla="*/ 2438585 w 5356998"/>
              <a:gd name="connsiteY5" fmla="*/ 0 h 963516"/>
              <a:gd name="connsiteX6" fmla="*/ 3134335 w 5356998"/>
              <a:gd name="connsiteY6" fmla="*/ 0 h 963516"/>
              <a:gd name="connsiteX7" fmla="*/ 3638154 w 5356998"/>
              <a:gd name="connsiteY7" fmla="*/ 0 h 963516"/>
              <a:gd name="connsiteX8" fmla="*/ 4141973 w 5356998"/>
              <a:gd name="connsiteY8" fmla="*/ 0 h 963516"/>
              <a:gd name="connsiteX9" fmla="*/ 5077636 w 5356998"/>
              <a:gd name="connsiteY9" fmla="*/ 0 h 963516"/>
              <a:gd name="connsiteX10" fmla="*/ 5356998 w 5356998"/>
              <a:gd name="connsiteY10" fmla="*/ 481758 h 963516"/>
              <a:gd name="connsiteX11" fmla="*/ 5077636 w 5356998"/>
              <a:gd name="connsiteY11" fmla="*/ 963516 h 963516"/>
              <a:gd name="connsiteX12" fmla="*/ 4525834 w 5356998"/>
              <a:gd name="connsiteY12" fmla="*/ 963516 h 963516"/>
              <a:gd name="connsiteX13" fmla="*/ 3830085 w 5356998"/>
              <a:gd name="connsiteY13" fmla="*/ 963516 h 963516"/>
              <a:gd name="connsiteX14" fmla="*/ 3278283 w 5356998"/>
              <a:gd name="connsiteY14" fmla="*/ 963516 h 963516"/>
              <a:gd name="connsiteX15" fmla="*/ 2726482 w 5356998"/>
              <a:gd name="connsiteY15" fmla="*/ 963516 h 963516"/>
              <a:gd name="connsiteX16" fmla="*/ 2270646 w 5356998"/>
              <a:gd name="connsiteY16" fmla="*/ 963516 h 963516"/>
              <a:gd name="connsiteX17" fmla="*/ 1574896 w 5356998"/>
              <a:gd name="connsiteY17" fmla="*/ 963516 h 963516"/>
              <a:gd name="connsiteX18" fmla="*/ 1023094 w 5356998"/>
              <a:gd name="connsiteY18" fmla="*/ 963516 h 963516"/>
              <a:gd name="connsiteX19" fmla="*/ 279362 w 5356998"/>
              <a:gd name="connsiteY19" fmla="*/ 963516 h 963516"/>
              <a:gd name="connsiteX20" fmla="*/ 0 w 5356998"/>
              <a:gd name="connsiteY20" fmla="*/ 481758 h 963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356998" h="963516" fill="none" extrusionOk="0">
                <a:moveTo>
                  <a:pt x="0" y="481758"/>
                </a:moveTo>
                <a:cubicBezTo>
                  <a:pt x="42076" y="331389"/>
                  <a:pt x="152794" y="233720"/>
                  <a:pt x="279362" y="0"/>
                </a:cubicBezTo>
                <a:cubicBezTo>
                  <a:pt x="480863" y="-19969"/>
                  <a:pt x="540053" y="51695"/>
                  <a:pt x="735198" y="0"/>
                </a:cubicBezTo>
                <a:cubicBezTo>
                  <a:pt x="930343" y="-51695"/>
                  <a:pt x="1016316" y="37236"/>
                  <a:pt x="1287000" y="0"/>
                </a:cubicBezTo>
                <a:cubicBezTo>
                  <a:pt x="1557684" y="-37236"/>
                  <a:pt x="1697784" y="49696"/>
                  <a:pt x="1982749" y="0"/>
                </a:cubicBezTo>
                <a:cubicBezTo>
                  <a:pt x="2267714" y="-49696"/>
                  <a:pt x="2214720" y="24547"/>
                  <a:pt x="2438585" y="0"/>
                </a:cubicBezTo>
                <a:cubicBezTo>
                  <a:pt x="2662450" y="-24547"/>
                  <a:pt x="2802692" y="66712"/>
                  <a:pt x="3134335" y="0"/>
                </a:cubicBezTo>
                <a:cubicBezTo>
                  <a:pt x="3465978" y="-66712"/>
                  <a:pt x="3419069" y="37655"/>
                  <a:pt x="3638154" y="0"/>
                </a:cubicBezTo>
                <a:cubicBezTo>
                  <a:pt x="3857239" y="-37655"/>
                  <a:pt x="3932214" y="20223"/>
                  <a:pt x="4141973" y="0"/>
                </a:cubicBezTo>
                <a:cubicBezTo>
                  <a:pt x="4351732" y="-20223"/>
                  <a:pt x="4686421" y="26071"/>
                  <a:pt x="5077636" y="0"/>
                </a:cubicBezTo>
                <a:cubicBezTo>
                  <a:pt x="5191345" y="128845"/>
                  <a:pt x="5203698" y="310582"/>
                  <a:pt x="5356998" y="481758"/>
                </a:cubicBezTo>
                <a:cubicBezTo>
                  <a:pt x="5313816" y="651744"/>
                  <a:pt x="5157342" y="740116"/>
                  <a:pt x="5077636" y="963516"/>
                </a:cubicBezTo>
                <a:cubicBezTo>
                  <a:pt x="4912194" y="964908"/>
                  <a:pt x="4720489" y="960804"/>
                  <a:pt x="4525834" y="963516"/>
                </a:cubicBezTo>
                <a:cubicBezTo>
                  <a:pt x="4331179" y="966228"/>
                  <a:pt x="3999075" y="916859"/>
                  <a:pt x="3830085" y="963516"/>
                </a:cubicBezTo>
                <a:cubicBezTo>
                  <a:pt x="3661095" y="1010173"/>
                  <a:pt x="3478466" y="951857"/>
                  <a:pt x="3278283" y="963516"/>
                </a:cubicBezTo>
                <a:cubicBezTo>
                  <a:pt x="3078100" y="975175"/>
                  <a:pt x="2934100" y="910849"/>
                  <a:pt x="2726482" y="963516"/>
                </a:cubicBezTo>
                <a:cubicBezTo>
                  <a:pt x="2518864" y="1016183"/>
                  <a:pt x="2452223" y="950362"/>
                  <a:pt x="2270646" y="963516"/>
                </a:cubicBezTo>
                <a:cubicBezTo>
                  <a:pt x="2089069" y="976670"/>
                  <a:pt x="1917149" y="951660"/>
                  <a:pt x="1574896" y="963516"/>
                </a:cubicBezTo>
                <a:cubicBezTo>
                  <a:pt x="1232643" y="975372"/>
                  <a:pt x="1214448" y="936617"/>
                  <a:pt x="1023094" y="963516"/>
                </a:cubicBezTo>
                <a:cubicBezTo>
                  <a:pt x="831740" y="990415"/>
                  <a:pt x="439193" y="885354"/>
                  <a:pt x="279362" y="963516"/>
                </a:cubicBezTo>
                <a:cubicBezTo>
                  <a:pt x="166365" y="807964"/>
                  <a:pt x="87048" y="570129"/>
                  <a:pt x="0" y="481758"/>
                </a:cubicBezTo>
                <a:close/>
              </a:path>
              <a:path w="5356998" h="963516" stroke="0" extrusionOk="0">
                <a:moveTo>
                  <a:pt x="0" y="481758"/>
                </a:moveTo>
                <a:cubicBezTo>
                  <a:pt x="47999" y="271145"/>
                  <a:pt x="176315" y="187602"/>
                  <a:pt x="279362" y="0"/>
                </a:cubicBezTo>
                <a:cubicBezTo>
                  <a:pt x="470843" y="-19913"/>
                  <a:pt x="631284" y="12017"/>
                  <a:pt x="783181" y="0"/>
                </a:cubicBezTo>
                <a:cubicBezTo>
                  <a:pt x="935078" y="-12017"/>
                  <a:pt x="1184420" y="14336"/>
                  <a:pt x="1287000" y="0"/>
                </a:cubicBezTo>
                <a:cubicBezTo>
                  <a:pt x="1389580" y="-14336"/>
                  <a:pt x="1618751" y="38406"/>
                  <a:pt x="1742836" y="0"/>
                </a:cubicBezTo>
                <a:cubicBezTo>
                  <a:pt x="1866921" y="-38406"/>
                  <a:pt x="2001922" y="26893"/>
                  <a:pt x="2246654" y="0"/>
                </a:cubicBezTo>
                <a:cubicBezTo>
                  <a:pt x="2491386" y="-26893"/>
                  <a:pt x="2713713" y="30127"/>
                  <a:pt x="2894421" y="0"/>
                </a:cubicBezTo>
                <a:cubicBezTo>
                  <a:pt x="3075129" y="-30127"/>
                  <a:pt x="3234458" y="12452"/>
                  <a:pt x="3398240" y="0"/>
                </a:cubicBezTo>
                <a:cubicBezTo>
                  <a:pt x="3562022" y="-12452"/>
                  <a:pt x="3693907" y="30053"/>
                  <a:pt x="3854076" y="0"/>
                </a:cubicBezTo>
                <a:cubicBezTo>
                  <a:pt x="4014245" y="-30053"/>
                  <a:pt x="4406879" y="81365"/>
                  <a:pt x="4549826" y="0"/>
                </a:cubicBezTo>
                <a:cubicBezTo>
                  <a:pt x="4692773" y="-81365"/>
                  <a:pt x="4813799" y="40264"/>
                  <a:pt x="5077636" y="0"/>
                </a:cubicBezTo>
                <a:cubicBezTo>
                  <a:pt x="5184360" y="150183"/>
                  <a:pt x="5212173" y="352068"/>
                  <a:pt x="5356998" y="481758"/>
                </a:cubicBezTo>
                <a:cubicBezTo>
                  <a:pt x="5317342" y="678386"/>
                  <a:pt x="5163354" y="778696"/>
                  <a:pt x="5077636" y="963516"/>
                </a:cubicBezTo>
                <a:cubicBezTo>
                  <a:pt x="4952121" y="970470"/>
                  <a:pt x="4805710" y="948712"/>
                  <a:pt x="4573817" y="963516"/>
                </a:cubicBezTo>
                <a:cubicBezTo>
                  <a:pt x="4341924" y="978320"/>
                  <a:pt x="4235864" y="925086"/>
                  <a:pt x="4069998" y="963516"/>
                </a:cubicBezTo>
                <a:cubicBezTo>
                  <a:pt x="3904132" y="1001946"/>
                  <a:pt x="3573642" y="910687"/>
                  <a:pt x="3422231" y="963516"/>
                </a:cubicBezTo>
                <a:cubicBezTo>
                  <a:pt x="3270820" y="1016345"/>
                  <a:pt x="3080049" y="906930"/>
                  <a:pt x="2822447" y="963516"/>
                </a:cubicBezTo>
                <a:cubicBezTo>
                  <a:pt x="2564845" y="1020102"/>
                  <a:pt x="2423360" y="939637"/>
                  <a:pt x="2270646" y="963516"/>
                </a:cubicBezTo>
                <a:cubicBezTo>
                  <a:pt x="2117932" y="987395"/>
                  <a:pt x="1943775" y="907730"/>
                  <a:pt x="1766827" y="963516"/>
                </a:cubicBezTo>
                <a:cubicBezTo>
                  <a:pt x="1589879" y="1019302"/>
                  <a:pt x="1356055" y="951209"/>
                  <a:pt x="1167043" y="963516"/>
                </a:cubicBezTo>
                <a:cubicBezTo>
                  <a:pt x="978031" y="975823"/>
                  <a:pt x="604474" y="879068"/>
                  <a:pt x="279362" y="963516"/>
                </a:cubicBezTo>
                <a:cubicBezTo>
                  <a:pt x="182721" y="798040"/>
                  <a:pt x="94004" y="614804"/>
                  <a:pt x="0" y="481758"/>
                </a:cubicBezTo>
                <a:close/>
              </a:path>
            </a:pathLst>
          </a:custGeom>
          <a:solidFill>
            <a:srgbClr val="F8E899">
              <a:alpha val="50000"/>
            </a:srgbClr>
          </a:solidFill>
          <a:ln w="12700">
            <a:solidFill>
              <a:schemeClr val="tx1"/>
            </a:solidFill>
            <a:extLst>
              <a:ext uri="{C807C97D-BFC1-408E-A445-0C87EB9F89A2}">
                <ask:lineSketchStyleProps xmlns:ask="http://schemas.microsoft.com/office/drawing/2018/sketchyshapes" sd="3184039405">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dirty="0">
              <a:solidFill>
                <a:prstClr val="black"/>
              </a:solidFill>
              <a:latin typeface="Arial Narrow" panose="020B0606020202030204" pitchFamily="34" charset="0"/>
            </a:endParaRPr>
          </a:p>
        </p:txBody>
      </p:sp>
      <p:sp>
        <p:nvSpPr>
          <p:cNvPr id="116" name="Sechseck 41">
            <a:extLst>
              <a:ext uri="{FF2B5EF4-FFF2-40B4-BE49-F238E27FC236}">
                <a16:creationId xmlns:a16="http://schemas.microsoft.com/office/drawing/2014/main" id="{DFD8C69D-B372-56C1-CFEF-C22D329EF98E}"/>
              </a:ext>
            </a:extLst>
          </p:cNvPr>
          <p:cNvSpPr/>
          <p:nvPr/>
        </p:nvSpPr>
        <p:spPr>
          <a:xfrm>
            <a:off x="4794392" y="1656858"/>
            <a:ext cx="2164235" cy="1871906"/>
          </a:xfrm>
          <a:custGeom>
            <a:avLst/>
            <a:gdLst>
              <a:gd name="connsiteX0" fmla="*/ 0 w 2164235"/>
              <a:gd name="connsiteY0" fmla="*/ 935953 h 1871906"/>
              <a:gd name="connsiteX1" fmla="*/ 276797 w 2164235"/>
              <a:gd name="connsiteY1" fmla="*/ 458617 h 1871906"/>
              <a:gd name="connsiteX2" fmla="*/ 542740 w 2164235"/>
              <a:gd name="connsiteY2" fmla="*/ 0 h 1871906"/>
              <a:gd name="connsiteX3" fmla="*/ 1092905 w 2164235"/>
              <a:gd name="connsiteY3" fmla="*/ 0 h 1871906"/>
              <a:gd name="connsiteX4" fmla="*/ 1621495 w 2164235"/>
              <a:gd name="connsiteY4" fmla="*/ 0 h 1871906"/>
              <a:gd name="connsiteX5" fmla="*/ 1882010 w 2164235"/>
              <a:gd name="connsiteY5" fmla="*/ 449257 h 1871906"/>
              <a:gd name="connsiteX6" fmla="*/ 2164235 w 2164235"/>
              <a:gd name="connsiteY6" fmla="*/ 935953 h 1871906"/>
              <a:gd name="connsiteX7" fmla="*/ 1898292 w 2164235"/>
              <a:gd name="connsiteY7" fmla="*/ 1394570 h 1871906"/>
              <a:gd name="connsiteX8" fmla="*/ 1621495 w 2164235"/>
              <a:gd name="connsiteY8" fmla="*/ 1871906 h 1871906"/>
              <a:gd name="connsiteX9" fmla="*/ 1114480 w 2164235"/>
              <a:gd name="connsiteY9" fmla="*/ 1871906 h 1871906"/>
              <a:gd name="connsiteX10" fmla="*/ 542740 w 2164235"/>
              <a:gd name="connsiteY10" fmla="*/ 1871906 h 1871906"/>
              <a:gd name="connsiteX11" fmla="*/ 265943 w 2164235"/>
              <a:gd name="connsiteY11" fmla="*/ 1394570 h 1871906"/>
              <a:gd name="connsiteX12" fmla="*/ 0 w 2164235"/>
              <a:gd name="connsiteY12" fmla="*/ 935953 h 187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64235" h="1871906" fill="none" extrusionOk="0">
                <a:moveTo>
                  <a:pt x="0" y="935953"/>
                </a:moveTo>
                <a:cubicBezTo>
                  <a:pt x="126113" y="693408"/>
                  <a:pt x="174205" y="675278"/>
                  <a:pt x="276797" y="458617"/>
                </a:cubicBezTo>
                <a:cubicBezTo>
                  <a:pt x="379389" y="241956"/>
                  <a:pt x="497801" y="157896"/>
                  <a:pt x="542740" y="0"/>
                </a:cubicBezTo>
                <a:cubicBezTo>
                  <a:pt x="808662" y="-16400"/>
                  <a:pt x="828163" y="38065"/>
                  <a:pt x="1092905" y="0"/>
                </a:cubicBezTo>
                <a:cubicBezTo>
                  <a:pt x="1357647" y="-38065"/>
                  <a:pt x="1514906" y="4895"/>
                  <a:pt x="1621495" y="0"/>
                </a:cubicBezTo>
                <a:cubicBezTo>
                  <a:pt x="1696348" y="77008"/>
                  <a:pt x="1714118" y="268174"/>
                  <a:pt x="1882010" y="449257"/>
                </a:cubicBezTo>
                <a:cubicBezTo>
                  <a:pt x="2049902" y="630341"/>
                  <a:pt x="2010209" y="785327"/>
                  <a:pt x="2164235" y="935953"/>
                </a:cubicBezTo>
                <a:cubicBezTo>
                  <a:pt x="2056053" y="1148368"/>
                  <a:pt x="1941672" y="1251600"/>
                  <a:pt x="1898292" y="1394570"/>
                </a:cubicBezTo>
                <a:cubicBezTo>
                  <a:pt x="1854912" y="1537540"/>
                  <a:pt x="1753339" y="1634534"/>
                  <a:pt x="1621495" y="1871906"/>
                </a:cubicBezTo>
                <a:cubicBezTo>
                  <a:pt x="1420686" y="1932014"/>
                  <a:pt x="1354070" y="1833878"/>
                  <a:pt x="1114480" y="1871906"/>
                </a:cubicBezTo>
                <a:cubicBezTo>
                  <a:pt x="874891" y="1909934"/>
                  <a:pt x="793139" y="1815941"/>
                  <a:pt x="542740" y="1871906"/>
                </a:cubicBezTo>
                <a:cubicBezTo>
                  <a:pt x="435187" y="1738407"/>
                  <a:pt x="390190" y="1580569"/>
                  <a:pt x="265943" y="1394570"/>
                </a:cubicBezTo>
                <a:cubicBezTo>
                  <a:pt x="141695" y="1208571"/>
                  <a:pt x="89667" y="1082206"/>
                  <a:pt x="0" y="935953"/>
                </a:cubicBezTo>
                <a:close/>
              </a:path>
              <a:path w="2164235" h="1871906" stroke="0" extrusionOk="0">
                <a:moveTo>
                  <a:pt x="0" y="935953"/>
                </a:moveTo>
                <a:cubicBezTo>
                  <a:pt x="80814" y="749983"/>
                  <a:pt x="192264" y="673110"/>
                  <a:pt x="255088" y="496055"/>
                </a:cubicBezTo>
                <a:cubicBezTo>
                  <a:pt x="317911" y="319000"/>
                  <a:pt x="495105" y="152258"/>
                  <a:pt x="542740" y="0"/>
                </a:cubicBezTo>
                <a:cubicBezTo>
                  <a:pt x="817344" y="-20152"/>
                  <a:pt x="852521" y="47466"/>
                  <a:pt x="1103693" y="0"/>
                </a:cubicBezTo>
                <a:cubicBezTo>
                  <a:pt x="1354865" y="-47466"/>
                  <a:pt x="1369884" y="12875"/>
                  <a:pt x="1621495" y="0"/>
                </a:cubicBezTo>
                <a:cubicBezTo>
                  <a:pt x="1767999" y="161134"/>
                  <a:pt x="1799650" y="357488"/>
                  <a:pt x="1903720" y="486696"/>
                </a:cubicBezTo>
                <a:cubicBezTo>
                  <a:pt x="2007790" y="615904"/>
                  <a:pt x="2069717" y="849638"/>
                  <a:pt x="2164235" y="935953"/>
                </a:cubicBezTo>
                <a:cubicBezTo>
                  <a:pt x="2080702" y="1088751"/>
                  <a:pt x="1990787" y="1143059"/>
                  <a:pt x="1898292" y="1394570"/>
                </a:cubicBezTo>
                <a:cubicBezTo>
                  <a:pt x="1805797" y="1646081"/>
                  <a:pt x="1711378" y="1628821"/>
                  <a:pt x="1621495" y="1871906"/>
                </a:cubicBezTo>
                <a:cubicBezTo>
                  <a:pt x="1461758" y="1907069"/>
                  <a:pt x="1286499" y="1842373"/>
                  <a:pt x="1092905" y="1871906"/>
                </a:cubicBezTo>
                <a:cubicBezTo>
                  <a:pt x="899311" y="1901439"/>
                  <a:pt x="750042" y="1823251"/>
                  <a:pt x="542740" y="1871906"/>
                </a:cubicBezTo>
                <a:cubicBezTo>
                  <a:pt x="427716" y="1792968"/>
                  <a:pt x="404252" y="1572536"/>
                  <a:pt x="276797" y="1413289"/>
                </a:cubicBezTo>
                <a:cubicBezTo>
                  <a:pt x="149343" y="1254042"/>
                  <a:pt x="123012" y="1066868"/>
                  <a:pt x="0" y="935953"/>
                </a:cubicBezTo>
                <a:close/>
              </a:path>
            </a:pathLst>
          </a:custGeom>
          <a:solidFill>
            <a:srgbClr val="B1D8BC">
              <a:alpha val="50000"/>
            </a:srgbClr>
          </a:solidFill>
          <a:ln w="12700">
            <a:solidFill>
              <a:schemeClr val="tx1"/>
            </a:solidFill>
            <a:extLst>
              <a:ext uri="{C807C97D-BFC1-408E-A445-0C87EB9F89A2}">
                <ask:lineSketchStyleProps xmlns:ask="http://schemas.microsoft.com/office/drawing/2018/sketchyshapes" sd="1825056982">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117" name="Sechseck 42">
            <a:extLst>
              <a:ext uri="{FF2B5EF4-FFF2-40B4-BE49-F238E27FC236}">
                <a16:creationId xmlns:a16="http://schemas.microsoft.com/office/drawing/2014/main" id="{1D53A51D-823C-6032-2FB4-D1FCEE461D98}"/>
              </a:ext>
            </a:extLst>
          </p:cNvPr>
          <p:cNvSpPr/>
          <p:nvPr/>
        </p:nvSpPr>
        <p:spPr>
          <a:xfrm>
            <a:off x="3371829" y="2599947"/>
            <a:ext cx="2968109" cy="2567197"/>
          </a:xfrm>
          <a:custGeom>
            <a:avLst/>
            <a:gdLst>
              <a:gd name="connsiteX0" fmla="*/ 0 w 2968109"/>
              <a:gd name="connsiteY0" fmla="*/ 1283599 h 2567197"/>
              <a:gd name="connsiteX1" fmla="*/ 248111 w 2968109"/>
              <a:gd name="connsiteY1" fmla="*/ 855733 h 2567197"/>
              <a:gd name="connsiteX2" fmla="*/ 511109 w 2968109"/>
              <a:gd name="connsiteY2" fmla="*/ 402195 h 2567197"/>
              <a:gd name="connsiteX3" fmla="*/ 744333 w 2968109"/>
              <a:gd name="connsiteY3" fmla="*/ 1 h 2567197"/>
              <a:gd name="connsiteX4" fmla="*/ 1207892 w 2968109"/>
              <a:gd name="connsiteY4" fmla="*/ 1 h 2567197"/>
              <a:gd name="connsiteX5" fmla="*/ 1701039 w 2968109"/>
              <a:gd name="connsiteY5" fmla="*/ 1 h 2567197"/>
              <a:gd name="connsiteX6" fmla="*/ 2223776 w 2968109"/>
              <a:gd name="connsiteY6" fmla="*/ 1 h 2567197"/>
              <a:gd name="connsiteX7" fmla="*/ 2479330 w 2968109"/>
              <a:gd name="connsiteY7" fmla="*/ 440703 h 2567197"/>
              <a:gd name="connsiteX8" fmla="*/ 2705111 w 2968109"/>
              <a:gd name="connsiteY8" fmla="*/ 830061 h 2567197"/>
              <a:gd name="connsiteX9" fmla="*/ 2968109 w 2968109"/>
              <a:gd name="connsiteY9" fmla="*/ 1283599 h 2567197"/>
              <a:gd name="connsiteX10" fmla="*/ 2734885 w 2968109"/>
              <a:gd name="connsiteY10" fmla="*/ 1685793 h 2567197"/>
              <a:gd name="connsiteX11" fmla="*/ 2509104 w 2968109"/>
              <a:gd name="connsiteY11" fmla="*/ 2075150 h 2567197"/>
              <a:gd name="connsiteX12" fmla="*/ 2223776 w 2968109"/>
              <a:gd name="connsiteY12" fmla="*/ 2567196 h 2567197"/>
              <a:gd name="connsiteX13" fmla="*/ 1745423 w 2968109"/>
              <a:gd name="connsiteY13" fmla="*/ 2567196 h 2567197"/>
              <a:gd name="connsiteX14" fmla="*/ 1267070 w 2968109"/>
              <a:gd name="connsiteY14" fmla="*/ 2567196 h 2567197"/>
              <a:gd name="connsiteX15" fmla="*/ 744333 w 2968109"/>
              <a:gd name="connsiteY15" fmla="*/ 2567196 h 2567197"/>
              <a:gd name="connsiteX16" fmla="*/ 496222 w 2968109"/>
              <a:gd name="connsiteY16" fmla="*/ 2139330 h 2567197"/>
              <a:gd name="connsiteX17" fmla="*/ 262998 w 2968109"/>
              <a:gd name="connsiteY17" fmla="*/ 1737137 h 2567197"/>
              <a:gd name="connsiteX18" fmla="*/ 0 w 2968109"/>
              <a:gd name="connsiteY18" fmla="*/ 1283599 h 256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8109" h="2567197" fill="none" extrusionOk="0">
                <a:moveTo>
                  <a:pt x="0" y="1283599"/>
                </a:moveTo>
                <a:cubicBezTo>
                  <a:pt x="32326" y="1160655"/>
                  <a:pt x="208299" y="989479"/>
                  <a:pt x="248111" y="855733"/>
                </a:cubicBezTo>
                <a:cubicBezTo>
                  <a:pt x="287923" y="721987"/>
                  <a:pt x="472172" y="514378"/>
                  <a:pt x="511109" y="402195"/>
                </a:cubicBezTo>
                <a:cubicBezTo>
                  <a:pt x="550046" y="290012"/>
                  <a:pt x="653876" y="192788"/>
                  <a:pt x="744333" y="1"/>
                </a:cubicBezTo>
                <a:cubicBezTo>
                  <a:pt x="973320" y="-4080"/>
                  <a:pt x="1084909" y="5644"/>
                  <a:pt x="1207892" y="1"/>
                </a:cubicBezTo>
                <a:cubicBezTo>
                  <a:pt x="1330875" y="-5642"/>
                  <a:pt x="1521224" y="1704"/>
                  <a:pt x="1701039" y="1"/>
                </a:cubicBezTo>
                <a:cubicBezTo>
                  <a:pt x="1880854" y="-1702"/>
                  <a:pt x="2074385" y="25459"/>
                  <a:pt x="2223776" y="1"/>
                </a:cubicBezTo>
                <a:cubicBezTo>
                  <a:pt x="2342608" y="148000"/>
                  <a:pt x="2350376" y="323920"/>
                  <a:pt x="2479330" y="440703"/>
                </a:cubicBezTo>
                <a:cubicBezTo>
                  <a:pt x="2608285" y="557485"/>
                  <a:pt x="2611495" y="675406"/>
                  <a:pt x="2705111" y="830061"/>
                </a:cubicBezTo>
                <a:cubicBezTo>
                  <a:pt x="2798727" y="984716"/>
                  <a:pt x="2812105" y="1105344"/>
                  <a:pt x="2968109" y="1283599"/>
                </a:cubicBezTo>
                <a:cubicBezTo>
                  <a:pt x="2892689" y="1449032"/>
                  <a:pt x="2766453" y="1545470"/>
                  <a:pt x="2734885" y="1685793"/>
                </a:cubicBezTo>
                <a:cubicBezTo>
                  <a:pt x="2703316" y="1826116"/>
                  <a:pt x="2586187" y="1882856"/>
                  <a:pt x="2509104" y="2075150"/>
                </a:cubicBezTo>
                <a:cubicBezTo>
                  <a:pt x="2432021" y="2267444"/>
                  <a:pt x="2299074" y="2407287"/>
                  <a:pt x="2223776" y="2567196"/>
                </a:cubicBezTo>
                <a:cubicBezTo>
                  <a:pt x="1992877" y="2580344"/>
                  <a:pt x="1983575" y="2518301"/>
                  <a:pt x="1745423" y="2567196"/>
                </a:cubicBezTo>
                <a:cubicBezTo>
                  <a:pt x="1507271" y="2616091"/>
                  <a:pt x="1374194" y="2536165"/>
                  <a:pt x="1267070" y="2567196"/>
                </a:cubicBezTo>
                <a:cubicBezTo>
                  <a:pt x="1159946" y="2598227"/>
                  <a:pt x="906055" y="2533123"/>
                  <a:pt x="744333" y="2567196"/>
                </a:cubicBezTo>
                <a:cubicBezTo>
                  <a:pt x="634887" y="2479286"/>
                  <a:pt x="638663" y="2273498"/>
                  <a:pt x="496222" y="2139330"/>
                </a:cubicBezTo>
                <a:cubicBezTo>
                  <a:pt x="353781" y="2005162"/>
                  <a:pt x="344920" y="1817315"/>
                  <a:pt x="262998" y="1737137"/>
                </a:cubicBezTo>
                <a:cubicBezTo>
                  <a:pt x="181076" y="1656959"/>
                  <a:pt x="92759" y="1411607"/>
                  <a:pt x="0" y="1283599"/>
                </a:cubicBezTo>
                <a:close/>
              </a:path>
              <a:path w="2968109" h="2567197" stroke="0" extrusionOk="0">
                <a:moveTo>
                  <a:pt x="0" y="1283599"/>
                </a:moveTo>
                <a:cubicBezTo>
                  <a:pt x="88816" y="1098142"/>
                  <a:pt x="161530" y="1022875"/>
                  <a:pt x="255554" y="842897"/>
                </a:cubicBezTo>
                <a:cubicBezTo>
                  <a:pt x="349579" y="662919"/>
                  <a:pt x="439806" y="578067"/>
                  <a:pt x="518552" y="389359"/>
                </a:cubicBezTo>
                <a:cubicBezTo>
                  <a:pt x="597297" y="200651"/>
                  <a:pt x="666671" y="196645"/>
                  <a:pt x="744333" y="1"/>
                </a:cubicBezTo>
                <a:cubicBezTo>
                  <a:pt x="941786" y="-293"/>
                  <a:pt x="1046101" y="39240"/>
                  <a:pt x="1193097" y="1"/>
                </a:cubicBezTo>
                <a:cubicBezTo>
                  <a:pt x="1340093" y="-39238"/>
                  <a:pt x="1417635" y="4690"/>
                  <a:pt x="1641862" y="1"/>
                </a:cubicBezTo>
                <a:cubicBezTo>
                  <a:pt x="1866089" y="-4688"/>
                  <a:pt x="1943669" y="34760"/>
                  <a:pt x="2223776" y="1"/>
                </a:cubicBezTo>
                <a:cubicBezTo>
                  <a:pt x="2319998" y="68538"/>
                  <a:pt x="2334635" y="253837"/>
                  <a:pt x="2464444" y="415031"/>
                </a:cubicBezTo>
                <a:cubicBezTo>
                  <a:pt x="2594253" y="576225"/>
                  <a:pt x="2562146" y="662863"/>
                  <a:pt x="2727441" y="868569"/>
                </a:cubicBezTo>
                <a:cubicBezTo>
                  <a:pt x="2892737" y="1074275"/>
                  <a:pt x="2827190" y="1122534"/>
                  <a:pt x="2968109" y="1283599"/>
                </a:cubicBezTo>
                <a:cubicBezTo>
                  <a:pt x="2922365" y="1389343"/>
                  <a:pt x="2764891" y="1557552"/>
                  <a:pt x="2719998" y="1711465"/>
                </a:cubicBezTo>
                <a:cubicBezTo>
                  <a:pt x="2675105" y="1865378"/>
                  <a:pt x="2565791" y="1957041"/>
                  <a:pt x="2486774" y="2113658"/>
                </a:cubicBezTo>
                <a:cubicBezTo>
                  <a:pt x="2407757" y="2270275"/>
                  <a:pt x="2337410" y="2354356"/>
                  <a:pt x="2223776" y="2567196"/>
                </a:cubicBezTo>
                <a:cubicBezTo>
                  <a:pt x="2048742" y="2607672"/>
                  <a:pt x="1897906" y="2558589"/>
                  <a:pt x="1730628" y="2567196"/>
                </a:cubicBezTo>
                <a:cubicBezTo>
                  <a:pt x="1563350" y="2575803"/>
                  <a:pt x="1483663" y="2562097"/>
                  <a:pt x="1267070" y="2567196"/>
                </a:cubicBezTo>
                <a:cubicBezTo>
                  <a:pt x="1050477" y="2572295"/>
                  <a:pt x="877397" y="2510766"/>
                  <a:pt x="744333" y="2567196"/>
                </a:cubicBezTo>
                <a:cubicBezTo>
                  <a:pt x="617322" y="2384590"/>
                  <a:pt x="643141" y="2271743"/>
                  <a:pt x="481335" y="2113658"/>
                </a:cubicBezTo>
                <a:cubicBezTo>
                  <a:pt x="319529" y="1955573"/>
                  <a:pt x="330011" y="1846157"/>
                  <a:pt x="225781" y="1672957"/>
                </a:cubicBezTo>
                <a:cubicBezTo>
                  <a:pt x="121552" y="1499757"/>
                  <a:pt x="87488" y="1371727"/>
                  <a:pt x="0" y="1283599"/>
                </a:cubicBezTo>
                <a:close/>
              </a:path>
            </a:pathLst>
          </a:custGeom>
          <a:solidFill>
            <a:srgbClr val="E59796">
              <a:alpha val="50000"/>
            </a:srgbClr>
          </a:solidFill>
          <a:ln w="12700">
            <a:solidFill>
              <a:schemeClr val="tx1"/>
            </a:solidFill>
            <a:extLst>
              <a:ext uri="{C807C97D-BFC1-408E-A445-0C87EB9F89A2}">
                <ask:lineSketchStyleProps xmlns:ask="http://schemas.microsoft.com/office/drawing/2018/sketchyshapes" sd="2098040422">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118" name="Sechseck 43">
            <a:extLst>
              <a:ext uri="{FF2B5EF4-FFF2-40B4-BE49-F238E27FC236}">
                <a16:creationId xmlns:a16="http://schemas.microsoft.com/office/drawing/2014/main" id="{C75C897A-354F-929B-4EFA-877AA6AF96AC}"/>
              </a:ext>
            </a:extLst>
          </p:cNvPr>
          <p:cNvSpPr/>
          <p:nvPr/>
        </p:nvSpPr>
        <p:spPr>
          <a:xfrm>
            <a:off x="5407754" y="2599947"/>
            <a:ext cx="2968109" cy="2567197"/>
          </a:xfrm>
          <a:custGeom>
            <a:avLst/>
            <a:gdLst>
              <a:gd name="connsiteX0" fmla="*/ 0 w 2968109"/>
              <a:gd name="connsiteY0" fmla="*/ 1283599 h 2567197"/>
              <a:gd name="connsiteX1" fmla="*/ 262998 w 2968109"/>
              <a:gd name="connsiteY1" fmla="*/ 830061 h 2567197"/>
              <a:gd name="connsiteX2" fmla="*/ 518552 w 2968109"/>
              <a:gd name="connsiteY2" fmla="*/ 389359 h 2567197"/>
              <a:gd name="connsiteX3" fmla="*/ 744333 w 2968109"/>
              <a:gd name="connsiteY3" fmla="*/ 1 h 2567197"/>
              <a:gd name="connsiteX4" fmla="*/ 1252275 w 2968109"/>
              <a:gd name="connsiteY4" fmla="*/ 1 h 2567197"/>
              <a:gd name="connsiteX5" fmla="*/ 1745423 w 2968109"/>
              <a:gd name="connsiteY5" fmla="*/ 1 h 2567197"/>
              <a:gd name="connsiteX6" fmla="*/ 2223776 w 2968109"/>
              <a:gd name="connsiteY6" fmla="*/ 1 h 2567197"/>
              <a:gd name="connsiteX7" fmla="*/ 2457000 w 2968109"/>
              <a:gd name="connsiteY7" fmla="*/ 402195 h 2567197"/>
              <a:gd name="connsiteX8" fmla="*/ 2712555 w 2968109"/>
              <a:gd name="connsiteY8" fmla="*/ 842897 h 2567197"/>
              <a:gd name="connsiteX9" fmla="*/ 2968109 w 2968109"/>
              <a:gd name="connsiteY9" fmla="*/ 1283599 h 2567197"/>
              <a:gd name="connsiteX10" fmla="*/ 2742328 w 2968109"/>
              <a:gd name="connsiteY10" fmla="*/ 1672957 h 2567197"/>
              <a:gd name="connsiteX11" fmla="*/ 2486774 w 2968109"/>
              <a:gd name="connsiteY11" fmla="*/ 2113658 h 2567197"/>
              <a:gd name="connsiteX12" fmla="*/ 2223776 w 2968109"/>
              <a:gd name="connsiteY12" fmla="*/ 2567196 h 2567197"/>
              <a:gd name="connsiteX13" fmla="*/ 1775012 w 2968109"/>
              <a:gd name="connsiteY13" fmla="*/ 2567196 h 2567197"/>
              <a:gd name="connsiteX14" fmla="*/ 1326247 w 2968109"/>
              <a:gd name="connsiteY14" fmla="*/ 2567196 h 2567197"/>
              <a:gd name="connsiteX15" fmla="*/ 744333 w 2968109"/>
              <a:gd name="connsiteY15" fmla="*/ 2567196 h 2567197"/>
              <a:gd name="connsiteX16" fmla="*/ 518552 w 2968109"/>
              <a:gd name="connsiteY16" fmla="*/ 2177838 h 2567197"/>
              <a:gd name="connsiteX17" fmla="*/ 270441 w 2968109"/>
              <a:gd name="connsiteY17" fmla="*/ 1749973 h 2567197"/>
              <a:gd name="connsiteX18" fmla="*/ 0 w 2968109"/>
              <a:gd name="connsiteY18" fmla="*/ 1283599 h 256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8109" h="2567197" fill="none" extrusionOk="0">
                <a:moveTo>
                  <a:pt x="0" y="1283599"/>
                </a:moveTo>
                <a:cubicBezTo>
                  <a:pt x="46361" y="1136380"/>
                  <a:pt x="199689" y="944185"/>
                  <a:pt x="262998" y="830061"/>
                </a:cubicBezTo>
                <a:cubicBezTo>
                  <a:pt x="326307" y="715937"/>
                  <a:pt x="503866" y="502099"/>
                  <a:pt x="518552" y="389359"/>
                </a:cubicBezTo>
                <a:cubicBezTo>
                  <a:pt x="533238" y="276619"/>
                  <a:pt x="682082" y="171778"/>
                  <a:pt x="744333" y="1"/>
                </a:cubicBezTo>
                <a:cubicBezTo>
                  <a:pt x="952758" y="-17350"/>
                  <a:pt x="1073638" y="48605"/>
                  <a:pt x="1252275" y="1"/>
                </a:cubicBezTo>
                <a:cubicBezTo>
                  <a:pt x="1430912" y="-48603"/>
                  <a:pt x="1499098" y="21554"/>
                  <a:pt x="1745423" y="1"/>
                </a:cubicBezTo>
                <a:cubicBezTo>
                  <a:pt x="1991748" y="-21552"/>
                  <a:pt x="1985131" y="4132"/>
                  <a:pt x="2223776" y="1"/>
                </a:cubicBezTo>
                <a:cubicBezTo>
                  <a:pt x="2362586" y="160818"/>
                  <a:pt x="2330825" y="247138"/>
                  <a:pt x="2457000" y="402195"/>
                </a:cubicBezTo>
                <a:cubicBezTo>
                  <a:pt x="2583175" y="557252"/>
                  <a:pt x="2601967" y="669091"/>
                  <a:pt x="2712555" y="842897"/>
                </a:cubicBezTo>
                <a:cubicBezTo>
                  <a:pt x="2823143" y="1016703"/>
                  <a:pt x="2808520" y="1089537"/>
                  <a:pt x="2968109" y="1283599"/>
                </a:cubicBezTo>
                <a:cubicBezTo>
                  <a:pt x="2960310" y="1397512"/>
                  <a:pt x="2813268" y="1493898"/>
                  <a:pt x="2742328" y="1672957"/>
                </a:cubicBezTo>
                <a:cubicBezTo>
                  <a:pt x="2671388" y="1852016"/>
                  <a:pt x="2553483" y="1965536"/>
                  <a:pt x="2486774" y="2113658"/>
                </a:cubicBezTo>
                <a:cubicBezTo>
                  <a:pt x="2420065" y="2261780"/>
                  <a:pt x="2283384" y="2361782"/>
                  <a:pt x="2223776" y="2567196"/>
                </a:cubicBezTo>
                <a:cubicBezTo>
                  <a:pt x="2081579" y="2596733"/>
                  <a:pt x="1908940" y="2541271"/>
                  <a:pt x="1775012" y="2567196"/>
                </a:cubicBezTo>
                <a:cubicBezTo>
                  <a:pt x="1641084" y="2593121"/>
                  <a:pt x="1483606" y="2538683"/>
                  <a:pt x="1326247" y="2567196"/>
                </a:cubicBezTo>
                <a:cubicBezTo>
                  <a:pt x="1168888" y="2595709"/>
                  <a:pt x="1032401" y="2547040"/>
                  <a:pt x="744333" y="2567196"/>
                </a:cubicBezTo>
                <a:cubicBezTo>
                  <a:pt x="669735" y="2458454"/>
                  <a:pt x="645425" y="2338806"/>
                  <a:pt x="518552" y="2177838"/>
                </a:cubicBezTo>
                <a:cubicBezTo>
                  <a:pt x="391679" y="2016870"/>
                  <a:pt x="419290" y="1938000"/>
                  <a:pt x="270441" y="1749973"/>
                </a:cubicBezTo>
                <a:cubicBezTo>
                  <a:pt x="121592" y="1561946"/>
                  <a:pt x="112685" y="1381648"/>
                  <a:pt x="0" y="1283599"/>
                </a:cubicBezTo>
                <a:close/>
              </a:path>
              <a:path w="2968109" h="2567197" stroke="0" extrusionOk="0">
                <a:moveTo>
                  <a:pt x="0" y="1283599"/>
                </a:moveTo>
                <a:cubicBezTo>
                  <a:pt x="52836" y="1092734"/>
                  <a:pt x="183473" y="1020313"/>
                  <a:pt x="255554" y="842897"/>
                </a:cubicBezTo>
                <a:cubicBezTo>
                  <a:pt x="327635" y="665481"/>
                  <a:pt x="450327" y="585578"/>
                  <a:pt x="503665" y="415031"/>
                </a:cubicBezTo>
                <a:cubicBezTo>
                  <a:pt x="557003" y="244484"/>
                  <a:pt x="686601" y="155462"/>
                  <a:pt x="744333" y="1"/>
                </a:cubicBezTo>
                <a:cubicBezTo>
                  <a:pt x="901300" y="-38001"/>
                  <a:pt x="995060" y="41714"/>
                  <a:pt x="1193097" y="1"/>
                </a:cubicBezTo>
                <a:cubicBezTo>
                  <a:pt x="1391134" y="-41712"/>
                  <a:pt x="1430027" y="30241"/>
                  <a:pt x="1641862" y="1"/>
                </a:cubicBezTo>
                <a:cubicBezTo>
                  <a:pt x="1853698" y="-30239"/>
                  <a:pt x="2016088" y="60901"/>
                  <a:pt x="2223776" y="1"/>
                </a:cubicBezTo>
                <a:cubicBezTo>
                  <a:pt x="2374897" y="138431"/>
                  <a:pt x="2368382" y="344915"/>
                  <a:pt x="2486774" y="453539"/>
                </a:cubicBezTo>
                <a:cubicBezTo>
                  <a:pt x="2605166" y="562163"/>
                  <a:pt x="2565216" y="705419"/>
                  <a:pt x="2734885" y="881405"/>
                </a:cubicBezTo>
                <a:cubicBezTo>
                  <a:pt x="2904554" y="1057391"/>
                  <a:pt x="2899566" y="1214418"/>
                  <a:pt x="2968109" y="1283599"/>
                </a:cubicBezTo>
                <a:cubicBezTo>
                  <a:pt x="2909675" y="1427862"/>
                  <a:pt x="2833157" y="1482369"/>
                  <a:pt x="2742328" y="1672957"/>
                </a:cubicBezTo>
                <a:cubicBezTo>
                  <a:pt x="2651499" y="1863544"/>
                  <a:pt x="2527199" y="1944168"/>
                  <a:pt x="2501660" y="2087986"/>
                </a:cubicBezTo>
                <a:cubicBezTo>
                  <a:pt x="2476122" y="2231804"/>
                  <a:pt x="2295208" y="2360264"/>
                  <a:pt x="2223776" y="2567196"/>
                </a:cubicBezTo>
                <a:cubicBezTo>
                  <a:pt x="1998641" y="2569531"/>
                  <a:pt x="1949233" y="2539244"/>
                  <a:pt x="1715834" y="2567196"/>
                </a:cubicBezTo>
                <a:cubicBezTo>
                  <a:pt x="1482435" y="2595148"/>
                  <a:pt x="1409349" y="2513237"/>
                  <a:pt x="1207892" y="2567196"/>
                </a:cubicBezTo>
                <a:cubicBezTo>
                  <a:pt x="1006435" y="2621155"/>
                  <a:pt x="932825" y="2528056"/>
                  <a:pt x="744333" y="2567196"/>
                </a:cubicBezTo>
                <a:cubicBezTo>
                  <a:pt x="602615" y="2421854"/>
                  <a:pt x="614606" y="2252283"/>
                  <a:pt x="511109" y="2165002"/>
                </a:cubicBezTo>
                <a:cubicBezTo>
                  <a:pt x="407612" y="2077722"/>
                  <a:pt x="390976" y="1955255"/>
                  <a:pt x="285328" y="1775645"/>
                </a:cubicBezTo>
                <a:cubicBezTo>
                  <a:pt x="179680" y="1596035"/>
                  <a:pt x="135233" y="1425579"/>
                  <a:pt x="0" y="1283599"/>
                </a:cubicBezTo>
                <a:close/>
              </a:path>
            </a:pathLst>
          </a:custGeom>
          <a:solidFill>
            <a:srgbClr val="98B4D8">
              <a:alpha val="50000"/>
            </a:srgbClr>
          </a:solidFill>
          <a:ln w="12700">
            <a:solidFill>
              <a:schemeClr val="tx1"/>
            </a:solidFill>
            <a:extLst>
              <a:ext uri="{C807C97D-BFC1-408E-A445-0C87EB9F89A2}">
                <ask:lineSketchStyleProps xmlns:ask="http://schemas.microsoft.com/office/drawing/2018/sketchyshapes" sd="212518470">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119" name="Sechseck 44">
            <a:extLst>
              <a:ext uri="{FF2B5EF4-FFF2-40B4-BE49-F238E27FC236}">
                <a16:creationId xmlns:a16="http://schemas.microsoft.com/office/drawing/2014/main" id="{1889461D-22D3-ED53-6C78-623FDC2FC318}"/>
              </a:ext>
            </a:extLst>
          </p:cNvPr>
          <p:cNvSpPr/>
          <p:nvPr/>
        </p:nvSpPr>
        <p:spPr>
          <a:xfrm>
            <a:off x="3371829" y="4165440"/>
            <a:ext cx="2968109" cy="2567197"/>
          </a:xfrm>
          <a:custGeom>
            <a:avLst/>
            <a:gdLst>
              <a:gd name="connsiteX0" fmla="*/ 0 w 2968109"/>
              <a:gd name="connsiteY0" fmla="*/ 1283599 h 2567197"/>
              <a:gd name="connsiteX1" fmla="*/ 255554 w 2968109"/>
              <a:gd name="connsiteY1" fmla="*/ 842897 h 2567197"/>
              <a:gd name="connsiteX2" fmla="*/ 496222 w 2968109"/>
              <a:gd name="connsiteY2" fmla="*/ 427867 h 2567197"/>
              <a:gd name="connsiteX3" fmla="*/ 744333 w 2968109"/>
              <a:gd name="connsiteY3" fmla="*/ 1 h 2567197"/>
              <a:gd name="connsiteX4" fmla="*/ 1252275 w 2968109"/>
              <a:gd name="connsiteY4" fmla="*/ 1 h 2567197"/>
              <a:gd name="connsiteX5" fmla="*/ 1715834 w 2968109"/>
              <a:gd name="connsiteY5" fmla="*/ 1 h 2567197"/>
              <a:gd name="connsiteX6" fmla="*/ 2223776 w 2968109"/>
              <a:gd name="connsiteY6" fmla="*/ 1 h 2567197"/>
              <a:gd name="connsiteX7" fmla="*/ 2449557 w 2968109"/>
              <a:gd name="connsiteY7" fmla="*/ 389359 h 2567197"/>
              <a:gd name="connsiteX8" fmla="*/ 2705111 w 2968109"/>
              <a:gd name="connsiteY8" fmla="*/ 830061 h 2567197"/>
              <a:gd name="connsiteX9" fmla="*/ 2968109 w 2968109"/>
              <a:gd name="connsiteY9" fmla="*/ 1283599 h 2567197"/>
              <a:gd name="connsiteX10" fmla="*/ 2742328 w 2968109"/>
              <a:gd name="connsiteY10" fmla="*/ 1672957 h 2567197"/>
              <a:gd name="connsiteX11" fmla="*/ 2486774 w 2968109"/>
              <a:gd name="connsiteY11" fmla="*/ 2113658 h 2567197"/>
              <a:gd name="connsiteX12" fmla="*/ 2223776 w 2968109"/>
              <a:gd name="connsiteY12" fmla="*/ 2567196 h 2567197"/>
              <a:gd name="connsiteX13" fmla="*/ 1760217 w 2968109"/>
              <a:gd name="connsiteY13" fmla="*/ 2567196 h 2567197"/>
              <a:gd name="connsiteX14" fmla="*/ 1267070 w 2968109"/>
              <a:gd name="connsiteY14" fmla="*/ 2567196 h 2567197"/>
              <a:gd name="connsiteX15" fmla="*/ 744333 w 2968109"/>
              <a:gd name="connsiteY15" fmla="*/ 2567196 h 2567197"/>
              <a:gd name="connsiteX16" fmla="*/ 481335 w 2968109"/>
              <a:gd name="connsiteY16" fmla="*/ 2113658 h 2567197"/>
              <a:gd name="connsiteX17" fmla="*/ 218338 w 2968109"/>
              <a:gd name="connsiteY17" fmla="*/ 1660121 h 2567197"/>
              <a:gd name="connsiteX18" fmla="*/ 0 w 2968109"/>
              <a:gd name="connsiteY18" fmla="*/ 1283599 h 256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8109" h="2567197" fill="none" extrusionOk="0">
                <a:moveTo>
                  <a:pt x="0" y="1283599"/>
                </a:moveTo>
                <a:cubicBezTo>
                  <a:pt x="28051" y="1124885"/>
                  <a:pt x="235394" y="963335"/>
                  <a:pt x="255554" y="842897"/>
                </a:cubicBezTo>
                <a:cubicBezTo>
                  <a:pt x="275714" y="722459"/>
                  <a:pt x="421334" y="592230"/>
                  <a:pt x="496222" y="427867"/>
                </a:cubicBezTo>
                <a:cubicBezTo>
                  <a:pt x="571110" y="263504"/>
                  <a:pt x="717445" y="144656"/>
                  <a:pt x="744333" y="1"/>
                </a:cubicBezTo>
                <a:cubicBezTo>
                  <a:pt x="984758" y="-49501"/>
                  <a:pt x="1089337" y="60242"/>
                  <a:pt x="1252275" y="1"/>
                </a:cubicBezTo>
                <a:cubicBezTo>
                  <a:pt x="1415213" y="-60240"/>
                  <a:pt x="1588393" y="42852"/>
                  <a:pt x="1715834" y="1"/>
                </a:cubicBezTo>
                <a:cubicBezTo>
                  <a:pt x="1843275" y="-42850"/>
                  <a:pt x="2005859" y="11280"/>
                  <a:pt x="2223776" y="1"/>
                </a:cubicBezTo>
                <a:cubicBezTo>
                  <a:pt x="2290584" y="92810"/>
                  <a:pt x="2332193" y="207774"/>
                  <a:pt x="2449557" y="389359"/>
                </a:cubicBezTo>
                <a:cubicBezTo>
                  <a:pt x="2566921" y="570944"/>
                  <a:pt x="2577621" y="627252"/>
                  <a:pt x="2705111" y="830061"/>
                </a:cubicBezTo>
                <a:cubicBezTo>
                  <a:pt x="2832601" y="1032870"/>
                  <a:pt x="2810231" y="1111701"/>
                  <a:pt x="2968109" y="1283599"/>
                </a:cubicBezTo>
                <a:cubicBezTo>
                  <a:pt x="2925487" y="1456019"/>
                  <a:pt x="2778085" y="1588942"/>
                  <a:pt x="2742328" y="1672957"/>
                </a:cubicBezTo>
                <a:cubicBezTo>
                  <a:pt x="2706571" y="1756972"/>
                  <a:pt x="2505584" y="1967661"/>
                  <a:pt x="2486774" y="2113658"/>
                </a:cubicBezTo>
                <a:cubicBezTo>
                  <a:pt x="2467964" y="2259655"/>
                  <a:pt x="2268826" y="2387241"/>
                  <a:pt x="2223776" y="2567196"/>
                </a:cubicBezTo>
                <a:cubicBezTo>
                  <a:pt x="2071897" y="2586823"/>
                  <a:pt x="1915435" y="2516656"/>
                  <a:pt x="1760217" y="2567196"/>
                </a:cubicBezTo>
                <a:cubicBezTo>
                  <a:pt x="1604999" y="2617736"/>
                  <a:pt x="1384862" y="2514043"/>
                  <a:pt x="1267070" y="2567196"/>
                </a:cubicBezTo>
                <a:cubicBezTo>
                  <a:pt x="1149278" y="2620349"/>
                  <a:pt x="900880" y="2558876"/>
                  <a:pt x="744333" y="2567196"/>
                </a:cubicBezTo>
                <a:cubicBezTo>
                  <a:pt x="600027" y="2423059"/>
                  <a:pt x="585898" y="2264887"/>
                  <a:pt x="481335" y="2113658"/>
                </a:cubicBezTo>
                <a:cubicBezTo>
                  <a:pt x="376772" y="1962429"/>
                  <a:pt x="345790" y="1822055"/>
                  <a:pt x="218338" y="1660121"/>
                </a:cubicBezTo>
                <a:cubicBezTo>
                  <a:pt x="90886" y="1498187"/>
                  <a:pt x="64556" y="1386136"/>
                  <a:pt x="0" y="1283599"/>
                </a:cubicBezTo>
                <a:close/>
              </a:path>
              <a:path w="2968109" h="2567197" stroke="0" extrusionOk="0">
                <a:moveTo>
                  <a:pt x="0" y="1283599"/>
                </a:moveTo>
                <a:cubicBezTo>
                  <a:pt x="84538" y="1053835"/>
                  <a:pt x="217461" y="1006996"/>
                  <a:pt x="255554" y="842897"/>
                </a:cubicBezTo>
                <a:cubicBezTo>
                  <a:pt x="293647" y="678798"/>
                  <a:pt x="438162" y="591240"/>
                  <a:pt x="496222" y="427867"/>
                </a:cubicBezTo>
                <a:cubicBezTo>
                  <a:pt x="554282" y="264494"/>
                  <a:pt x="656707" y="213268"/>
                  <a:pt x="744333" y="1"/>
                </a:cubicBezTo>
                <a:cubicBezTo>
                  <a:pt x="895705" y="-46064"/>
                  <a:pt x="978354" y="5229"/>
                  <a:pt x="1193097" y="1"/>
                </a:cubicBezTo>
                <a:cubicBezTo>
                  <a:pt x="1407840" y="-5227"/>
                  <a:pt x="1580004" y="8994"/>
                  <a:pt x="1701039" y="1"/>
                </a:cubicBezTo>
                <a:cubicBezTo>
                  <a:pt x="1822074" y="-8992"/>
                  <a:pt x="2036336" y="8468"/>
                  <a:pt x="2223776" y="1"/>
                </a:cubicBezTo>
                <a:cubicBezTo>
                  <a:pt x="2315395" y="73363"/>
                  <a:pt x="2336575" y="298951"/>
                  <a:pt x="2449557" y="389359"/>
                </a:cubicBezTo>
                <a:cubicBezTo>
                  <a:pt x="2562538" y="479767"/>
                  <a:pt x="2629517" y="713816"/>
                  <a:pt x="2705111" y="830061"/>
                </a:cubicBezTo>
                <a:cubicBezTo>
                  <a:pt x="2780705" y="946306"/>
                  <a:pt x="2844593" y="1171719"/>
                  <a:pt x="2968109" y="1283599"/>
                </a:cubicBezTo>
                <a:cubicBezTo>
                  <a:pt x="2911063" y="1469771"/>
                  <a:pt x="2830426" y="1491104"/>
                  <a:pt x="2719998" y="1711465"/>
                </a:cubicBezTo>
                <a:cubicBezTo>
                  <a:pt x="2609570" y="1931826"/>
                  <a:pt x="2564194" y="1947548"/>
                  <a:pt x="2479330" y="2126494"/>
                </a:cubicBezTo>
                <a:cubicBezTo>
                  <a:pt x="2394466" y="2305440"/>
                  <a:pt x="2295136" y="2416237"/>
                  <a:pt x="2223776" y="2567196"/>
                </a:cubicBezTo>
                <a:cubicBezTo>
                  <a:pt x="2103043" y="2591238"/>
                  <a:pt x="1871991" y="2561753"/>
                  <a:pt x="1760217" y="2567196"/>
                </a:cubicBezTo>
                <a:cubicBezTo>
                  <a:pt x="1648443" y="2572639"/>
                  <a:pt x="1423296" y="2527921"/>
                  <a:pt x="1296658" y="2567196"/>
                </a:cubicBezTo>
                <a:cubicBezTo>
                  <a:pt x="1170020" y="2606471"/>
                  <a:pt x="910636" y="2552389"/>
                  <a:pt x="744333" y="2567196"/>
                </a:cubicBezTo>
                <a:cubicBezTo>
                  <a:pt x="632328" y="2459873"/>
                  <a:pt x="628732" y="2272491"/>
                  <a:pt x="511109" y="2165002"/>
                </a:cubicBezTo>
                <a:cubicBezTo>
                  <a:pt x="393486" y="2057513"/>
                  <a:pt x="394718" y="1882102"/>
                  <a:pt x="285328" y="1775645"/>
                </a:cubicBezTo>
                <a:cubicBezTo>
                  <a:pt x="175938" y="1669188"/>
                  <a:pt x="102110" y="1409745"/>
                  <a:pt x="0" y="1283599"/>
                </a:cubicBezTo>
                <a:close/>
              </a:path>
            </a:pathLst>
          </a:custGeom>
          <a:solidFill>
            <a:srgbClr val="F08927">
              <a:alpha val="50000"/>
            </a:srgbClr>
          </a:solidFill>
          <a:ln w="12700">
            <a:solidFill>
              <a:schemeClr val="tx1"/>
            </a:solidFill>
            <a:extLst>
              <a:ext uri="{C807C97D-BFC1-408E-A445-0C87EB9F89A2}">
                <ask:lineSketchStyleProps xmlns:ask="http://schemas.microsoft.com/office/drawing/2018/sketchyshapes" sd="1182091124">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120" name="Sechseck 45">
            <a:extLst>
              <a:ext uri="{FF2B5EF4-FFF2-40B4-BE49-F238E27FC236}">
                <a16:creationId xmlns:a16="http://schemas.microsoft.com/office/drawing/2014/main" id="{5D7CF6C7-E9A9-4D21-FAC2-352B2F3F9BA3}"/>
              </a:ext>
            </a:extLst>
          </p:cNvPr>
          <p:cNvSpPr/>
          <p:nvPr/>
        </p:nvSpPr>
        <p:spPr>
          <a:xfrm>
            <a:off x="5407754" y="4165440"/>
            <a:ext cx="2968109" cy="2567197"/>
          </a:xfrm>
          <a:custGeom>
            <a:avLst/>
            <a:gdLst>
              <a:gd name="connsiteX0" fmla="*/ 0 w 2968109"/>
              <a:gd name="connsiteY0" fmla="*/ 1283599 h 2567197"/>
              <a:gd name="connsiteX1" fmla="*/ 240668 w 2968109"/>
              <a:gd name="connsiteY1" fmla="*/ 868569 h 2567197"/>
              <a:gd name="connsiteX2" fmla="*/ 481335 w 2968109"/>
              <a:gd name="connsiteY2" fmla="*/ 453539 h 2567197"/>
              <a:gd name="connsiteX3" fmla="*/ 744333 w 2968109"/>
              <a:gd name="connsiteY3" fmla="*/ 1 h 2567197"/>
              <a:gd name="connsiteX4" fmla="*/ 1193097 w 2968109"/>
              <a:gd name="connsiteY4" fmla="*/ 1 h 2567197"/>
              <a:gd name="connsiteX5" fmla="*/ 1686245 w 2968109"/>
              <a:gd name="connsiteY5" fmla="*/ 1 h 2567197"/>
              <a:gd name="connsiteX6" fmla="*/ 2223776 w 2968109"/>
              <a:gd name="connsiteY6" fmla="*/ 1 h 2567197"/>
              <a:gd name="connsiteX7" fmla="*/ 2486774 w 2968109"/>
              <a:gd name="connsiteY7" fmla="*/ 453539 h 2567197"/>
              <a:gd name="connsiteX8" fmla="*/ 2734885 w 2968109"/>
              <a:gd name="connsiteY8" fmla="*/ 881405 h 2567197"/>
              <a:gd name="connsiteX9" fmla="*/ 2968109 w 2968109"/>
              <a:gd name="connsiteY9" fmla="*/ 1283599 h 2567197"/>
              <a:gd name="connsiteX10" fmla="*/ 2727441 w 2968109"/>
              <a:gd name="connsiteY10" fmla="*/ 1698629 h 2567197"/>
              <a:gd name="connsiteX11" fmla="*/ 2471887 w 2968109"/>
              <a:gd name="connsiteY11" fmla="*/ 2139330 h 2567197"/>
              <a:gd name="connsiteX12" fmla="*/ 2223776 w 2968109"/>
              <a:gd name="connsiteY12" fmla="*/ 2567196 h 2567197"/>
              <a:gd name="connsiteX13" fmla="*/ 1775012 w 2968109"/>
              <a:gd name="connsiteY13" fmla="*/ 2567196 h 2567197"/>
              <a:gd name="connsiteX14" fmla="*/ 1252275 w 2968109"/>
              <a:gd name="connsiteY14" fmla="*/ 2567196 h 2567197"/>
              <a:gd name="connsiteX15" fmla="*/ 744333 w 2968109"/>
              <a:gd name="connsiteY15" fmla="*/ 2567196 h 2567197"/>
              <a:gd name="connsiteX16" fmla="*/ 511109 w 2968109"/>
              <a:gd name="connsiteY16" fmla="*/ 2165002 h 2567197"/>
              <a:gd name="connsiteX17" fmla="*/ 255554 w 2968109"/>
              <a:gd name="connsiteY17" fmla="*/ 1724301 h 2567197"/>
              <a:gd name="connsiteX18" fmla="*/ 0 w 2968109"/>
              <a:gd name="connsiteY18" fmla="*/ 1283599 h 256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8109" h="2567197" fill="none" extrusionOk="0">
                <a:moveTo>
                  <a:pt x="0" y="1283599"/>
                </a:moveTo>
                <a:cubicBezTo>
                  <a:pt x="38457" y="1143055"/>
                  <a:pt x="226425" y="984994"/>
                  <a:pt x="240668" y="868569"/>
                </a:cubicBezTo>
                <a:cubicBezTo>
                  <a:pt x="254911" y="752144"/>
                  <a:pt x="388640" y="639983"/>
                  <a:pt x="481335" y="453539"/>
                </a:cubicBezTo>
                <a:cubicBezTo>
                  <a:pt x="574030" y="267095"/>
                  <a:pt x="705108" y="186020"/>
                  <a:pt x="744333" y="1"/>
                </a:cubicBezTo>
                <a:cubicBezTo>
                  <a:pt x="949077" y="-18987"/>
                  <a:pt x="1097980" y="27811"/>
                  <a:pt x="1193097" y="1"/>
                </a:cubicBezTo>
                <a:cubicBezTo>
                  <a:pt x="1288214" y="-27809"/>
                  <a:pt x="1553780" y="4470"/>
                  <a:pt x="1686245" y="1"/>
                </a:cubicBezTo>
                <a:cubicBezTo>
                  <a:pt x="1818710" y="-4468"/>
                  <a:pt x="1990802" y="15725"/>
                  <a:pt x="2223776" y="1"/>
                </a:cubicBezTo>
                <a:cubicBezTo>
                  <a:pt x="2348433" y="195481"/>
                  <a:pt x="2356032" y="234204"/>
                  <a:pt x="2486774" y="453539"/>
                </a:cubicBezTo>
                <a:cubicBezTo>
                  <a:pt x="2617516" y="672874"/>
                  <a:pt x="2621331" y="712394"/>
                  <a:pt x="2734885" y="881405"/>
                </a:cubicBezTo>
                <a:cubicBezTo>
                  <a:pt x="2848439" y="1050416"/>
                  <a:pt x="2883348" y="1223535"/>
                  <a:pt x="2968109" y="1283599"/>
                </a:cubicBezTo>
                <a:cubicBezTo>
                  <a:pt x="2864487" y="1490457"/>
                  <a:pt x="2820282" y="1520987"/>
                  <a:pt x="2727441" y="1698629"/>
                </a:cubicBezTo>
                <a:cubicBezTo>
                  <a:pt x="2634600" y="1876271"/>
                  <a:pt x="2488836" y="1994936"/>
                  <a:pt x="2471887" y="2139330"/>
                </a:cubicBezTo>
                <a:cubicBezTo>
                  <a:pt x="2454938" y="2283724"/>
                  <a:pt x="2302140" y="2363086"/>
                  <a:pt x="2223776" y="2567196"/>
                </a:cubicBezTo>
                <a:cubicBezTo>
                  <a:pt x="2132227" y="2594422"/>
                  <a:pt x="1946399" y="2549268"/>
                  <a:pt x="1775012" y="2567196"/>
                </a:cubicBezTo>
                <a:cubicBezTo>
                  <a:pt x="1603625" y="2585124"/>
                  <a:pt x="1507701" y="2537437"/>
                  <a:pt x="1252275" y="2567196"/>
                </a:cubicBezTo>
                <a:cubicBezTo>
                  <a:pt x="996849" y="2596955"/>
                  <a:pt x="913953" y="2546333"/>
                  <a:pt x="744333" y="2567196"/>
                </a:cubicBezTo>
                <a:cubicBezTo>
                  <a:pt x="584759" y="2399845"/>
                  <a:pt x="659047" y="2316200"/>
                  <a:pt x="511109" y="2165002"/>
                </a:cubicBezTo>
                <a:cubicBezTo>
                  <a:pt x="363170" y="2013805"/>
                  <a:pt x="370722" y="1862835"/>
                  <a:pt x="255554" y="1724301"/>
                </a:cubicBezTo>
                <a:cubicBezTo>
                  <a:pt x="140386" y="1585766"/>
                  <a:pt x="121949" y="1471037"/>
                  <a:pt x="0" y="1283599"/>
                </a:cubicBezTo>
                <a:close/>
              </a:path>
              <a:path w="2968109" h="2567197" stroke="0" extrusionOk="0">
                <a:moveTo>
                  <a:pt x="0" y="1283599"/>
                </a:moveTo>
                <a:cubicBezTo>
                  <a:pt x="81198" y="1122462"/>
                  <a:pt x="174643" y="992615"/>
                  <a:pt x="233224" y="881405"/>
                </a:cubicBezTo>
                <a:cubicBezTo>
                  <a:pt x="291805" y="770195"/>
                  <a:pt x="448442" y="617882"/>
                  <a:pt x="496222" y="427867"/>
                </a:cubicBezTo>
                <a:cubicBezTo>
                  <a:pt x="544002" y="237852"/>
                  <a:pt x="681799" y="115540"/>
                  <a:pt x="744333" y="1"/>
                </a:cubicBezTo>
                <a:cubicBezTo>
                  <a:pt x="923843" y="-56522"/>
                  <a:pt x="1046232" y="39226"/>
                  <a:pt x="1252275" y="1"/>
                </a:cubicBezTo>
                <a:cubicBezTo>
                  <a:pt x="1458318" y="-39224"/>
                  <a:pt x="1524092" y="30719"/>
                  <a:pt x="1760217" y="1"/>
                </a:cubicBezTo>
                <a:cubicBezTo>
                  <a:pt x="1996342" y="-30717"/>
                  <a:pt x="2075178" y="42604"/>
                  <a:pt x="2223776" y="1"/>
                </a:cubicBezTo>
                <a:cubicBezTo>
                  <a:pt x="2332359" y="174157"/>
                  <a:pt x="2354579" y="304581"/>
                  <a:pt x="2464444" y="415031"/>
                </a:cubicBezTo>
                <a:cubicBezTo>
                  <a:pt x="2574309" y="525481"/>
                  <a:pt x="2627598" y="787465"/>
                  <a:pt x="2719998" y="855733"/>
                </a:cubicBezTo>
                <a:cubicBezTo>
                  <a:pt x="2812398" y="924001"/>
                  <a:pt x="2839853" y="1086528"/>
                  <a:pt x="2968109" y="1283599"/>
                </a:cubicBezTo>
                <a:cubicBezTo>
                  <a:pt x="2877980" y="1458361"/>
                  <a:pt x="2736419" y="1577920"/>
                  <a:pt x="2734885" y="1685793"/>
                </a:cubicBezTo>
                <a:cubicBezTo>
                  <a:pt x="2733351" y="1793666"/>
                  <a:pt x="2525087" y="1950060"/>
                  <a:pt x="2501660" y="2087986"/>
                </a:cubicBezTo>
                <a:cubicBezTo>
                  <a:pt x="2478234" y="2225912"/>
                  <a:pt x="2265007" y="2425919"/>
                  <a:pt x="2223776" y="2567196"/>
                </a:cubicBezTo>
                <a:cubicBezTo>
                  <a:pt x="2016802" y="2589680"/>
                  <a:pt x="1858793" y="2561269"/>
                  <a:pt x="1701039" y="2567196"/>
                </a:cubicBezTo>
                <a:cubicBezTo>
                  <a:pt x="1543285" y="2573123"/>
                  <a:pt x="1393646" y="2516154"/>
                  <a:pt x="1193097" y="2567196"/>
                </a:cubicBezTo>
                <a:cubicBezTo>
                  <a:pt x="992548" y="2618238"/>
                  <a:pt x="870674" y="2554807"/>
                  <a:pt x="744333" y="2567196"/>
                </a:cubicBezTo>
                <a:cubicBezTo>
                  <a:pt x="594937" y="2388096"/>
                  <a:pt x="577817" y="2251116"/>
                  <a:pt x="511109" y="2165002"/>
                </a:cubicBezTo>
                <a:cubicBezTo>
                  <a:pt x="444401" y="2078888"/>
                  <a:pt x="375369" y="1812136"/>
                  <a:pt x="248111" y="1711465"/>
                </a:cubicBezTo>
                <a:cubicBezTo>
                  <a:pt x="120854" y="1610794"/>
                  <a:pt x="129228" y="1474974"/>
                  <a:pt x="0" y="1283599"/>
                </a:cubicBezTo>
                <a:close/>
              </a:path>
            </a:pathLst>
          </a:custGeom>
          <a:solidFill>
            <a:srgbClr val="A9DDF4">
              <a:alpha val="50000"/>
            </a:srgbClr>
          </a:solidFill>
          <a:ln w="12700">
            <a:solidFill>
              <a:schemeClr val="tx1"/>
            </a:solidFill>
            <a:extLst>
              <a:ext uri="{C807C97D-BFC1-408E-A445-0C87EB9F89A2}">
                <ask:lineSketchStyleProps xmlns:ask="http://schemas.microsoft.com/office/drawing/2018/sketchyshapes" sd="552241890">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121" name="object 4">
            <a:extLst>
              <a:ext uri="{FF2B5EF4-FFF2-40B4-BE49-F238E27FC236}">
                <a16:creationId xmlns:a16="http://schemas.microsoft.com/office/drawing/2014/main" id="{FFB8CBA0-306F-9160-EF2F-26044C7CFB20}"/>
              </a:ext>
            </a:extLst>
          </p:cNvPr>
          <p:cNvSpPr txBox="1"/>
          <p:nvPr/>
        </p:nvSpPr>
        <p:spPr>
          <a:xfrm>
            <a:off x="3479272" y="2128839"/>
            <a:ext cx="1502552" cy="305540"/>
          </a:xfrm>
          <a:prstGeom prst="rect">
            <a:avLst/>
          </a:prstGeom>
          <a:noFill/>
        </p:spPr>
        <p:txBody>
          <a:bodyPr vert="horz" wrap="square" lIns="0" tIns="26106" rIns="0" bIns="0" rtlCol="0">
            <a:spAutoFit/>
          </a:bodyPr>
          <a:lstStyle/>
          <a:p>
            <a:pPr marL="5674">
              <a:spcBef>
                <a:spcPts val="205"/>
              </a:spcBef>
            </a:pPr>
            <a:r>
              <a:rPr lang="en-GB" sz="1814" b="1" spc="-11" dirty="0" err="1">
                <a:solidFill>
                  <a:srgbClr val="996633"/>
                </a:solidFill>
                <a:latin typeface="Arial Narrow" panose="020B0606020202030204" pitchFamily="34" charset="0"/>
                <a:cs typeface="Roboto Condensed"/>
              </a:rPr>
              <a:t>Kommunizieren</a:t>
            </a:r>
            <a:endParaRPr lang="en-GB" sz="1814" b="1" spc="-11" dirty="0">
              <a:solidFill>
                <a:srgbClr val="996633"/>
              </a:solidFill>
              <a:latin typeface="Arial Narrow" panose="020B0606020202030204" pitchFamily="34" charset="0"/>
              <a:cs typeface="Roboto Condensed"/>
            </a:endParaRPr>
          </a:p>
        </p:txBody>
      </p:sp>
      <p:sp>
        <p:nvSpPr>
          <p:cNvPr id="122" name="object 15">
            <a:extLst>
              <a:ext uri="{FF2B5EF4-FFF2-40B4-BE49-F238E27FC236}">
                <a16:creationId xmlns:a16="http://schemas.microsoft.com/office/drawing/2014/main" id="{85124DC0-C9C1-C933-D0AD-14C25608CA09}"/>
              </a:ext>
            </a:extLst>
          </p:cNvPr>
          <p:cNvSpPr txBox="1"/>
          <p:nvPr/>
        </p:nvSpPr>
        <p:spPr>
          <a:xfrm>
            <a:off x="3789075" y="3325943"/>
            <a:ext cx="1349404" cy="305540"/>
          </a:xfrm>
          <a:prstGeom prst="rect">
            <a:avLst/>
          </a:prstGeom>
          <a:noFill/>
        </p:spPr>
        <p:txBody>
          <a:bodyPr vert="horz" wrap="square" lIns="0" tIns="26106" rIns="0" bIns="0" rtlCol="0">
            <a:spAutoFit/>
          </a:bodyPr>
          <a:lstStyle/>
          <a:p>
            <a:pPr marL="5674">
              <a:spcBef>
                <a:spcPts val="205"/>
              </a:spcBef>
            </a:pPr>
            <a:r>
              <a:rPr lang="en-GB" sz="1814" b="1" spc="-9" err="1">
                <a:solidFill>
                  <a:srgbClr val="CC0000"/>
                </a:solidFill>
                <a:latin typeface="Arial Narrow" panose="020B0606020202030204" pitchFamily="34" charset="0"/>
                <a:cs typeface="Roboto Condensed"/>
              </a:rPr>
              <a:t>Wahrnehmen</a:t>
            </a:r>
            <a:endParaRPr lang="en-GB" sz="1814" b="1" spc="-9">
              <a:solidFill>
                <a:srgbClr val="CC0000"/>
              </a:solidFill>
              <a:latin typeface="Arial Narrow" panose="020B0606020202030204" pitchFamily="34" charset="0"/>
              <a:cs typeface="Roboto Condensed"/>
            </a:endParaRPr>
          </a:p>
        </p:txBody>
      </p:sp>
      <p:sp>
        <p:nvSpPr>
          <p:cNvPr id="123" name="object 16">
            <a:extLst>
              <a:ext uri="{FF2B5EF4-FFF2-40B4-BE49-F238E27FC236}">
                <a16:creationId xmlns:a16="http://schemas.microsoft.com/office/drawing/2014/main" id="{A3FDFA83-9012-8A3A-E611-D516607563D5}"/>
              </a:ext>
            </a:extLst>
          </p:cNvPr>
          <p:cNvSpPr txBox="1"/>
          <p:nvPr/>
        </p:nvSpPr>
        <p:spPr>
          <a:xfrm>
            <a:off x="6609213" y="3133358"/>
            <a:ext cx="1429947" cy="584719"/>
          </a:xfrm>
          <a:prstGeom prst="rect">
            <a:avLst/>
          </a:prstGeom>
          <a:noFill/>
        </p:spPr>
        <p:txBody>
          <a:bodyPr vert="horz" wrap="square" lIns="0" tIns="26106" rIns="0" bIns="0" rtlCol="0">
            <a:spAutoFit/>
          </a:bodyPr>
          <a:lstStyle/>
          <a:p>
            <a:pPr marL="5674">
              <a:spcBef>
                <a:spcPts val="205"/>
              </a:spcBef>
            </a:pPr>
            <a:r>
              <a:rPr lang="en-GB" sz="1814" b="1" spc="-9" dirty="0">
                <a:solidFill>
                  <a:srgbClr val="003399"/>
                </a:solidFill>
                <a:latin typeface="Arial Narrow" panose="020B0606020202030204" pitchFamily="34" charset="0"/>
                <a:cs typeface="Roboto Condensed"/>
              </a:rPr>
              <a:t>Denken/</a:t>
            </a:r>
            <a:br>
              <a:rPr lang="en-GB" sz="1814" b="1" spc="-9" dirty="0">
                <a:solidFill>
                  <a:srgbClr val="003399"/>
                </a:solidFill>
                <a:latin typeface="Arial Narrow" panose="020B0606020202030204" pitchFamily="34" charset="0"/>
                <a:cs typeface="Roboto Condensed"/>
              </a:rPr>
            </a:br>
            <a:r>
              <a:rPr lang="en-GB" sz="1814" b="1" spc="-9" dirty="0" err="1">
                <a:solidFill>
                  <a:srgbClr val="003399"/>
                </a:solidFill>
                <a:latin typeface="Arial Narrow" panose="020B0606020202030204" pitchFamily="34" charset="0"/>
                <a:cs typeface="Roboto Condensed"/>
              </a:rPr>
              <a:t>Schlussfolgern</a:t>
            </a:r>
            <a:endParaRPr lang="en-GB" sz="1814" b="1" spc="-9" dirty="0">
              <a:solidFill>
                <a:srgbClr val="003399"/>
              </a:solidFill>
              <a:latin typeface="Arial Narrow" panose="020B0606020202030204" pitchFamily="34" charset="0"/>
              <a:cs typeface="Roboto Condensed"/>
            </a:endParaRPr>
          </a:p>
        </p:txBody>
      </p:sp>
      <p:sp>
        <p:nvSpPr>
          <p:cNvPr id="124" name="object 18">
            <a:extLst>
              <a:ext uri="{FF2B5EF4-FFF2-40B4-BE49-F238E27FC236}">
                <a16:creationId xmlns:a16="http://schemas.microsoft.com/office/drawing/2014/main" id="{AE785013-BE0A-5A89-0E12-2B19FCB90ACB}"/>
              </a:ext>
            </a:extLst>
          </p:cNvPr>
          <p:cNvSpPr txBox="1"/>
          <p:nvPr/>
        </p:nvSpPr>
        <p:spPr>
          <a:xfrm>
            <a:off x="4285968" y="5814370"/>
            <a:ext cx="852512" cy="305540"/>
          </a:xfrm>
          <a:prstGeom prst="rect">
            <a:avLst/>
          </a:prstGeom>
          <a:noFill/>
        </p:spPr>
        <p:txBody>
          <a:bodyPr vert="horz" wrap="square" lIns="0" tIns="26106" rIns="0" bIns="0" rtlCol="0">
            <a:spAutoFit/>
          </a:bodyPr>
          <a:lstStyle/>
          <a:p>
            <a:pPr marL="5674">
              <a:spcBef>
                <a:spcPts val="205"/>
              </a:spcBef>
            </a:pPr>
            <a:r>
              <a:rPr lang="en-GB" sz="1814" b="1" spc="-11" err="1">
                <a:solidFill>
                  <a:srgbClr val="CC0000"/>
                </a:solidFill>
                <a:latin typeface="Arial Narrow" panose="020B0606020202030204" pitchFamily="34" charset="0"/>
                <a:cs typeface="Roboto Condensed"/>
              </a:rPr>
              <a:t>Lernen</a:t>
            </a:r>
            <a:endParaRPr lang="en-GB" sz="1814" b="1" spc="-11">
              <a:solidFill>
                <a:srgbClr val="CC0000"/>
              </a:solidFill>
              <a:latin typeface="Arial Narrow" panose="020B0606020202030204" pitchFamily="34" charset="0"/>
              <a:cs typeface="Roboto Condensed"/>
            </a:endParaRPr>
          </a:p>
        </p:txBody>
      </p:sp>
      <p:sp>
        <p:nvSpPr>
          <p:cNvPr id="125" name="object 19">
            <a:extLst>
              <a:ext uri="{FF2B5EF4-FFF2-40B4-BE49-F238E27FC236}">
                <a16:creationId xmlns:a16="http://schemas.microsoft.com/office/drawing/2014/main" id="{9D6008D2-2BBB-8CD0-0200-92DAFCAF38CE}"/>
              </a:ext>
            </a:extLst>
          </p:cNvPr>
          <p:cNvSpPr txBox="1"/>
          <p:nvPr/>
        </p:nvSpPr>
        <p:spPr>
          <a:xfrm>
            <a:off x="6599745" y="5824828"/>
            <a:ext cx="937306" cy="284624"/>
          </a:xfrm>
          <a:prstGeom prst="rect">
            <a:avLst/>
          </a:prstGeom>
          <a:noFill/>
        </p:spPr>
        <p:txBody>
          <a:bodyPr vert="horz" wrap="square" lIns="0" tIns="5392" rIns="0" bIns="0" rtlCol="0">
            <a:spAutoFit/>
          </a:bodyPr>
          <a:lstStyle/>
          <a:p>
            <a:pPr marL="5674">
              <a:spcBef>
                <a:spcPts val="43"/>
              </a:spcBef>
            </a:pPr>
            <a:r>
              <a:rPr lang="en-GB" sz="1814" b="1" spc="-9">
                <a:solidFill>
                  <a:srgbClr val="003399"/>
                </a:solidFill>
                <a:latin typeface="Arial Narrow" panose="020B0606020202030204" pitchFamily="34" charset="0"/>
                <a:cs typeface="Roboto Condensed"/>
              </a:rPr>
              <a:t>Wissen</a:t>
            </a:r>
          </a:p>
        </p:txBody>
      </p:sp>
      <p:sp>
        <p:nvSpPr>
          <p:cNvPr id="126" name="object 17">
            <a:extLst>
              <a:ext uri="{FF2B5EF4-FFF2-40B4-BE49-F238E27FC236}">
                <a16:creationId xmlns:a16="http://schemas.microsoft.com/office/drawing/2014/main" id="{3B26C98E-E62C-7956-353F-C1AD43BA6536}"/>
              </a:ext>
            </a:extLst>
          </p:cNvPr>
          <p:cNvSpPr txBox="1"/>
          <p:nvPr/>
        </p:nvSpPr>
        <p:spPr>
          <a:xfrm>
            <a:off x="5351531" y="1729389"/>
            <a:ext cx="988407" cy="305540"/>
          </a:xfrm>
          <a:prstGeom prst="rect">
            <a:avLst/>
          </a:prstGeom>
          <a:noFill/>
        </p:spPr>
        <p:txBody>
          <a:bodyPr vert="horz" wrap="square" lIns="0" tIns="26106" rIns="0" bIns="0" rtlCol="0">
            <a:spAutoFit/>
          </a:bodyPr>
          <a:lstStyle/>
          <a:p>
            <a:pPr marL="5674" algn="ctr">
              <a:spcBef>
                <a:spcPts val="205"/>
              </a:spcBef>
            </a:pPr>
            <a:r>
              <a:rPr lang="en-GB" sz="1814" b="1" spc="-9" err="1">
                <a:solidFill>
                  <a:srgbClr val="006600"/>
                </a:solidFill>
                <a:latin typeface="Arial Narrow" panose="020B0606020202030204" pitchFamily="34" charset="0"/>
                <a:cs typeface="Roboto Condensed"/>
              </a:rPr>
              <a:t>Handeln</a:t>
            </a:r>
            <a:r>
              <a:rPr lang="en-GB" sz="1814" b="1" spc="-9">
                <a:solidFill>
                  <a:srgbClr val="006600"/>
                </a:solidFill>
                <a:latin typeface="Arial Narrow" panose="020B0606020202030204" pitchFamily="34" charset="0"/>
                <a:cs typeface="Roboto Condensed"/>
              </a:rPr>
              <a:t> </a:t>
            </a:r>
            <a:endParaRPr lang="en-GB" sz="1814">
              <a:solidFill>
                <a:srgbClr val="006600"/>
              </a:solidFill>
              <a:latin typeface="Arial Narrow" panose="020B0606020202030204" pitchFamily="34" charset="0"/>
              <a:cs typeface="Roboto Condensed"/>
            </a:endParaRPr>
          </a:p>
        </p:txBody>
      </p:sp>
      <p:sp>
        <p:nvSpPr>
          <p:cNvPr id="127" name="TextBox 126">
            <a:extLst>
              <a:ext uri="{FF2B5EF4-FFF2-40B4-BE49-F238E27FC236}">
                <a16:creationId xmlns:a16="http://schemas.microsoft.com/office/drawing/2014/main" id="{39A5E429-3D63-F219-7777-CB37C826D47D}"/>
              </a:ext>
            </a:extLst>
          </p:cNvPr>
          <p:cNvSpPr txBox="1"/>
          <p:nvPr/>
        </p:nvSpPr>
        <p:spPr>
          <a:xfrm>
            <a:off x="337139" y="3410873"/>
            <a:ext cx="2017714" cy="626701"/>
          </a:xfrm>
          <a:prstGeom prst="accentBorderCallout2">
            <a:avLst>
              <a:gd name="adj1" fmla="val 18750"/>
              <a:gd name="adj2" fmla="val 104108"/>
              <a:gd name="adj3" fmla="val 20669"/>
              <a:gd name="adj4" fmla="val 137230"/>
              <a:gd name="adj5" fmla="val 54923"/>
              <a:gd name="adj6" fmla="val 156636"/>
            </a:avLst>
          </a:prstGeom>
          <a:solidFill>
            <a:srgbClr val="003399"/>
          </a:solidFill>
          <a:ln>
            <a:solidFill>
              <a:srgbClr val="003399"/>
            </a:solidFill>
          </a:ln>
        </p:spPr>
        <p:txBody>
          <a:bodyPr wrap="none" lIns="72000" tIns="36000" rIns="72000" bIns="36000" rtlCol="0">
            <a:spAutoFit/>
          </a:bodyPr>
          <a:lstStyle/>
          <a:p>
            <a:pPr algn="r"/>
            <a:r>
              <a:rPr lang="en-US" b="1" dirty="0">
                <a:solidFill>
                  <a:srgbClr val="FFFFFF"/>
                </a:solidFill>
              </a:rPr>
              <a:t>Computer Vision</a:t>
            </a:r>
          </a:p>
          <a:p>
            <a:pPr algn="r"/>
            <a:r>
              <a:rPr lang="en-US" b="1" dirty="0" err="1">
                <a:solidFill>
                  <a:srgbClr val="FFFFFF"/>
                </a:solidFill>
              </a:rPr>
              <a:t>Sprachverstehen</a:t>
            </a:r>
            <a:endParaRPr lang="en-CH" b="1" dirty="0">
              <a:solidFill>
                <a:srgbClr val="FFFFFF"/>
              </a:solidFill>
            </a:endParaRPr>
          </a:p>
        </p:txBody>
      </p:sp>
      <p:sp>
        <p:nvSpPr>
          <p:cNvPr id="128" name="TextBox 127">
            <a:extLst>
              <a:ext uri="{FF2B5EF4-FFF2-40B4-BE49-F238E27FC236}">
                <a16:creationId xmlns:a16="http://schemas.microsoft.com/office/drawing/2014/main" id="{ABBBADC1-8171-27D0-6DE4-0261F73CC2EC}"/>
              </a:ext>
            </a:extLst>
          </p:cNvPr>
          <p:cNvSpPr txBox="1"/>
          <p:nvPr/>
        </p:nvSpPr>
        <p:spPr>
          <a:xfrm>
            <a:off x="9230924" y="3410873"/>
            <a:ext cx="1671465" cy="626701"/>
          </a:xfrm>
          <a:prstGeom prst="accentBorderCallout2">
            <a:avLst>
              <a:gd name="adj1" fmla="val 18750"/>
              <a:gd name="adj2" fmla="val -3456"/>
              <a:gd name="adj3" fmla="val 18750"/>
              <a:gd name="adj4" fmla="val -38962"/>
              <a:gd name="adj5" fmla="val 62600"/>
              <a:gd name="adj6" fmla="val -62692"/>
            </a:avLst>
          </a:prstGeom>
          <a:solidFill>
            <a:srgbClr val="003399"/>
          </a:solidFill>
          <a:ln>
            <a:solidFill>
              <a:srgbClr val="003399"/>
            </a:solidFill>
          </a:ln>
        </p:spPr>
        <p:txBody>
          <a:bodyPr wrap="none" lIns="72000" tIns="36000" rIns="72000" bIns="36000" rtlCol="0">
            <a:spAutoFit/>
          </a:bodyPr>
          <a:lstStyle/>
          <a:p>
            <a:r>
              <a:rPr lang="en-US" b="1" dirty="0" err="1">
                <a:solidFill>
                  <a:srgbClr val="FFFFFF"/>
                </a:solidFill>
              </a:rPr>
              <a:t>Problemlösen</a:t>
            </a:r>
            <a:endParaRPr lang="en-US" b="1" dirty="0">
              <a:solidFill>
                <a:srgbClr val="FFFFFF"/>
              </a:solidFill>
            </a:endParaRPr>
          </a:p>
          <a:p>
            <a:r>
              <a:rPr lang="en-US" b="1" dirty="0" err="1">
                <a:solidFill>
                  <a:srgbClr val="FFFFFF"/>
                </a:solidFill>
              </a:rPr>
              <a:t>Planen</a:t>
            </a:r>
            <a:endParaRPr lang="en-CH" b="1" dirty="0">
              <a:solidFill>
                <a:srgbClr val="FFFFFF"/>
              </a:solidFill>
            </a:endParaRPr>
          </a:p>
        </p:txBody>
      </p:sp>
      <p:sp>
        <p:nvSpPr>
          <p:cNvPr id="129" name="TextBox 128">
            <a:extLst>
              <a:ext uri="{FF2B5EF4-FFF2-40B4-BE49-F238E27FC236}">
                <a16:creationId xmlns:a16="http://schemas.microsoft.com/office/drawing/2014/main" id="{7518575B-784C-6018-6D6F-9865052CABCA}"/>
              </a:ext>
            </a:extLst>
          </p:cNvPr>
          <p:cNvSpPr txBox="1"/>
          <p:nvPr/>
        </p:nvSpPr>
        <p:spPr>
          <a:xfrm>
            <a:off x="9225801" y="4859991"/>
            <a:ext cx="2746631" cy="626701"/>
          </a:xfrm>
          <a:prstGeom prst="accentBorderCallout2">
            <a:avLst>
              <a:gd name="adj1" fmla="val 18750"/>
              <a:gd name="adj2" fmla="val -2610"/>
              <a:gd name="adj3" fmla="val 18750"/>
              <a:gd name="adj4" fmla="val -21163"/>
              <a:gd name="adj5" fmla="val 62599"/>
              <a:gd name="adj6" fmla="val -36041"/>
            </a:avLst>
          </a:prstGeom>
          <a:solidFill>
            <a:srgbClr val="003399"/>
          </a:solidFill>
          <a:ln>
            <a:solidFill>
              <a:srgbClr val="003399"/>
            </a:solidFill>
          </a:ln>
        </p:spPr>
        <p:txBody>
          <a:bodyPr wrap="none" lIns="72000" tIns="36000" rIns="72000" bIns="36000" rtlCol="0">
            <a:spAutoFit/>
          </a:bodyPr>
          <a:lstStyle/>
          <a:p>
            <a:r>
              <a:rPr lang="en-US" b="1" dirty="0" err="1">
                <a:solidFill>
                  <a:srgbClr val="FFFFFF"/>
                </a:solidFill>
              </a:rPr>
              <a:t>Wissensrepräsentation</a:t>
            </a:r>
            <a:r>
              <a:rPr lang="en-US" b="1" dirty="0">
                <a:solidFill>
                  <a:srgbClr val="FFFFFF"/>
                </a:solidFill>
              </a:rPr>
              <a:t> </a:t>
            </a:r>
            <a:br>
              <a:rPr lang="en-US" b="1" dirty="0">
                <a:solidFill>
                  <a:srgbClr val="FFFFFF"/>
                </a:solidFill>
              </a:rPr>
            </a:br>
            <a:r>
              <a:rPr lang="en-US" b="1" dirty="0">
                <a:solidFill>
                  <a:srgbClr val="FFFFFF"/>
                </a:solidFill>
              </a:rPr>
              <a:t>und -</a:t>
            </a:r>
            <a:r>
              <a:rPr lang="en-US" b="1" dirty="0" err="1">
                <a:solidFill>
                  <a:srgbClr val="FFFFFF"/>
                </a:solidFill>
              </a:rPr>
              <a:t>verarbeitung</a:t>
            </a:r>
            <a:endParaRPr lang="en-CH" b="1" dirty="0">
              <a:solidFill>
                <a:srgbClr val="FFFFFF"/>
              </a:solidFill>
            </a:endParaRPr>
          </a:p>
        </p:txBody>
      </p:sp>
      <p:sp>
        <p:nvSpPr>
          <p:cNvPr id="130" name="TextBox 129">
            <a:extLst>
              <a:ext uri="{FF2B5EF4-FFF2-40B4-BE49-F238E27FC236}">
                <a16:creationId xmlns:a16="http://schemas.microsoft.com/office/drawing/2014/main" id="{8DCF6300-148B-7793-1620-595E04FC058A}"/>
              </a:ext>
            </a:extLst>
          </p:cNvPr>
          <p:cNvSpPr txBox="1"/>
          <p:nvPr/>
        </p:nvSpPr>
        <p:spPr>
          <a:xfrm>
            <a:off x="765306" y="4859991"/>
            <a:ext cx="1581697" cy="626701"/>
          </a:xfrm>
          <a:prstGeom prst="accentBorderCallout2">
            <a:avLst>
              <a:gd name="adj1" fmla="val 14912"/>
              <a:gd name="adj2" fmla="val 105670"/>
              <a:gd name="adj3" fmla="val 14912"/>
              <a:gd name="adj4" fmla="val 144713"/>
              <a:gd name="adj5" fmla="val 70277"/>
              <a:gd name="adj6" fmla="val 178377"/>
            </a:avLst>
          </a:prstGeom>
          <a:solidFill>
            <a:srgbClr val="003399"/>
          </a:solidFill>
          <a:ln>
            <a:solidFill>
              <a:srgbClr val="003399"/>
            </a:solidFill>
          </a:ln>
        </p:spPr>
        <p:txBody>
          <a:bodyPr wrap="none" lIns="72000" tIns="36000" rIns="72000" bIns="36000" rtlCol="0">
            <a:spAutoFit/>
          </a:bodyPr>
          <a:lstStyle/>
          <a:p>
            <a:pPr algn="r"/>
            <a:r>
              <a:rPr lang="en-US" b="1" dirty="0" err="1">
                <a:solidFill>
                  <a:srgbClr val="FFFFFF"/>
                </a:solidFill>
              </a:rPr>
              <a:t>Maschinelles</a:t>
            </a:r>
            <a:br>
              <a:rPr lang="en-US" b="1" dirty="0">
                <a:solidFill>
                  <a:srgbClr val="FFFFFF"/>
                </a:solidFill>
              </a:rPr>
            </a:br>
            <a:r>
              <a:rPr lang="en-US" b="1" dirty="0" err="1">
                <a:solidFill>
                  <a:srgbClr val="FFFFFF"/>
                </a:solidFill>
              </a:rPr>
              <a:t>Lernen</a:t>
            </a:r>
            <a:endParaRPr lang="en-CH" b="1" dirty="0">
              <a:solidFill>
                <a:srgbClr val="FFFFFF"/>
              </a:solidFill>
            </a:endParaRPr>
          </a:p>
        </p:txBody>
      </p:sp>
      <p:sp>
        <p:nvSpPr>
          <p:cNvPr id="131" name="TextBox 130">
            <a:extLst>
              <a:ext uri="{FF2B5EF4-FFF2-40B4-BE49-F238E27FC236}">
                <a16:creationId xmlns:a16="http://schemas.microsoft.com/office/drawing/2014/main" id="{E8A406F0-02BE-6B3C-E9C9-8731A3DC4A6C}"/>
              </a:ext>
            </a:extLst>
          </p:cNvPr>
          <p:cNvSpPr txBox="1"/>
          <p:nvPr/>
        </p:nvSpPr>
        <p:spPr>
          <a:xfrm>
            <a:off x="9091303" y="1970188"/>
            <a:ext cx="2261370" cy="626701"/>
          </a:xfrm>
          <a:prstGeom prst="accentBorderCallout2">
            <a:avLst>
              <a:gd name="adj1" fmla="val 28346"/>
              <a:gd name="adj2" fmla="val -4313"/>
              <a:gd name="adj3" fmla="val 32184"/>
              <a:gd name="adj4" fmla="val -23201"/>
              <a:gd name="adj5" fmla="val 66438"/>
              <a:gd name="adj6" fmla="val -36115"/>
            </a:avLst>
          </a:prstGeom>
          <a:solidFill>
            <a:srgbClr val="003399"/>
          </a:solidFill>
          <a:ln>
            <a:solidFill>
              <a:srgbClr val="003399"/>
            </a:solidFill>
          </a:ln>
        </p:spPr>
        <p:txBody>
          <a:bodyPr wrap="none" lIns="72000" tIns="36000" rIns="72000" bIns="36000" rtlCol="0">
            <a:spAutoFit/>
          </a:bodyPr>
          <a:lstStyle/>
          <a:p>
            <a:pPr algn="r"/>
            <a:r>
              <a:rPr lang="en-US" b="1" dirty="0" err="1">
                <a:solidFill>
                  <a:srgbClr val="FFFFFF"/>
                </a:solidFill>
              </a:rPr>
              <a:t>Sprachgenerierung</a:t>
            </a:r>
            <a:endParaRPr lang="en-US" b="1" dirty="0">
              <a:solidFill>
                <a:srgbClr val="FFFFFF"/>
              </a:solidFill>
            </a:endParaRPr>
          </a:p>
          <a:p>
            <a:pPr algn="r"/>
            <a:r>
              <a:rPr lang="en-US" b="1" dirty="0" err="1">
                <a:solidFill>
                  <a:srgbClr val="FFFFFF"/>
                </a:solidFill>
              </a:rPr>
              <a:t>Sprachverstehen</a:t>
            </a:r>
            <a:endParaRPr lang="en-US" b="1" dirty="0">
              <a:solidFill>
                <a:srgbClr val="FFFFFF"/>
              </a:solidFill>
            </a:endParaRPr>
          </a:p>
        </p:txBody>
      </p:sp>
      <p:sp>
        <p:nvSpPr>
          <p:cNvPr id="132" name="TextBox 131">
            <a:extLst>
              <a:ext uri="{FF2B5EF4-FFF2-40B4-BE49-F238E27FC236}">
                <a16:creationId xmlns:a16="http://schemas.microsoft.com/office/drawing/2014/main" id="{571F92B7-FB3F-E8F1-D9D4-DF97333CF74D}"/>
              </a:ext>
            </a:extLst>
          </p:cNvPr>
          <p:cNvSpPr txBox="1"/>
          <p:nvPr/>
        </p:nvSpPr>
        <p:spPr>
          <a:xfrm>
            <a:off x="9225801" y="1177637"/>
            <a:ext cx="1004616" cy="349702"/>
          </a:xfrm>
          <a:prstGeom prst="accentBorderCallout2">
            <a:avLst>
              <a:gd name="adj1" fmla="val 18750"/>
              <a:gd name="adj2" fmla="val -8333"/>
              <a:gd name="adj3" fmla="val 26427"/>
              <a:gd name="adj4" fmla="val -77304"/>
              <a:gd name="adj5" fmla="val 269879"/>
              <a:gd name="adj6" fmla="val -306539"/>
            </a:avLst>
          </a:prstGeom>
          <a:solidFill>
            <a:srgbClr val="003399"/>
          </a:solidFill>
          <a:ln>
            <a:solidFill>
              <a:srgbClr val="003399"/>
            </a:solidFill>
          </a:ln>
        </p:spPr>
        <p:txBody>
          <a:bodyPr wrap="none" lIns="72000" tIns="36000" rIns="72000" bIns="36000" rtlCol="0">
            <a:spAutoFit/>
          </a:bodyPr>
          <a:lstStyle/>
          <a:p>
            <a:r>
              <a:rPr lang="en-US" b="1" dirty="0" err="1">
                <a:solidFill>
                  <a:srgbClr val="FFFFFF"/>
                </a:solidFill>
              </a:rPr>
              <a:t>Robotik</a:t>
            </a:r>
            <a:endParaRPr lang="en-CH" b="1" dirty="0">
              <a:solidFill>
                <a:srgbClr val="FFFFFF"/>
              </a:solidFill>
            </a:endParaRPr>
          </a:p>
        </p:txBody>
      </p:sp>
      <p:sp>
        <p:nvSpPr>
          <p:cNvPr id="134" name="TextBox 133">
            <a:extLst>
              <a:ext uri="{FF2B5EF4-FFF2-40B4-BE49-F238E27FC236}">
                <a16:creationId xmlns:a16="http://schemas.microsoft.com/office/drawing/2014/main" id="{6E42E904-B591-6E57-EB6E-83C269A319A0}"/>
              </a:ext>
            </a:extLst>
          </p:cNvPr>
          <p:cNvSpPr txBox="1"/>
          <p:nvPr/>
        </p:nvSpPr>
        <p:spPr>
          <a:xfrm>
            <a:off x="314737" y="808381"/>
            <a:ext cx="7832345" cy="590931"/>
          </a:xfrm>
          <a:prstGeom prst="rect">
            <a:avLst/>
          </a:prstGeom>
          <a:noFill/>
        </p:spPr>
        <p:txBody>
          <a:bodyPr wrap="square">
            <a:spAutoFit/>
          </a:bodyPr>
          <a:lstStyle/>
          <a:p>
            <a:pPr marL="0" marR="0" lvl="0" indent="0" defTabSz="742950" rtl="0" eaLnBrk="1" fontAlgn="auto" latinLnBrk="0" hangingPunct="1">
              <a:lnSpc>
                <a:spcPct val="90000"/>
              </a:lnSpc>
              <a:spcBef>
                <a:spcPct val="0"/>
              </a:spcBef>
              <a:spcAft>
                <a:spcPts val="0"/>
              </a:spcAft>
              <a:buClrTx/>
              <a:buSzTx/>
              <a:buFontTx/>
              <a:buNone/>
              <a:tabLst/>
              <a:defRPr/>
            </a:pPr>
            <a:r>
              <a:rPr kumimoji="0" lang="de-CH" sz="1800" b="1" i="0" u="none" strike="noStrike" kern="1200" cap="none" spc="0" normalizeH="0" baseline="0" noProof="0" dirty="0">
                <a:ln>
                  <a:noFill/>
                </a:ln>
                <a:solidFill>
                  <a:prstClr val="black"/>
                </a:solidFill>
                <a:effectLst/>
                <a:uLnTx/>
                <a:uFillTx/>
                <a:latin typeface="Arial" panose="020B0604020202020204"/>
                <a:ea typeface="+mj-ea"/>
                <a:cs typeface="+mj-cs"/>
              </a:rPr>
              <a:t>«</a:t>
            </a:r>
            <a:r>
              <a:rPr kumimoji="0" lang="de-DE" sz="1800" b="1" i="0" u="none" strike="noStrike" kern="1200" cap="none" spc="0" normalizeH="0" baseline="0" noProof="0" dirty="0">
                <a:ln>
                  <a:noFill/>
                </a:ln>
                <a:solidFill>
                  <a:prstClr val="black"/>
                </a:solidFill>
                <a:effectLst/>
                <a:uLnTx/>
                <a:uFillTx/>
                <a:latin typeface="Arial" panose="020B0604020202020204"/>
                <a:ea typeface="+mj-ea"/>
                <a:cs typeface="+mj-cs"/>
              </a:rPr>
              <a:t>KI ist die Nachbildung oder Imitation von kognitiven Fähigkeiten des Menschen oder der Natur</a:t>
            </a:r>
            <a:r>
              <a:rPr kumimoji="0" lang="de-CH" sz="1800" b="1" i="0" u="none" strike="noStrike" kern="1200" cap="none" spc="0" normalizeH="0" baseline="0" noProof="0" dirty="0">
                <a:ln>
                  <a:noFill/>
                </a:ln>
                <a:solidFill>
                  <a:prstClr val="black"/>
                </a:solidFill>
                <a:effectLst/>
                <a:uLnTx/>
                <a:uFillTx/>
                <a:latin typeface="Arial" panose="020B0604020202020204"/>
                <a:ea typeface="+mj-ea"/>
                <a:cs typeface="+mj-cs"/>
              </a:rPr>
              <a:t>»</a:t>
            </a:r>
          </a:p>
        </p:txBody>
      </p:sp>
    </p:spTree>
    <p:extLst>
      <p:ext uri="{BB962C8B-B14F-4D97-AF65-F5344CB8AC3E}">
        <p14:creationId xmlns:p14="http://schemas.microsoft.com/office/powerpoint/2010/main" val="268130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500"/>
                                        <p:tgtEl>
                                          <p:spTgt spid="1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500"/>
                                        <p:tgtEl>
                                          <p:spTgt spid="1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
                                        <p:tgtEl>
                                          <p:spTgt spid="12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fade">
                                      <p:cBhvr>
                                        <p:cTn id="18" dur="500"/>
                                        <p:tgtEl>
                                          <p:spTgt spid="1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4"/>
                                        </p:tgtEl>
                                        <p:attrNameLst>
                                          <p:attrName>style.visibility</p:attrName>
                                        </p:attrNameLst>
                                      </p:cBhvr>
                                      <p:to>
                                        <p:strVal val="visible"/>
                                      </p:to>
                                    </p:set>
                                    <p:animEffect transition="in" filter="fade">
                                      <p:cBhvr>
                                        <p:cTn id="23" dur="500"/>
                                        <p:tgtEl>
                                          <p:spTgt spid="1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2"/>
                                        </p:tgtEl>
                                        <p:attrNameLst>
                                          <p:attrName>style.visibility</p:attrName>
                                        </p:attrNameLst>
                                      </p:cBhvr>
                                      <p:to>
                                        <p:strVal val="visible"/>
                                      </p:to>
                                    </p:set>
                                    <p:animEffect transition="in" filter="fade">
                                      <p:cBhvr>
                                        <p:cTn id="31" dur="500"/>
                                        <p:tgtEl>
                                          <p:spTgt spid="1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7"/>
                                        </p:tgtEl>
                                        <p:attrNameLst>
                                          <p:attrName>style.visibility</p:attrName>
                                        </p:attrNameLst>
                                      </p:cBhvr>
                                      <p:to>
                                        <p:strVal val="visible"/>
                                      </p:to>
                                    </p:set>
                                    <p:animEffect transition="in" filter="fade">
                                      <p:cBhvr>
                                        <p:cTn id="34" dur="500"/>
                                        <p:tgtEl>
                                          <p:spTgt spid="1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1"/>
                                        </p:tgtEl>
                                        <p:attrNameLst>
                                          <p:attrName>style.visibility</p:attrName>
                                        </p:attrNameLst>
                                      </p:cBhvr>
                                      <p:to>
                                        <p:strVal val="visible"/>
                                      </p:to>
                                    </p:set>
                                    <p:animEffect transition="in" filter="fade">
                                      <p:cBhvr>
                                        <p:cTn id="39" dur="500"/>
                                        <p:tgtEl>
                                          <p:spTgt spid="1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5"/>
                                        </p:tgtEl>
                                        <p:attrNameLst>
                                          <p:attrName>style.visibility</p:attrName>
                                        </p:attrNameLst>
                                      </p:cBhvr>
                                      <p:to>
                                        <p:strVal val="visible"/>
                                      </p:to>
                                    </p:set>
                                    <p:animEffect transition="in" filter="fade">
                                      <p:cBhvr>
                                        <p:cTn id="42" dur="500"/>
                                        <p:tgtEl>
                                          <p:spTgt spid="1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6"/>
                                        </p:tgtEl>
                                        <p:attrNameLst>
                                          <p:attrName>style.visibility</p:attrName>
                                        </p:attrNameLst>
                                      </p:cBhvr>
                                      <p:to>
                                        <p:strVal val="visible"/>
                                      </p:to>
                                    </p:set>
                                    <p:animEffect transition="in" filter="fade">
                                      <p:cBhvr>
                                        <p:cTn id="47" dur="500"/>
                                        <p:tgtEl>
                                          <p:spTgt spid="12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6"/>
                                        </p:tgtEl>
                                        <p:attrNameLst>
                                          <p:attrName>style.visibility</p:attrName>
                                        </p:attrNameLst>
                                      </p:cBhvr>
                                      <p:to>
                                        <p:strVal val="visible"/>
                                      </p:to>
                                    </p:set>
                                    <p:animEffect transition="in" filter="fade">
                                      <p:cBhvr>
                                        <p:cTn id="50" dur="500"/>
                                        <p:tgtEl>
                                          <p:spTgt spid="116"/>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animBg="1"/>
      <p:bldP spid="117" grpId="0" animBg="1"/>
      <p:bldP spid="118" grpId="0" animBg="1"/>
      <p:bldP spid="119" grpId="0" animBg="1"/>
      <p:bldP spid="120" grpId="0" animBg="1"/>
      <p:bldP spid="121" grpId="0"/>
      <p:bldP spid="122" grpId="0"/>
      <p:bldP spid="123" grpId="0"/>
      <p:bldP spid="124" grpId="0"/>
      <p:bldP spid="125" grpId="0"/>
      <p:bldP spid="126" grpId="0"/>
      <p:bldP spid="127" grpId="0" animBg="1"/>
      <p:bldP spid="128" grpId="0" animBg="1"/>
      <p:bldP spid="129" grpId="0" animBg="1"/>
      <p:bldP spid="130" grpId="0" animBg="1"/>
      <p:bldP spid="131" grpId="0" animBg="1"/>
      <p:bldP spid="1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65E1E-AF94-E84C-D0E8-FDA7BDAE28D1}"/>
            </a:ext>
          </a:extLst>
        </p:cNvPr>
        <p:cNvGrpSpPr/>
        <p:nvPr/>
      </p:nvGrpSpPr>
      <p:grpSpPr>
        <a:xfrm>
          <a:off x="0" y="0"/>
          <a:ext cx="0" cy="0"/>
          <a:chOff x="0" y="0"/>
          <a:chExt cx="0" cy="0"/>
        </a:xfrm>
      </p:grpSpPr>
      <p:sp>
        <p:nvSpPr>
          <p:cNvPr id="79" name="Textfeld 6">
            <a:extLst>
              <a:ext uri="{FF2B5EF4-FFF2-40B4-BE49-F238E27FC236}">
                <a16:creationId xmlns:a16="http://schemas.microsoft.com/office/drawing/2014/main" id="{ECB1C96B-7981-D6EC-4CE2-EEEA1BA9261B}"/>
              </a:ext>
            </a:extLst>
          </p:cNvPr>
          <p:cNvSpPr txBox="1"/>
          <p:nvPr/>
        </p:nvSpPr>
        <p:spPr>
          <a:xfrm>
            <a:off x="6340600" y="5593446"/>
            <a:ext cx="4181273" cy="1236557"/>
          </a:xfrm>
          <a:prstGeom prst="rect">
            <a:avLst/>
          </a:prstGeom>
          <a:noFill/>
        </p:spPr>
        <p:txBody>
          <a:bodyPr wrap="none" rtlCol="0">
            <a:spAutoFit/>
          </a:bodyPr>
          <a:lstStyle/>
          <a:p>
            <a:pPr algn="ctr"/>
            <a:r>
              <a:rPr lang="de-CH" sz="2539" b="1" dirty="0">
                <a:solidFill>
                  <a:schemeClr val="accent1"/>
                </a:solidFill>
              </a:rPr>
              <a:t>Wissensbasierte Systeme</a:t>
            </a:r>
          </a:p>
          <a:p>
            <a:pPr algn="ctr"/>
            <a:r>
              <a:rPr lang="de-CH" sz="1632" dirty="0">
                <a:solidFill>
                  <a:schemeClr val="accent1"/>
                </a:solidFill>
              </a:rPr>
              <a:t>Wissen wird in Form von Regeln oder </a:t>
            </a:r>
            <a:br>
              <a:rPr lang="de-CH" sz="1632" dirty="0">
                <a:solidFill>
                  <a:schemeClr val="accent1"/>
                </a:solidFill>
              </a:rPr>
            </a:br>
            <a:r>
              <a:rPr lang="de-CH" sz="1632" dirty="0">
                <a:solidFill>
                  <a:schemeClr val="accent1"/>
                </a:solidFill>
              </a:rPr>
              <a:t>Zusammenhängen bereitgestellt und für </a:t>
            </a:r>
            <a:br>
              <a:rPr lang="de-CH" sz="1632" dirty="0">
                <a:solidFill>
                  <a:schemeClr val="accent1"/>
                </a:solidFill>
              </a:rPr>
            </a:br>
            <a:r>
              <a:rPr lang="de-CH" sz="1632" dirty="0">
                <a:solidFill>
                  <a:schemeClr val="accent1"/>
                </a:solidFill>
              </a:rPr>
              <a:t>logische Schlussfolgerungen verwendet.</a:t>
            </a:r>
          </a:p>
        </p:txBody>
      </p:sp>
      <p:sp>
        <p:nvSpPr>
          <p:cNvPr id="80" name="Textfeld 7">
            <a:extLst>
              <a:ext uri="{FF2B5EF4-FFF2-40B4-BE49-F238E27FC236}">
                <a16:creationId xmlns:a16="http://schemas.microsoft.com/office/drawing/2014/main" id="{8DD23F43-A007-CC43-7FB7-147E084FF028}"/>
              </a:ext>
            </a:extLst>
          </p:cNvPr>
          <p:cNvSpPr txBox="1"/>
          <p:nvPr/>
        </p:nvSpPr>
        <p:spPr>
          <a:xfrm>
            <a:off x="1139623" y="5611584"/>
            <a:ext cx="4732386" cy="1236557"/>
          </a:xfrm>
          <a:prstGeom prst="rect">
            <a:avLst/>
          </a:prstGeom>
          <a:noFill/>
        </p:spPr>
        <p:txBody>
          <a:bodyPr wrap="none" rtlCol="0">
            <a:spAutoFit/>
          </a:bodyPr>
          <a:lstStyle/>
          <a:p>
            <a:pPr algn="ctr"/>
            <a:r>
              <a:rPr lang="de-CH" sz="2539" b="1" dirty="0">
                <a:solidFill>
                  <a:srgbClr val="A954A1"/>
                </a:solidFill>
              </a:rPr>
              <a:t>Maschinelles Lernen</a:t>
            </a:r>
          </a:p>
          <a:p>
            <a:pPr algn="ctr"/>
            <a:r>
              <a:rPr lang="de-CH" sz="1632" dirty="0">
                <a:solidFill>
                  <a:srgbClr val="A954A1"/>
                </a:solidFill>
              </a:rPr>
              <a:t>Wahrscheinlichkeitsmodelle werden durch</a:t>
            </a:r>
            <a:br>
              <a:rPr lang="de-CH" sz="1632" dirty="0">
                <a:solidFill>
                  <a:srgbClr val="A954A1"/>
                </a:solidFill>
              </a:rPr>
            </a:br>
            <a:r>
              <a:rPr lang="de-CH" sz="1632" dirty="0">
                <a:solidFill>
                  <a:srgbClr val="A954A1"/>
                </a:solidFill>
              </a:rPr>
              <a:t>automatisches erkennen von Zusammenhängen </a:t>
            </a:r>
            <a:br>
              <a:rPr lang="de-CH" sz="1632" dirty="0">
                <a:solidFill>
                  <a:srgbClr val="A954A1"/>
                </a:solidFill>
              </a:rPr>
            </a:br>
            <a:r>
              <a:rPr lang="de-CH" sz="1632" dirty="0">
                <a:solidFill>
                  <a:srgbClr val="A954A1"/>
                </a:solidFill>
              </a:rPr>
              <a:t>aus Daten gebildet und angewendet.</a:t>
            </a:r>
          </a:p>
        </p:txBody>
      </p:sp>
      <p:grpSp>
        <p:nvGrpSpPr>
          <p:cNvPr id="81" name="Group 80">
            <a:extLst>
              <a:ext uri="{FF2B5EF4-FFF2-40B4-BE49-F238E27FC236}">
                <a16:creationId xmlns:a16="http://schemas.microsoft.com/office/drawing/2014/main" id="{E59A9E2F-8A12-7062-44A2-FB3697926DC4}"/>
              </a:ext>
            </a:extLst>
          </p:cNvPr>
          <p:cNvGrpSpPr/>
          <p:nvPr/>
        </p:nvGrpSpPr>
        <p:grpSpPr>
          <a:xfrm>
            <a:off x="6189802" y="1445125"/>
            <a:ext cx="4910177" cy="4231104"/>
            <a:chOff x="4967391" y="1621868"/>
            <a:chExt cx="4532824" cy="3809472"/>
          </a:xfrm>
        </p:grpSpPr>
        <p:sp>
          <p:nvSpPr>
            <p:cNvPr id="82" name="object 27">
              <a:extLst>
                <a:ext uri="{FF2B5EF4-FFF2-40B4-BE49-F238E27FC236}">
                  <a16:creationId xmlns:a16="http://schemas.microsoft.com/office/drawing/2014/main" id="{44F1C555-6828-7D8A-618D-3653C0359E43}"/>
                </a:ext>
              </a:extLst>
            </p:cNvPr>
            <p:cNvSpPr/>
            <p:nvPr/>
          </p:nvSpPr>
          <p:spPr>
            <a:xfrm>
              <a:off x="4967391" y="1621868"/>
              <a:ext cx="4532824" cy="3809472"/>
            </a:xfrm>
            <a:custGeom>
              <a:avLst/>
              <a:gdLst/>
              <a:ahLst/>
              <a:cxnLst/>
              <a:rect l="l" t="t" r="r" b="b"/>
              <a:pathLst>
                <a:path w="3735704" h="3234690">
                  <a:moveTo>
                    <a:pt x="2801313" y="0"/>
                  </a:moveTo>
                  <a:lnTo>
                    <a:pt x="933771" y="0"/>
                  </a:lnTo>
                  <a:lnTo>
                    <a:pt x="0" y="1617341"/>
                  </a:lnTo>
                  <a:lnTo>
                    <a:pt x="933771" y="3234674"/>
                  </a:lnTo>
                  <a:lnTo>
                    <a:pt x="2801313" y="3234674"/>
                  </a:lnTo>
                  <a:lnTo>
                    <a:pt x="3735084" y="1617341"/>
                  </a:lnTo>
                  <a:lnTo>
                    <a:pt x="2801313" y="0"/>
                  </a:lnTo>
                  <a:close/>
                </a:path>
              </a:pathLst>
            </a:custGeom>
            <a:solidFill>
              <a:srgbClr val="186EB0"/>
            </a:solidFill>
            <a:ln w="26001">
              <a:solidFill>
                <a:srgbClr val="FFFFFF"/>
              </a:solidFill>
            </a:ln>
          </p:spPr>
          <p:txBody>
            <a:bodyPr wrap="square" lIns="0" tIns="0" rIns="0" bIns="0" rtlCol="0"/>
            <a:lstStyle/>
            <a:p>
              <a:pPr>
                <a:defRPr/>
              </a:pPr>
              <a:endParaRPr lang="en-GB" sz="600" kern="0">
                <a:solidFill>
                  <a:prstClr val="black"/>
                </a:solidFill>
                <a:latin typeface="Arial Narrow" panose="020B0606020202030204" pitchFamily="34" charset="0"/>
              </a:endParaRPr>
            </a:p>
          </p:txBody>
        </p:sp>
        <p:sp>
          <p:nvSpPr>
            <p:cNvPr id="83" name="object 32">
              <a:extLst>
                <a:ext uri="{FF2B5EF4-FFF2-40B4-BE49-F238E27FC236}">
                  <a16:creationId xmlns:a16="http://schemas.microsoft.com/office/drawing/2014/main" id="{8520CD2F-E44F-1A89-528A-DF42F657E858}"/>
                </a:ext>
              </a:extLst>
            </p:cNvPr>
            <p:cNvSpPr txBox="1"/>
            <p:nvPr/>
          </p:nvSpPr>
          <p:spPr>
            <a:xfrm>
              <a:off x="5366748" y="2436557"/>
              <a:ext cx="3828503" cy="775898"/>
            </a:xfrm>
            <a:prstGeom prst="rect">
              <a:avLst/>
            </a:prstGeom>
          </p:spPr>
          <p:txBody>
            <a:bodyPr vert="horz" wrap="square" lIns="0" tIns="0" rIns="0" bIns="0" rtlCol="0">
              <a:spAutoFit/>
            </a:bodyPr>
            <a:lstStyle/>
            <a:p>
              <a:pPr marL="6257" marR="2503" algn="ctr">
                <a:spcBef>
                  <a:spcPts val="47"/>
                </a:spcBef>
                <a:defRPr/>
              </a:pPr>
              <a:r>
                <a:rPr lang="en-GB" sz="2800" b="1" spc="-10" dirty="0" err="1">
                  <a:solidFill>
                    <a:srgbClr val="FFFFFF"/>
                  </a:solidFill>
                  <a:latin typeface="Arial Narrow" panose="020B0606020202030204" pitchFamily="34" charset="0"/>
                  <a:cs typeface="Roboto Condensed"/>
                </a:rPr>
                <a:t>Symbolische</a:t>
              </a:r>
              <a:r>
                <a:rPr lang="en-GB" sz="2800" b="1" spc="-10" dirty="0">
                  <a:solidFill>
                    <a:srgbClr val="FFFFFF"/>
                  </a:solidFill>
                  <a:latin typeface="Arial Narrow" panose="020B0606020202030204" pitchFamily="34" charset="0"/>
                  <a:cs typeface="Roboto Condensed"/>
                </a:rPr>
                <a:t> /</a:t>
              </a:r>
            </a:p>
            <a:p>
              <a:pPr marL="6257" marR="2503" algn="ctr">
                <a:spcBef>
                  <a:spcPts val="47"/>
                </a:spcBef>
                <a:defRPr/>
              </a:pPr>
              <a:r>
                <a:rPr lang="en-GB" sz="2800" b="1" spc="-10" dirty="0" err="1">
                  <a:solidFill>
                    <a:srgbClr val="FFFFFF"/>
                  </a:solidFill>
                  <a:latin typeface="Arial Narrow" panose="020B0606020202030204" pitchFamily="34" charset="0"/>
                  <a:cs typeface="Roboto Condensed"/>
                </a:rPr>
                <a:t>wissensbasierte</a:t>
              </a:r>
              <a:r>
                <a:rPr lang="en-GB" sz="2800" b="1" spc="-10" dirty="0">
                  <a:solidFill>
                    <a:srgbClr val="FFFFFF"/>
                  </a:solidFill>
                  <a:latin typeface="Arial Narrow" panose="020B0606020202030204" pitchFamily="34" charset="0"/>
                  <a:cs typeface="Roboto Condensed"/>
                </a:rPr>
                <a:t> KI</a:t>
              </a:r>
            </a:p>
          </p:txBody>
        </p:sp>
      </p:grpSp>
      <p:sp>
        <p:nvSpPr>
          <p:cNvPr id="84" name="object 25">
            <a:extLst>
              <a:ext uri="{FF2B5EF4-FFF2-40B4-BE49-F238E27FC236}">
                <a16:creationId xmlns:a16="http://schemas.microsoft.com/office/drawing/2014/main" id="{F2582F5C-9B3B-856D-3892-5104D1F4561A}"/>
              </a:ext>
            </a:extLst>
          </p:cNvPr>
          <p:cNvSpPr/>
          <p:nvPr/>
        </p:nvSpPr>
        <p:spPr>
          <a:xfrm>
            <a:off x="1112680" y="1440146"/>
            <a:ext cx="4879961" cy="4225716"/>
          </a:xfrm>
          <a:custGeom>
            <a:avLst/>
            <a:gdLst/>
            <a:ahLst/>
            <a:cxnLst/>
            <a:rect l="l" t="t" r="r" b="b"/>
            <a:pathLst>
              <a:path w="3735704" h="3234690">
                <a:moveTo>
                  <a:pt x="2801313" y="0"/>
                </a:moveTo>
                <a:lnTo>
                  <a:pt x="933771" y="0"/>
                </a:lnTo>
                <a:lnTo>
                  <a:pt x="0" y="1617341"/>
                </a:lnTo>
                <a:lnTo>
                  <a:pt x="933771" y="3234674"/>
                </a:lnTo>
                <a:lnTo>
                  <a:pt x="2801313" y="3234674"/>
                </a:lnTo>
                <a:lnTo>
                  <a:pt x="3735084" y="1617341"/>
                </a:lnTo>
                <a:lnTo>
                  <a:pt x="2801313" y="0"/>
                </a:lnTo>
                <a:close/>
              </a:path>
            </a:pathLst>
          </a:custGeom>
          <a:solidFill>
            <a:srgbClr val="B00C42"/>
          </a:solidFill>
          <a:ln w="26001">
            <a:solidFill>
              <a:srgbClr val="FFFFFF"/>
            </a:solidFill>
          </a:ln>
        </p:spPr>
        <p:txBody>
          <a:bodyPr wrap="square" lIns="0" tIns="0" rIns="0" bIns="0" rtlCol="0"/>
          <a:lstStyle/>
          <a:p>
            <a:pPr>
              <a:defRPr/>
            </a:pPr>
            <a:endParaRPr lang="en-GB" sz="600" kern="0" dirty="0">
              <a:solidFill>
                <a:prstClr val="black"/>
              </a:solidFill>
              <a:latin typeface="Arial Narrow" panose="020B0606020202030204" pitchFamily="34" charset="0"/>
            </a:endParaRPr>
          </a:p>
        </p:txBody>
      </p:sp>
      <p:pic>
        <p:nvPicPr>
          <p:cNvPr id="85" name="Picture 84">
            <a:extLst>
              <a:ext uri="{FF2B5EF4-FFF2-40B4-BE49-F238E27FC236}">
                <a16:creationId xmlns:a16="http://schemas.microsoft.com/office/drawing/2014/main" id="{33298997-8434-FE97-345B-21F261EE1BEB}"/>
              </a:ext>
            </a:extLst>
          </p:cNvPr>
          <p:cNvPicPr>
            <a:picLocks noChangeAspect="1"/>
          </p:cNvPicPr>
          <p:nvPr/>
        </p:nvPicPr>
        <p:blipFill>
          <a:blip r:embed="rId2"/>
          <a:stretch>
            <a:fillRect/>
          </a:stretch>
        </p:blipFill>
        <p:spPr>
          <a:xfrm>
            <a:off x="2496981" y="3392858"/>
            <a:ext cx="2086818" cy="1436825"/>
          </a:xfrm>
          <a:prstGeom prst="rect">
            <a:avLst/>
          </a:prstGeom>
        </p:spPr>
      </p:pic>
      <p:grpSp>
        <p:nvGrpSpPr>
          <p:cNvPr id="86" name="Group 85">
            <a:extLst>
              <a:ext uri="{FF2B5EF4-FFF2-40B4-BE49-F238E27FC236}">
                <a16:creationId xmlns:a16="http://schemas.microsoft.com/office/drawing/2014/main" id="{AC30493A-11F2-451C-5753-C8BAA8865D34}"/>
              </a:ext>
            </a:extLst>
          </p:cNvPr>
          <p:cNvGrpSpPr/>
          <p:nvPr/>
        </p:nvGrpSpPr>
        <p:grpSpPr>
          <a:xfrm>
            <a:off x="7767653" y="3290747"/>
            <a:ext cx="1727329" cy="1613762"/>
            <a:chOff x="173583" y="938303"/>
            <a:chExt cx="1856725" cy="1712216"/>
          </a:xfrm>
        </p:grpSpPr>
        <p:sp>
          <p:nvSpPr>
            <p:cNvPr id="87" name="Rectangle 86">
              <a:extLst>
                <a:ext uri="{FF2B5EF4-FFF2-40B4-BE49-F238E27FC236}">
                  <a16:creationId xmlns:a16="http://schemas.microsoft.com/office/drawing/2014/main" id="{6C8F8109-757C-95CF-5DAF-5B5BAC8AC057}"/>
                </a:ext>
              </a:extLst>
            </p:cNvPr>
            <p:cNvSpPr/>
            <p:nvPr/>
          </p:nvSpPr>
          <p:spPr>
            <a:xfrm>
              <a:off x="173583" y="938303"/>
              <a:ext cx="1856725" cy="1712216"/>
            </a:xfrm>
            <a:prstGeom prst="rect">
              <a:avLst/>
            </a:prstGeom>
            <a:solidFill>
              <a:srgbClr val="5B9BD5"/>
            </a:solidFill>
            <a:ln w="19050">
              <a:noFill/>
            </a:ln>
            <a:effectLst/>
          </p:spPr>
          <p:txBody>
            <a:bodyPr wrap="square" rtlCol="0" anchor="ctr" anchorCtr="1">
              <a:noAutofit/>
            </a:bodyPr>
            <a:lstStyle/>
            <a:p>
              <a:pPr algn="ctr"/>
              <a:endParaRPr lang="de-CH" sz="2800" dirty="0">
                <a:solidFill>
                  <a:schemeClr val="accent5"/>
                </a:solidFill>
              </a:endParaRPr>
            </a:p>
          </p:txBody>
        </p:sp>
        <p:sp>
          <p:nvSpPr>
            <p:cNvPr id="88" name="Rectangle: Rounded Corners 87">
              <a:extLst>
                <a:ext uri="{FF2B5EF4-FFF2-40B4-BE49-F238E27FC236}">
                  <a16:creationId xmlns:a16="http://schemas.microsoft.com/office/drawing/2014/main" id="{1FD99BA7-3511-28C9-032A-8DDBE99525F2}"/>
                </a:ext>
              </a:extLst>
            </p:cNvPr>
            <p:cNvSpPr/>
            <p:nvPr/>
          </p:nvSpPr>
          <p:spPr>
            <a:xfrm>
              <a:off x="954394" y="1022118"/>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89" name="Rectangle: Rounded Corners 88">
              <a:extLst>
                <a:ext uri="{FF2B5EF4-FFF2-40B4-BE49-F238E27FC236}">
                  <a16:creationId xmlns:a16="http://schemas.microsoft.com/office/drawing/2014/main" id="{5066DE2D-62B4-69F1-6D12-9F96AACEC5C8}"/>
                </a:ext>
              </a:extLst>
            </p:cNvPr>
            <p:cNvSpPr/>
            <p:nvPr/>
          </p:nvSpPr>
          <p:spPr>
            <a:xfrm>
              <a:off x="1374473" y="1382821"/>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0" name="Rectangle: Rounded Corners 89">
              <a:extLst>
                <a:ext uri="{FF2B5EF4-FFF2-40B4-BE49-F238E27FC236}">
                  <a16:creationId xmlns:a16="http://schemas.microsoft.com/office/drawing/2014/main" id="{9940B347-C0C4-456F-9885-C9E140FA3ED3}"/>
                </a:ext>
              </a:extLst>
            </p:cNvPr>
            <p:cNvSpPr/>
            <p:nvPr/>
          </p:nvSpPr>
          <p:spPr>
            <a:xfrm>
              <a:off x="1568681" y="1734051"/>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1" name="Rectangle: Rounded Corners 90">
              <a:extLst>
                <a:ext uri="{FF2B5EF4-FFF2-40B4-BE49-F238E27FC236}">
                  <a16:creationId xmlns:a16="http://schemas.microsoft.com/office/drawing/2014/main" id="{CA7CFC8D-3D4E-1E70-71D3-734DC8ED39E1}"/>
                </a:ext>
              </a:extLst>
            </p:cNvPr>
            <p:cNvSpPr/>
            <p:nvPr/>
          </p:nvSpPr>
          <p:spPr>
            <a:xfrm>
              <a:off x="904696" y="1382821"/>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2" name="Rectangle: Rounded Corners 91">
              <a:extLst>
                <a:ext uri="{FF2B5EF4-FFF2-40B4-BE49-F238E27FC236}">
                  <a16:creationId xmlns:a16="http://schemas.microsoft.com/office/drawing/2014/main" id="{5969DC28-3D23-E257-7889-AB34C446E3FD}"/>
                </a:ext>
              </a:extLst>
            </p:cNvPr>
            <p:cNvSpPr/>
            <p:nvPr/>
          </p:nvSpPr>
          <p:spPr>
            <a:xfrm>
              <a:off x="484616" y="1382821"/>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3" name="Rectangle: Rounded Corners 92">
              <a:extLst>
                <a:ext uri="{FF2B5EF4-FFF2-40B4-BE49-F238E27FC236}">
                  <a16:creationId xmlns:a16="http://schemas.microsoft.com/office/drawing/2014/main" id="{7075E41C-741B-F8F7-3AC2-ADCA3AC50E5D}"/>
                </a:ext>
              </a:extLst>
            </p:cNvPr>
            <p:cNvSpPr/>
            <p:nvPr/>
          </p:nvSpPr>
          <p:spPr>
            <a:xfrm>
              <a:off x="1179436" y="1734051"/>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4" name="Rectangle: Rounded Corners 93">
              <a:extLst>
                <a:ext uri="{FF2B5EF4-FFF2-40B4-BE49-F238E27FC236}">
                  <a16:creationId xmlns:a16="http://schemas.microsoft.com/office/drawing/2014/main" id="{65EA67D0-E19D-E7E8-EE22-917F4CC2FA47}"/>
                </a:ext>
              </a:extLst>
            </p:cNvPr>
            <p:cNvSpPr/>
            <p:nvPr/>
          </p:nvSpPr>
          <p:spPr>
            <a:xfrm>
              <a:off x="593748" y="1743524"/>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5" name="Rectangle: Rounded Corners 94">
              <a:extLst>
                <a:ext uri="{FF2B5EF4-FFF2-40B4-BE49-F238E27FC236}">
                  <a16:creationId xmlns:a16="http://schemas.microsoft.com/office/drawing/2014/main" id="{E4724C40-2029-88C6-9E41-1A9328DCD69F}"/>
                </a:ext>
              </a:extLst>
            </p:cNvPr>
            <p:cNvSpPr/>
            <p:nvPr/>
          </p:nvSpPr>
          <p:spPr>
            <a:xfrm>
              <a:off x="249245" y="1743524"/>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96" name="Straight Connector 95">
              <a:extLst>
                <a:ext uri="{FF2B5EF4-FFF2-40B4-BE49-F238E27FC236}">
                  <a16:creationId xmlns:a16="http://schemas.microsoft.com/office/drawing/2014/main" id="{E9894FF7-C157-E72E-57FA-BE6385B85898}"/>
                </a:ext>
              </a:extLst>
            </p:cNvPr>
            <p:cNvCxnSpPr>
              <a:cxnSpLocks/>
              <a:stCxn id="88" idx="2"/>
              <a:endCxn id="92" idx="0"/>
            </p:cNvCxnSpPr>
            <p:nvPr/>
          </p:nvCxnSpPr>
          <p:spPr>
            <a:xfrm flipH="1">
              <a:off x="643446" y="1213695"/>
              <a:ext cx="469778" cy="169126"/>
            </a:xfrm>
            <a:prstGeom prst="line">
              <a:avLst/>
            </a:prstGeom>
            <a:solidFill>
              <a:srgbClr val="FFC000"/>
            </a:solidFill>
            <a:ln w="19050">
              <a:solidFill>
                <a:srgbClr val="FFFF66"/>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30B1A6B-9A98-6D91-D97C-4854D2F386C5}"/>
                </a:ext>
              </a:extLst>
            </p:cNvPr>
            <p:cNvCxnSpPr>
              <a:cxnSpLocks/>
              <a:endCxn id="91" idx="0"/>
            </p:cNvCxnSpPr>
            <p:nvPr/>
          </p:nvCxnSpPr>
          <p:spPr>
            <a:xfrm>
              <a:off x="1063525" y="1213694"/>
              <a:ext cx="0" cy="169126"/>
            </a:xfrm>
            <a:prstGeom prst="line">
              <a:avLst/>
            </a:prstGeom>
            <a:solidFill>
              <a:srgbClr val="FFC000"/>
            </a:solidFill>
            <a:ln w="19050">
              <a:solidFill>
                <a:srgbClr val="FFFF66"/>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62050AF-EBF7-93A6-9027-96284630E8F6}"/>
                </a:ext>
              </a:extLst>
            </p:cNvPr>
            <p:cNvCxnSpPr>
              <a:cxnSpLocks/>
              <a:stCxn id="88" idx="2"/>
              <a:endCxn id="89" idx="0"/>
            </p:cNvCxnSpPr>
            <p:nvPr/>
          </p:nvCxnSpPr>
          <p:spPr>
            <a:xfrm>
              <a:off x="1113224" y="1213695"/>
              <a:ext cx="420079" cy="169126"/>
            </a:xfrm>
            <a:prstGeom prst="line">
              <a:avLst/>
            </a:prstGeom>
            <a:solidFill>
              <a:srgbClr val="FFC000"/>
            </a:solidFill>
            <a:ln w="19050">
              <a:solidFill>
                <a:srgbClr val="FFFF66"/>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0A0C6F00-14BC-4648-BF08-442A940E01CE}"/>
                </a:ext>
              </a:extLst>
            </p:cNvPr>
            <p:cNvCxnSpPr>
              <a:cxnSpLocks/>
              <a:stCxn id="92" idx="2"/>
              <a:endCxn id="95" idx="0"/>
            </p:cNvCxnSpPr>
            <p:nvPr/>
          </p:nvCxnSpPr>
          <p:spPr>
            <a:xfrm flipH="1">
              <a:off x="408075" y="1574398"/>
              <a:ext cx="235371" cy="169126"/>
            </a:xfrm>
            <a:prstGeom prst="line">
              <a:avLst/>
            </a:prstGeom>
            <a:solidFill>
              <a:srgbClr val="FFC000"/>
            </a:solidFill>
            <a:ln w="19050">
              <a:solidFill>
                <a:srgbClr val="FFFF66"/>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81907D1-6501-F15A-D98B-3F1F21849D0A}"/>
                </a:ext>
              </a:extLst>
            </p:cNvPr>
            <p:cNvCxnSpPr>
              <a:cxnSpLocks/>
              <a:stCxn id="92" idx="2"/>
              <a:endCxn id="94" idx="0"/>
            </p:cNvCxnSpPr>
            <p:nvPr/>
          </p:nvCxnSpPr>
          <p:spPr>
            <a:xfrm>
              <a:off x="643446" y="1574398"/>
              <a:ext cx="109132" cy="169126"/>
            </a:xfrm>
            <a:prstGeom prst="line">
              <a:avLst/>
            </a:prstGeom>
            <a:solidFill>
              <a:srgbClr val="FFC000"/>
            </a:solidFill>
            <a:ln w="19050">
              <a:solidFill>
                <a:srgbClr val="FFFF66"/>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47A14F3B-B1DB-7FB7-C75B-BE5C5C7E6DAD}"/>
                </a:ext>
              </a:extLst>
            </p:cNvPr>
            <p:cNvCxnSpPr>
              <a:cxnSpLocks/>
              <a:stCxn id="89" idx="2"/>
              <a:endCxn id="93" idx="0"/>
            </p:cNvCxnSpPr>
            <p:nvPr/>
          </p:nvCxnSpPr>
          <p:spPr>
            <a:xfrm flipH="1">
              <a:off x="1338266" y="1574398"/>
              <a:ext cx="195037" cy="159653"/>
            </a:xfrm>
            <a:prstGeom prst="line">
              <a:avLst/>
            </a:prstGeom>
            <a:solidFill>
              <a:srgbClr val="FFC000"/>
            </a:solidFill>
            <a:ln w="19050">
              <a:solidFill>
                <a:srgbClr val="FFFF66"/>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F133A58-79C3-A891-84DA-BD3AF54CEC6A}"/>
                </a:ext>
              </a:extLst>
            </p:cNvPr>
            <p:cNvCxnSpPr>
              <a:cxnSpLocks/>
              <a:stCxn id="89" idx="2"/>
              <a:endCxn id="90" idx="0"/>
            </p:cNvCxnSpPr>
            <p:nvPr/>
          </p:nvCxnSpPr>
          <p:spPr>
            <a:xfrm>
              <a:off x="1533303" y="1574398"/>
              <a:ext cx="194208" cy="159653"/>
            </a:xfrm>
            <a:prstGeom prst="line">
              <a:avLst/>
            </a:prstGeom>
            <a:solidFill>
              <a:srgbClr val="FFC000"/>
            </a:solidFill>
            <a:ln w="19050">
              <a:solidFill>
                <a:srgbClr val="FFFF66"/>
              </a:solidFill>
            </a:ln>
          </p:spPr>
          <p:style>
            <a:lnRef idx="1">
              <a:schemeClr val="accent1"/>
            </a:lnRef>
            <a:fillRef idx="0">
              <a:schemeClr val="accent1"/>
            </a:fillRef>
            <a:effectRef idx="0">
              <a:schemeClr val="accent1"/>
            </a:effectRef>
            <a:fontRef idx="minor">
              <a:schemeClr val="tx1"/>
            </a:fontRef>
          </p:style>
        </p:cxnSp>
        <p:sp>
          <p:nvSpPr>
            <p:cNvPr id="103" name="Rectangle: Rounded Corners 102">
              <a:extLst>
                <a:ext uri="{FF2B5EF4-FFF2-40B4-BE49-F238E27FC236}">
                  <a16:creationId xmlns:a16="http://schemas.microsoft.com/office/drawing/2014/main" id="{D4293604-F770-1147-125B-6A707A981CEB}"/>
                </a:ext>
              </a:extLst>
            </p:cNvPr>
            <p:cNvSpPr/>
            <p:nvPr/>
          </p:nvSpPr>
          <p:spPr>
            <a:xfrm>
              <a:off x="216348" y="2076793"/>
              <a:ext cx="317659" cy="191577"/>
            </a:xfrm>
            <a:prstGeom prst="roundRect">
              <a:avLst/>
            </a:prstGeom>
            <a:solidFill>
              <a:srgbClr val="FFFF66"/>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104" name="Straight Connector 103">
              <a:extLst>
                <a:ext uri="{FF2B5EF4-FFF2-40B4-BE49-F238E27FC236}">
                  <a16:creationId xmlns:a16="http://schemas.microsoft.com/office/drawing/2014/main" id="{6348D913-4622-EDA3-3FEC-0B4C8B703862}"/>
                </a:ext>
              </a:extLst>
            </p:cNvPr>
            <p:cNvCxnSpPr>
              <a:cxnSpLocks/>
              <a:stCxn id="95" idx="2"/>
              <a:endCxn id="103" idx="0"/>
            </p:cNvCxnSpPr>
            <p:nvPr/>
          </p:nvCxnSpPr>
          <p:spPr>
            <a:xfrm flipH="1">
              <a:off x="375178" y="1935101"/>
              <a:ext cx="32897" cy="141692"/>
            </a:xfrm>
            <a:prstGeom prst="line">
              <a:avLst/>
            </a:prstGeom>
            <a:ln w="19050">
              <a:solidFill>
                <a:srgbClr val="FFFF66"/>
              </a:solidFill>
            </a:ln>
          </p:spPr>
          <p:style>
            <a:lnRef idx="1">
              <a:schemeClr val="accent1"/>
            </a:lnRef>
            <a:fillRef idx="0">
              <a:schemeClr val="accent1"/>
            </a:fillRef>
            <a:effectRef idx="0">
              <a:schemeClr val="accent1"/>
            </a:effectRef>
            <a:fontRef idx="minor">
              <a:schemeClr val="tx1"/>
            </a:fontRef>
          </p:style>
        </p:cxnSp>
        <p:sp>
          <p:nvSpPr>
            <p:cNvPr id="105" name="Rectangle: Rounded Corners 104">
              <a:extLst>
                <a:ext uri="{FF2B5EF4-FFF2-40B4-BE49-F238E27FC236}">
                  <a16:creationId xmlns:a16="http://schemas.microsoft.com/office/drawing/2014/main" id="{8A87FF78-6FB0-659F-5CF3-3F5A2C2E0E1A}"/>
                </a:ext>
              </a:extLst>
            </p:cNvPr>
            <p:cNvSpPr/>
            <p:nvPr/>
          </p:nvSpPr>
          <p:spPr>
            <a:xfrm>
              <a:off x="1358314" y="2069802"/>
              <a:ext cx="132382" cy="191577"/>
            </a:xfrm>
            <a:prstGeom prst="roundRect">
              <a:avLst/>
            </a:prstGeom>
            <a:solidFill>
              <a:schemeClr val="accent2"/>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6" name="Arrow: Right 105">
              <a:extLst>
                <a:ext uri="{FF2B5EF4-FFF2-40B4-BE49-F238E27FC236}">
                  <a16:creationId xmlns:a16="http://schemas.microsoft.com/office/drawing/2014/main" id="{A7F2243E-BB9E-9FC1-5438-75581F6E801B}"/>
                </a:ext>
              </a:extLst>
            </p:cNvPr>
            <p:cNvSpPr/>
            <p:nvPr/>
          </p:nvSpPr>
          <p:spPr>
            <a:xfrm>
              <a:off x="1550823" y="2113207"/>
              <a:ext cx="107502" cy="101775"/>
            </a:xfrm>
            <a:prstGeom prst="rightArrow">
              <a:avLst/>
            </a:prstGeom>
            <a:solidFill>
              <a:schemeClr val="accent2"/>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7" name="Rectangle: Rounded Corners 106">
              <a:extLst>
                <a:ext uri="{FF2B5EF4-FFF2-40B4-BE49-F238E27FC236}">
                  <a16:creationId xmlns:a16="http://schemas.microsoft.com/office/drawing/2014/main" id="{3303EDD0-0738-826A-8969-F8837E5B442E}"/>
                </a:ext>
              </a:extLst>
            </p:cNvPr>
            <p:cNvSpPr/>
            <p:nvPr/>
          </p:nvSpPr>
          <p:spPr>
            <a:xfrm>
              <a:off x="1702941" y="2069802"/>
              <a:ext cx="132382" cy="191577"/>
            </a:xfrm>
            <a:prstGeom prst="roundRect">
              <a:avLst/>
            </a:prstGeom>
            <a:solidFill>
              <a:schemeClr val="accent2"/>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8" name="Rectangle: Rounded Corners 107">
              <a:extLst>
                <a:ext uri="{FF2B5EF4-FFF2-40B4-BE49-F238E27FC236}">
                  <a16:creationId xmlns:a16="http://schemas.microsoft.com/office/drawing/2014/main" id="{EA1EBF34-5D7D-60B9-6147-599A7AA2CFB2}"/>
                </a:ext>
              </a:extLst>
            </p:cNvPr>
            <p:cNvSpPr/>
            <p:nvPr/>
          </p:nvSpPr>
          <p:spPr>
            <a:xfrm>
              <a:off x="1157105" y="2069802"/>
              <a:ext cx="132382" cy="191577"/>
            </a:xfrm>
            <a:prstGeom prst="roundRect">
              <a:avLst/>
            </a:prstGeom>
            <a:solidFill>
              <a:schemeClr val="accent2"/>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9" name="Rectangle: Rounded Corners 108">
              <a:extLst>
                <a:ext uri="{FF2B5EF4-FFF2-40B4-BE49-F238E27FC236}">
                  <a16:creationId xmlns:a16="http://schemas.microsoft.com/office/drawing/2014/main" id="{49D1D479-7592-83BD-D694-48091A1223AA}"/>
                </a:ext>
              </a:extLst>
            </p:cNvPr>
            <p:cNvSpPr/>
            <p:nvPr/>
          </p:nvSpPr>
          <p:spPr>
            <a:xfrm>
              <a:off x="1358314" y="2360162"/>
              <a:ext cx="132382" cy="191577"/>
            </a:xfrm>
            <a:prstGeom prst="roundRect">
              <a:avLst/>
            </a:prstGeom>
            <a:solidFill>
              <a:schemeClr val="accent2"/>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0" name="Arrow: Right 109">
              <a:extLst>
                <a:ext uri="{FF2B5EF4-FFF2-40B4-BE49-F238E27FC236}">
                  <a16:creationId xmlns:a16="http://schemas.microsoft.com/office/drawing/2014/main" id="{3CBD2544-E30A-0C9C-836D-BE94B71FF3F6}"/>
                </a:ext>
              </a:extLst>
            </p:cNvPr>
            <p:cNvSpPr/>
            <p:nvPr/>
          </p:nvSpPr>
          <p:spPr>
            <a:xfrm>
              <a:off x="1550823" y="2403565"/>
              <a:ext cx="107502" cy="101775"/>
            </a:xfrm>
            <a:prstGeom prst="rightArrow">
              <a:avLst/>
            </a:prstGeom>
            <a:solidFill>
              <a:schemeClr val="accent2"/>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1" name="Rectangle: Rounded Corners 110">
              <a:extLst>
                <a:ext uri="{FF2B5EF4-FFF2-40B4-BE49-F238E27FC236}">
                  <a16:creationId xmlns:a16="http://schemas.microsoft.com/office/drawing/2014/main" id="{B87C0490-6B55-9A70-0335-4B1E162882B6}"/>
                </a:ext>
              </a:extLst>
            </p:cNvPr>
            <p:cNvSpPr/>
            <p:nvPr/>
          </p:nvSpPr>
          <p:spPr>
            <a:xfrm>
              <a:off x="1702941" y="2360162"/>
              <a:ext cx="132382" cy="191577"/>
            </a:xfrm>
            <a:prstGeom prst="roundRect">
              <a:avLst/>
            </a:prstGeom>
            <a:solidFill>
              <a:schemeClr val="accent2"/>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2" name="Rectangle: Rounded Corners 111">
              <a:extLst>
                <a:ext uri="{FF2B5EF4-FFF2-40B4-BE49-F238E27FC236}">
                  <a16:creationId xmlns:a16="http://schemas.microsoft.com/office/drawing/2014/main" id="{28F9B078-7EF5-798D-CA75-65055A66F2F0}"/>
                </a:ext>
              </a:extLst>
            </p:cNvPr>
            <p:cNvSpPr/>
            <p:nvPr/>
          </p:nvSpPr>
          <p:spPr>
            <a:xfrm>
              <a:off x="1157105" y="2360162"/>
              <a:ext cx="132382" cy="191577"/>
            </a:xfrm>
            <a:prstGeom prst="roundRect">
              <a:avLst/>
            </a:prstGeom>
            <a:solidFill>
              <a:schemeClr val="accent2"/>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3" name="Rectangle: Rounded Corners 112">
              <a:extLst>
                <a:ext uri="{FF2B5EF4-FFF2-40B4-BE49-F238E27FC236}">
                  <a16:creationId xmlns:a16="http://schemas.microsoft.com/office/drawing/2014/main" id="{ED026C88-D5E9-99D9-C6F9-AE049B3839D6}"/>
                </a:ext>
              </a:extLst>
            </p:cNvPr>
            <p:cNvSpPr/>
            <p:nvPr/>
          </p:nvSpPr>
          <p:spPr>
            <a:xfrm>
              <a:off x="964596" y="2358664"/>
              <a:ext cx="132382" cy="191577"/>
            </a:xfrm>
            <a:prstGeom prst="roundRect">
              <a:avLst/>
            </a:prstGeom>
            <a:solidFill>
              <a:schemeClr val="accent2"/>
            </a:solidFill>
            <a:ln w="19050">
              <a:solidFill>
                <a:srgbClr val="002B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
        <p:nvSpPr>
          <p:cNvPr id="114" name="object 32">
            <a:extLst>
              <a:ext uri="{FF2B5EF4-FFF2-40B4-BE49-F238E27FC236}">
                <a16:creationId xmlns:a16="http://schemas.microsoft.com/office/drawing/2014/main" id="{32DA6BD9-631B-E203-594E-2198ADA56D8B}"/>
              </a:ext>
            </a:extLst>
          </p:cNvPr>
          <p:cNvSpPr txBox="1"/>
          <p:nvPr/>
        </p:nvSpPr>
        <p:spPr>
          <a:xfrm>
            <a:off x="1414955" y="2331863"/>
            <a:ext cx="4250870" cy="861774"/>
          </a:xfrm>
          <a:prstGeom prst="rect">
            <a:avLst/>
          </a:prstGeom>
          <a:noFill/>
        </p:spPr>
        <p:txBody>
          <a:bodyPr vert="horz" wrap="square" lIns="0" tIns="0" rIns="0" bIns="0" rtlCol="0">
            <a:spAutoFit/>
          </a:bodyPr>
          <a:lstStyle/>
          <a:p>
            <a:pPr marL="6257" marR="2503" algn="ctr">
              <a:spcBef>
                <a:spcPts val="47"/>
              </a:spcBef>
              <a:defRPr/>
            </a:pPr>
            <a:r>
              <a:rPr lang="en-GB" sz="2800" b="1" spc="-10" dirty="0" err="1">
                <a:solidFill>
                  <a:srgbClr val="FFFFFF"/>
                </a:solidFill>
                <a:latin typeface="Arial Narrow" panose="020B0606020202030204" pitchFamily="34" charset="0"/>
                <a:cs typeface="Roboto Condensed"/>
              </a:rPr>
              <a:t>Subsymbolische</a:t>
            </a:r>
            <a:r>
              <a:rPr lang="en-GB" sz="2800" b="1" spc="-10" dirty="0">
                <a:solidFill>
                  <a:srgbClr val="FFFFFF"/>
                </a:solidFill>
                <a:latin typeface="Arial Narrow" panose="020B0606020202030204" pitchFamily="34" charset="0"/>
                <a:cs typeface="Roboto Condensed"/>
              </a:rPr>
              <a:t> /</a:t>
            </a:r>
          </a:p>
          <a:p>
            <a:pPr marL="6257" marR="2503" algn="ctr">
              <a:spcBef>
                <a:spcPts val="47"/>
              </a:spcBef>
              <a:defRPr/>
            </a:pPr>
            <a:r>
              <a:rPr lang="en-GB" sz="2800" b="1" spc="-10" dirty="0" err="1">
                <a:solidFill>
                  <a:srgbClr val="FFFFFF"/>
                </a:solidFill>
                <a:latin typeface="Arial Narrow" panose="020B0606020202030204" pitchFamily="34" charset="0"/>
                <a:cs typeface="Roboto Condensed"/>
              </a:rPr>
              <a:t>datenbasierte</a:t>
            </a:r>
            <a:r>
              <a:rPr lang="en-GB" sz="2800" b="1" spc="-10" dirty="0">
                <a:solidFill>
                  <a:srgbClr val="FFFFFF"/>
                </a:solidFill>
                <a:latin typeface="Arial Narrow" panose="020B0606020202030204" pitchFamily="34" charset="0"/>
                <a:cs typeface="Roboto Condensed"/>
              </a:rPr>
              <a:t> KI</a:t>
            </a:r>
          </a:p>
        </p:txBody>
      </p:sp>
      <p:sp>
        <p:nvSpPr>
          <p:cNvPr id="2" name="Title 1">
            <a:extLst>
              <a:ext uri="{FF2B5EF4-FFF2-40B4-BE49-F238E27FC236}">
                <a16:creationId xmlns:a16="http://schemas.microsoft.com/office/drawing/2014/main" id="{D4D99A8B-3ECD-9E0A-35CB-6AC2B7D7B8E8}"/>
              </a:ext>
            </a:extLst>
          </p:cNvPr>
          <p:cNvSpPr>
            <a:spLocks noGrp="1"/>
          </p:cNvSpPr>
          <p:nvPr>
            <p:ph type="title"/>
          </p:nvPr>
        </p:nvSpPr>
        <p:spPr/>
        <p:txBody>
          <a:bodyPr/>
          <a:lstStyle/>
          <a:p>
            <a:r>
              <a:rPr lang="en-US" dirty="0" err="1"/>
              <a:t>Methoden</a:t>
            </a:r>
            <a:r>
              <a:rPr lang="en-US" dirty="0"/>
              <a:t> der KI</a:t>
            </a:r>
            <a:endParaRPr lang="en-CH" dirty="0"/>
          </a:p>
        </p:txBody>
      </p:sp>
      <p:sp>
        <p:nvSpPr>
          <p:cNvPr id="3" name="Text Placeholder 2">
            <a:extLst>
              <a:ext uri="{FF2B5EF4-FFF2-40B4-BE49-F238E27FC236}">
                <a16:creationId xmlns:a16="http://schemas.microsoft.com/office/drawing/2014/main" id="{B8A11DE3-A3F6-5755-CAD7-34BA430169CB}"/>
              </a:ext>
            </a:extLst>
          </p:cNvPr>
          <p:cNvSpPr>
            <a:spLocks noGrp="1"/>
          </p:cNvSpPr>
          <p:nvPr>
            <p:ph type="body" sz="quarter" idx="13"/>
          </p:nvPr>
        </p:nvSpPr>
        <p:spPr/>
        <p:txBody>
          <a:bodyPr/>
          <a:lstStyle/>
          <a:p>
            <a:endParaRPr lang="en-CH"/>
          </a:p>
        </p:txBody>
      </p:sp>
      <p:sp>
        <p:nvSpPr>
          <p:cNvPr id="40" name="TextBox 39">
            <a:extLst>
              <a:ext uri="{FF2B5EF4-FFF2-40B4-BE49-F238E27FC236}">
                <a16:creationId xmlns:a16="http://schemas.microsoft.com/office/drawing/2014/main" id="{8B2A6D87-04F5-36D5-7DD5-6BD5397BBCC2}"/>
              </a:ext>
            </a:extLst>
          </p:cNvPr>
          <p:cNvSpPr txBox="1"/>
          <p:nvPr/>
        </p:nvSpPr>
        <p:spPr bwMode="auto">
          <a:xfrm rot="973858">
            <a:off x="9321499" y="1593923"/>
            <a:ext cx="2623627" cy="1015663"/>
          </a:xfrm>
          <a:prstGeom prst="rect">
            <a:avLst/>
          </a:prstGeom>
          <a:solidFill>
            <a:srgbClr val="FFFF99"/>
          </a:solidFill>
          <a:ln>
            <a:noFill/>
          </a:ln>
          <a:effectLst/>
        </p:spPr>
        <p:txBody>
          <a:bodyPr wrap="square" rtlCol="0">
            <a:spAutoFit/>
          </a:bodyPr>
          <a:lstStyle/>
          <a:p>
            <a:pPr algn="ctr"/>
            <a:r>
              <a:rPr lang="de-DE" dirty="0">
                <a:solidFill>
                  <a:srgbClr val="004182"/>
                </a:solidFill>
              </a:rPr>
              <a:t>Intelligenz ist in erster Linie ein Problem von </a:t>
            </a:r>
            <a:r>
              <a:rPr lang="de-DE" sz="2400" b="1" dirty="0">
                <a:solidFill>
                  <a:srgbClr val="004182"/>
                </a:solidFill>
              </a:rPr>
              <a:t>Wissen</a:t>
            </a:r>
            <a:endParaRPr lang="en-GB" b="1" dirty="0">
              <a:solidFill>
                <a:srgbClr val="004182"/>
              </a:solidFill>
            </a:endParaRPr>
          </a:p>
        </p:txBody>
      </p:sp>
      <p:sp>
        <p:nvSpPr>
          <p:cNvPr id="41" name="TextBox 40">
            <a:extLst>
              <a:ext uri="{FF2B5EF4-FFF2-40B4-BE49-F238E27FC236}">
                <a16:creationId xmlns:a16="http://schemas.microsoft.com/office/drawing/2014/main" id="{8973C1D7-B670-7913-0286-5FE9026E8481}"/>
              </a:ext>
            </a:extLst>
          </p:cNvPr>
          <p:cNvSpPr txBox="1"/>
          <p:nvPr/>
        </p:nvSpPr>
        <p:spPr bwMode="auto">
          <a:xfrm rot="20415666">
            <a:off x="695011" y="1549955"/>
            <a:ext cx="2642366" cy="1015663"/>
          </a:xfrm>
          <a:prstGeom prst="rect">
            <a:avLst/>
          </a:prstGeom>
          <a:solidFill>
            <a:srgbClr val="FFFF99"/>
          </a:solidFill>
          <a:ln>
            <a:noFill/>
          </a:ln>
          <a:effectLst/>
        </p:spPr>
        <p:txBody>
          <a:bodyPr wrap="square" rtlCol="0">
            <a:spAutoFit/>
          </a:bodyPr>
          <a:lstStyle/>
          <a:p>
            <a:pPr algn="ctr"/>
            <a:r>
              <a:rPr lang="de-DE" dirty="0">
                <a:solidFill>
                  <a:srgbClr val="004182"/>
                </a:solidFill>
              </a:rPr>
              <a:t>Intelligenz ist in erster Linie ein Problem von </a:t>
            </a:r>
            <a:r>
              <a:rPr lang="de-DE" sz="2400" b="1" dirty="0">
                <a:solidFill>
                  <a:srgbClr val="004182"/>
                </a:solidFill>
              </a:rPr>
              <a:t>Daten</a:t>
            </a:r>
            <a:endParaRPr lang="en-GB" b="1" dirty="0">
              <a:solidFill>
                <a:srgbClr val="004182"/>
              </a:solidFill>
            </a:endParaRPr>
          </a:p>
        </p:txBody>
      </p:sp>
      <p:sp>
        <p:nvSpPr>
          <p:cNvPr id="4" name="TextBox 3">
            <a:extLst>
              <a:ext uri="{FF2B5EF4-FFF2-40B4-BE49-F238E27FC236}">
                <a16:creationId xmlns:a16="http://schemas.microsoft.com/office/drawing/2014/main" id="{8B79E367-52F4-478C-798F-ED79749D7B9F}"/>
              </a:ext>
            </a:extLst>
          </p:cNvPr>
          <p:cNvSpPr txBox="1"/>
          <p:nvPr/>
        </p:nvSpPr>
        <p:spPr>
          <a:xfrm>
            <a:off x="2650453" y="4853487"/>
            <a:ext cx="1710725" cy="677108"/>
          </a:xfrm>
          <a:prstGeom prst="rect">
            <a:avLst/>
          </a:prstGeom>
          <a:noFill/>
        </p:spPr>
        <p:txBody>
          <a:bodyPr wrap="none" rtlCol="0">
            <a:spAutoFit/>
          </a:bodyPr>
          <a:lstStyle/>
          <a:p>
            <a:pPr algn="ctr"/>
            <a:r>
              <a:rPr lang="en-US" dirty="0" err="1">
                <a:solidFill>
                  <a:srgbClr val="FFFFFF"/>
                </a:solidFill>
                <a:latin typeface="Arial" panose="020B0604020202020204" pitchFamily="34" charset="0"/>
                <a:cs typeface="Arial" panose="020B0604020202020204" pitchFamily="34" charset="0"/>
              </a:rPr>
              <a:t>basiert</a:t>
            </a:r>
            <a:r>
              <a:rPr lang="en-US" dirty="0">
                <a:solidFill>
                  <a:srgbClr val="FFFFFF"/>
                </a:solidFill>
                <a:latin typeface="Arial" panose="020B0604020202020204" pitchFamily="34" charset="0"/>
                <a:cs typeface="Arial" panose="020B0604020202020204" pitchFamily="34" charset="0"/>
              </a:rPr>
              <a:t> auf</a:t>
            </a:r>
            <a:br>
              <a:rPr lang="en-US" dirty="0">
                <a:solidFill>
                  <a:srgbClr val="FFFFFF"/>
                </a:solidFill>
                <a:latin typeface="Arial" panose="020B0604020202020204" pitchFamily="34" charset="0"/>
                <a:cs typeface="Arial" panose="020B0604020202020204" pitchFamily="34" charset="0"/>
              </a:rPr>
            </a:br>
            <a:r>
              <a:rPr lang="en-US" sz="2000" b="1" dirty="0" err="1">
                <a:solidFill>
                  <a:srgbClr val="FFFFFF"/>
                </a:solidFill>
                <a:latin typeface="Arial" panose="020B0604020202020204" pitchFamily="34" charset="0"/>
                <a:cs typeface="Arial" panose="020B0604020202020204" pitchFamily="34" charset="0"/>
              </a:rPr>
              <a:t>Erfahrungen</a:t>
            </a:r>
            <a:endParaRPr lang="en-CH" b="1" dirty="0">
              <a:solidFill>
                <a:srgbClr val="FFFFFF"/>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150F355-66E3-29CF-DE3A-0496862833E7}"/>
              </a:ext>
            </a:extLst>
          </p:cNvPr>
          <p:cNvSpPr txBox="1"/>
          <p:nvPr/>
        </p:nvSpPr>
        <p:spPr>
          <a:xfrm>
            <a:off x="7892993" y="4933394"/>
            <a:ext cx="1579278" cy="677108"/>
          </a:xfrm>
          <a:prstGeom prst="rect">
            <a:avLst/>
          </a:prstGeom>
          <a:noFill/>
        </p:spPr>
        <p:txBody>
          <a:bodyPr wrap="none" rtlCol="0">
            <a:spAutoFit/>
          </a:bodyPr>
          <a:lstStyle/>
          <a:p>
            <a:pPr algn="ctr"/>
            <a:r>
              <a:rPr lang="en-US" dirty="0" err="1">
                <a:solidFill>
                  <a:srgbClr val="FFFFFF"/>
                </a:solidFill>
                <a:latin typeface="Arial" panose="020B0604020202020204" pitchFamily="34" charset="0"/>
                <a:cs typeface="Arial" panose="020B0604020202020204" pitchFamily="34" charset="0"/>
              </a:rPr>
              <a:t>basiert</a:t>
            </a:r>
            <a:r>
              <a:rPr lang="en-US" dirty="0">
                <a:solidFill>
                  <a:srgbClr val="FFFFFF"/>
                </a:solidFill>
                <a:latin typeface="Arial" panose="020B0604020202020204" pitchFamily="34" charset="0"/>
                <a:cs typeface="Arial" panose="020B0604020202020204" pitchFamily="34" charset="0"/>
              </a:rPr>
              <a:t> auf</a:t>
            </a:r>
            <a:br>
              <a:rPr lang="en-US" dirty="0">
                <a:solidFill>
                  <a:srgbClr val="FFFFFF"/>
                </a:solidFill>
                <a:latin typeface="Arial" panose="020B0604020202020204" pitchFamily="34" charset="0"/>
                <a:cs typeface="Arial" panose="020B0604020202020204" pitchFamily="34" charset="0"/>
              </a:rPr>
            </a:br>
            <a:r>
              <a:rPr lang="en-US" sz="2000" b="1" dirty="0" err="1">
                <a:solidFill>
                  <a:srgbClr val="FFFFFF"/>
                </a:solidFill>
                <a:latin typeface="Arial" panose="020B0604020202020204" pitchFamily="34" charset="0"/>
                <a:cs typeface="Arial" panose="020B0604020202020204" pitchFamily="34" charset="0"/>
              </a:rPr>
              <a:t>Rationalität</a:t>
            </a:r>
            <a:endParaRPr lang="en-CH"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877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fade">
                                      <p:cBhvr>
                                        <p:cTn id="15" dur="500"/>
                                        <p:tgtEl>
                                          <p:spTgt spid="7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40" grpId="0" animBg="1"/>
      <p:bldP spid="4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7BE937E9-B897-5AB8-837E-02DD9A97EE11}"/>
              </a:ext>
            </a:extLst>
          </p:cNvPr>
          <p:cNvSpPr>
            <a:spLocks noGrp="1"/>
          </p:cNvSpPr>
          <p:nvPr>
            <p:ph type="body" sz="quarter" idx="13"/>
          </p:nvPr>
        </p:nvSpPr>
        <p:spPr/>
        <p:txBody>
          <a:bodyPr/>
          <a:lstStyle/>
          <a:p>
            <a:endParaRPr lang="en-CH"/>
          </a:p>
        </p:txBody>
      </p:sp>
      <p:sp>
        <p:nvSpPr>
          <p:cNvPr id="2" name="Title 1">
            <a:extLst>
              <a:ext uri="{FF2B5EF4-FFF2-40B4-BE49-F238E27FC236}">
                <a16:creationId xmlns:a16="http://schemas.microsoft.com/office/drawing/2014/main" id="{AA13F7EF-273D-AEB9-9520-D84F741BB02E}"/>
              </a:ext>
            </a:extLst>
          </p:cNvPr>
          <p:cNvSpPr>
            <a:spLocks noGrp="1"/>
          </p:cNvSpPr>
          <p:nvPr>
            <p:ph type="title"/>
          </p:nvPr>
        </p:nvSpPr>
        <p:spPr/>
        <p:txBody>
          <a:bodyPr/>
          <a:lstStyle/>
          <a:p>
            <a:r>
              <a:rPr lang="en-US" dirty="0" err="1"/>
              <a:t>Datenbasierte</a:t>
            </a:r>
            <a:r>
              <a:rPr lang="en-US" dirty="0"/>
              <a:t> KI</a:t>
            </a:r>
            <a:endParaRPr lang="en-CH" dirty="0"/>
          </a:p>
        </p:txBody>
      </p:sp>
      <p:sp>
        <p:nvSpPr>
          <p:cNvPr id="4" name="Slide Number Placeholder 3">
            <a:extLst>
              <a:ext uri="{FF2B5EF4-FFF2-40B4-BE49-F238E27FC236}">
                <a16:creationId xmlns:a16="http://schemas.microsoft.com/office/drawing/2014/main" id="{63AC8EA3-FDF0-7753-E9EC-B5A2DC336B16}"/>
              </a:ext>
            </a:extLst>
          </p:cNvPr>
          <p:cNvSpPr>
            <a:spLocks noGrp="1"/>
          </p:cNvSpPr>
          <p:nvPr>
            <p:ph type="sldNum" sz="quarter" idx="4294967295"/>
          </p:nvPr>
        </p:nvSpPr>
        <p:spPr>
          <a:xfrm>
            <a:off x="11814175" y="6619875"/>
            <a:ext cx="377825" cy="144463"/>
          </a:xfrm>
          <a:prstGeom prst="rect">
            <a:avLst/>
          </a:prstGeom>
        </p:spPr>
        <p:txBody>
          <a:bodyPr/>
          <a:lstStyle/>
          <a:p>
            <a:fld id="{442AD375-037F-43D0-B059-5172DA06796A}" type="slidenum">
              <a:rPr lang="de-CH" smtClean="0"/>
              <a:pPr/>
              <a:t>6</a:t>
            </a:fld>
            <a:endParaRPr lang="de-CH"/>
          </a:p>
        </p:txBody>
      </p:sp>
      <p:pic>
        <p:nvPicPr>
          <p:cNvPr id="5" name="Picture 2" descr="Related image">
            <a:extLst>
              <a:ext uri="{FF2B5EF4-FFF2-40B4-BE49-F238E27FC236}">
                <a16:creationId xmlns:a16="http://schemas.microsoft.com/office/drawing/2014/main" id="{D76EEB33-9C2D-92F5-9746-5971B374B44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9354" y="3046635"/>
            <a:ext cx="998168" cy="9002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7" descr="buch">
            <a:extLst>
              <a:ext uri="{FF2B5EF4-FFF2-40B4-BE49-F238E27FC236}">
                <a16:creationId xmlns:a16="http://schemas.microsoft.com/office/drawing/2014/main" id="{3FCB9EA3-AD35-957E-1DA0-779E0C0CCD5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100000" l="794" r="100000"/>
                    </a14:imgEffect>
                  </a14:imgLayer>
                </a14:imgProps>
              </a:ext>
              <a:ext uri="{28A0092B-C50C-407E-A947-70E740481C1C}">
                <a14:useLocalDpi xmlns:a14="http://schemas.microsoft.com/office/drawing/2010/main" val="0"/>
              </a:ext>
            </a:extLst>
          </a:blip>
          <a:srcRect/>
          <a:stretch>
            <a:fillRect/>
          </a:stretch>
        </p:blipFill>
        <p:spPr bwMode="auto">
          <a:xfrm>
            <a:off x="1465711" y="2490754"/>
            <a:ext cx="834444" cy="890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Related image">
            <a:extLst>
              <a:ext uri="{FF2B5EF4-FFF2-40B4-BE49-F238E27FC236}">
                <a16:creationId xmlns:a16="http://schemas.microsoft.com/office/drawing/2014/main" id="{D101CE58-5E64-B160-8BE5-F92A2998258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7165" y="3170434"/>
            <a:ext cx="998168" cy="90024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FAB34E5-70DF-FD30-8A96-51BCF39381F1}"/>
              </a:ext>
            </a:extLst>
          </p:cNvPr>
          <p:cNvSpPr txBox="1"/>
          <p:nvPr/>
        </p:nvSpPr>
        <p:spPr>
          <a:xfrm>
            <a:off x="1405173" y="4175426"/>
            <a:ext cx="790601" cy="369332"/>
          </a:xfrm>
          <a:prstGeom prst="rect">
            <a:avLst/>
          </a:prstGeom>
          <a:noFill/>
        </p:spPr>
        <p:txBody>
          <a:bodyPr wrap="none" rtlCol="0">
            <a:spAutoFit/>
          </a:bodyPr>
          <a:lstStyle/>
          <a:p>
            <a:r>
              <a:rPr lang="en-US" dirty="0"/>
              <a:t>Daten</a:t>
            </a:r>
            <a:endParaRPr lang="en-CH" dirty="0"/>
          </a:p>
        </p:txBody>
      </p:sp>
      <p:sp>
        <p:nvSpPr>
          <p:cNvPr id="11" name="Arrow: Right 10">
            <a:extLst>
              <a:ext uri="{FF2B5EF4-FFF2-40B4-BE49-F238E27FC236}">
                <a16:creationId xmlns:a16="http://schemas.microsoft.com/office/drawing/2014/main" id="{6368190B-3C93-E060-C1F9-71A5BA7470A7}"/>
              </a:ext>
            </a:extLst>
          </p:cNvPr>
          <p:cNvSpPr/>
          <p:nvPr/>
        </p:nvSpPr>
        <p:spPr>
          <a:xfrm>
            <a:off x="3056541" y="3040653"/>
            <a:ext cx="895928" cy="647911"/>
          </a:xfrm>
          <a:prstGeom prst="rightArrow">
            <a:avLst/>
          </a:prstGeom>
          <a:solidFill>
            <a:srgbClr val="FF3F3F"/>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TextBox 11">
            <a:extLst>
              <a:ext uri="{FF2B5EF4-FFF2-40B4-BE49-F238E27FC236}">
                <a16:creationId xmlns:a16="http://schemas.microsoft.com/office/drawing/2014/main" id="{D129E377-B9B8-761C-4903-0F97ED4A0C21}"/>
              </a:ext>
            </a:extLst>
          </p:cNvPr>
          <p:cNvSpPr txBox="1"/>
          <p:nvPr/>
        </p:nvSpPr>
        <p:spPr bwMode="auto">
          <a:xfrm>
            <a:off x="7550690" y="2382172"/>
            <a:ext cx="2124684" cy="1964871"/>
          </a:xfrm>
          <a:prstGeom prst="rect">
            <a:avLst/>
          </a:prstGeom>
          <a:solidFill>
            <a:srgbClr val="C00000"/>
          </a:solidFill>
          <a:ln>
            <a:noFill/>
          </a:ln>
          <a:effectLst/>
        </p:spPr>
        <p:txBody>
          <a:bodyPr wrap="none" rtlCol="0" anchor="t" anchorCtr="1">
            <a:noAutofit/>
          </a:bodyPr>
          <a:lstStyle/>
          <a:p>
            <a:pPr algn="ctr"/>
            <a:r>
              <a:rPr lang="de-CH" sz="3600" dirty="0">
                <a:solidFill>
                  <a:schemeClr val="bg1"/>
                </a:solidFill>
              </a:rPr>
              <a:t>Modell</a:t>
            </a:r>
            <a:endParaRPr lang="en-150" sz="3600" dirty="0">
              <a:solidFill>
                <a:schemeClr val="bg1"/>
              </a:solidFill>
            </a:endParaRPr>
          </a:p>
        </p:txBody>
      </p:sp>
      <p:sp>
        <p:nvSpPr>
          <p:cNvPr id="14" name="TextBox 13">
            <a:extLst>
              <a:ext uri="{FF2B5EF4-FFF2-40B4-BE49-F238E27FC236}">
                <a16:creationId xmlns:a16="http://schemas.microsoft.com/office/drawing/2014/main" id="{69DB86C4-6CCD-D243-D524-CAEF92DE0D72}"/>
              </a:ext>
            </a:extLst>
          </p:cNvPr>
          <p:cNvSpPr txBox="1"/>
          <p:nvPr/>
        </p:nvSpPr>
        <p:spPr>
          <a:xfrm>
            <a:off x="7584632" y="2871376"/>
            <a:ext cx="2127505" cy="338554"/>
          </a:xfrm>
          <a:prstGeom prst="rect">
            <a:avLst/>
          </a:prstGeom>
          <a:noFill/>
        </p:spPr>
        <p:txBody>
          <a:bodyPr wrap="none" rtlCol="0">
            <a:spAutoFit/>
          </a:bodyPr>
          <a:lstStyle/>
          <a:p>
            <a:r>
              <a:rPr lang="en-US" sz="1600" dirty="0" err="1">
                <a:solidFill>
                  <a:srgbClr val="FFFFFF"/>
                </a:solidFill>
              </a:rPr>
              <a:t>z.B.</a:t>
            </a:r>
            <a:r>
              <a:rPr lang="en-US" sz="1600" dirty="0">
                <a:solidFill>
                  <a:srgbClr val="FFFFFF"/>
                </a:solidFill>
              </a:rPr>
              <a:t>  </a:t>
            </a:r>
            <a:r>
              <a:rPr lang="en-US" sz="1600" dirty="0" err="1">
                <a:solidFill>
                  <a:srgbClr val="FFFFFF"/>
                </a:solidFill>
              </a:rPr>
              <a:t>Neuronales</a:t>
            </a:r>
            <a:r>
              <a:rPr lang="en-US" sz="1600" dirty="0">
                <a:solidFill>
                  <a:srgbClr val="FFFFFF"/>
                </a:solidFill>
              </a:rPr>
              <a:t> Netz</a:t>
            </a:r>
          </a:p>
        </p:txBody>
      </p:sp>
      <p:sp>
        <p:nvSpPr>
          <p:cNvPr id="15" name="Arrow: Right 14">
            <a:extLst>
              <a:ext uri="{FF2B5EF4-FFF2-40B4-BE49-F238E27FC236}">
                <a16:creationId xmlns:a16="http://schemas.microsoft.com/office/drawing/2014/main" id="{9A574BC9-F96C-038C-A180-5DC1001160F0}"/>
              </a:ext>
            </a:extLst>
          </p:cNvPr>
          <p:cNvSpPr/>
          <p:nvPr/>
        </p:nvSpPr>
        <p:spPr>
          <a:xfrm>
            <a:off x="6544006" y="3069044"/>
            <a:ext cx="895928" cy="647911"/>
          </a:xfrm>
          <a:prstGeom prst="rightArrow">
            <a:avLst/>
          </a:prstGeom>
          <a:solidFill>
            <a:srgbClr val="FF3F3F"/>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6" name="Picture 2" descr="Realizing the Growth Potential of AI">
            <a:extLst>
              <a:ext uri="{FF2B5EF4-FFF2-40B4-BE49-F238E27FC236}">
                <a16:creationId xmlns:a16="http://schemas.microsoft.com/office/drawing/2014/main" id="{50A2CF6E-570D-8035-2A2F-A0987FB8855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843" t="-1080" r="30824" b="1080"/>
          <a:stretch/>
        </p:blipFill>
        <p:spPr bwMode="auto">
          <a:xfrm>
            <a:off x="4322210" y="2473023"/>
            <a:ext cx="1916803" cy="181633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CA93475-EDFA-7D77-A594-7B778D9AC5E4}"/>
              </a:ext>
            </a:extLst>
          </p:cNvPr>
          <p:cNvSpPr txBox="1"/>
          <p:nvPr/>
        </p:nvSpPr>
        <p:spPr>
          <a:xfrm>
            <a:off x="4238567" y="2103691"/>
            <a:ext cx="2305439" cy="369332"/>
          </a:xfrm>
          <a:prstGeom prst="rect">
            <a:avLst/>
          </a:prstGeom>
          <a:noFill/>
        </p:spPr>
        <p:txBody>
          <a:bodyPr wrap="none" rtlCol="0">
            <a:spAutoFit/>
          </a:bodyPr>
          <a:lstStyle/>
          <a:p>
            <a:r>
              <a:rPr lang="en-US" dirty="0" err="1"/>
              <a:t>Maschinelles</a:t>
            </a:r>
            <a:r>
              <a:rPr lang="en-US" dirty="0"/>
              <a:t> </a:t>
            </a:r>
            <a:r>
              <a:rPr lang="en-US" dirty="0" err="1"/>
              <a:t>Lernen</a:t>
            </a:r>
            <a:r>
              <a:rPr lang="en-US" dirty="0"/>
              <a:t> </a:t>
            </a:r>
            <a:endParaRPr lang="en-CH" dirty="0"/>
          </a:p>
        </p:txBody>
      </p:sp>
      <p:pic>
        <p:nvPicPr>
          <p:cNvPr id="18" name="Picture 17">
            <a:extLst>
              <a:ext uri="{FF2B5EF4-FFF2-40B4-BE49-F238E27FC236}">
                <a16:creationId xmlns:a16="http://schemas.microsoft.com/office/drawing/2014/main" id="{6981672F-91D5-4635-4BBC-9C025ACF8834}"/>
              </a:ext>
            </a:extLst>
          </p:cNvPr>
          <p:cNvPicPr>
            <a:picLocks noChangeAspect="1"/>
          </p:cNvPicPr>
          <p:nvPr/>
        </p:nvPicPr>
        <p:blipFill>
          <a:blip r:embed="rId6"/>
          <a:stretch>
            <a:fillRect/>
          </a:stretch>
        </p:blipFill>
        <p:spPr>
          <a:xfrm>
            <a:off x="7744927" y="3277913"/>
            <a:ext cx="1736211" cy="878084"/>
          </a:xfrm>
          <a:prstGeom prst="rect">
            <a:avLst/>
          </a:prstGeom>
        </p:spPr>
      </p:pic>
      <p:pic>
        <p:nvPicPr>
          <p:cNvPr id="19" name="Picture 6" descr="Cartoon Physician Comics, Caricature cartoon character ,Cartoon Doctor,  cartoon Character, child, hand png | PNGWing">
            <a:extLst>
              <a:ext uri="{FF2B5EF4-FFF2-40B4-BE49-F238E27FC236}">
                <a16:creationId xmlns:a16="http://schemas.microsoft.com/office/drawing/2014/main" id="{52FE2CF3-739E-2097-CA74-AD3709099A73}"/>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ackgroundRemoval t="9455" b="89904" l="10000" r="90000">
                        <a14:foregroundMark x1="41413" y1="40545" x2="41413" y2="40545"/>
                        <a14:foregroundMark x1="58370" y1="35577" x2="58370" y2="35577"/>
                        <a14:foregroundMark x1="57500" y1="35577" x2="57500" y2="35577"/>
                        <a14:foregroundMark x1="55761" y1="33494" x2="55761" y2="33494"/>
                        <a14:foregroundMark x1="49783" y1="80769" x2="49783" y2="80769"/>
                        <a14:foregroundMark x1="48261" y1="88462" x2="48261" y2="88462"/>
                        <a14:foregroundMark x1="53370" y1="9455" x2="53370" y2="9455"/>
                        <a14:foregroundMark x1="47065" y1="36699" x2="47065" y2="36699"/>
                        <a14:backgroundMark x1="46087" y1="49679" x2="46087" y2="49679"/>
                        <a14:backgroundMark x1="39891" y1="47596" x2="39891" y2="47596"/>
                        <a14:backgroundMark x1="46413" y1="47596" x2="46413" y2="47596"/>
                      </a14:backgroundRemoval>
                    </a14:imgEffect>
                  </a14:imgLayer>
                </a14:imgProps>
              </a:ext>
              <a:ext uri="{28A0092B-C50C-407E-A947-70E740481C1C}">
                <a14:useLocalDpi xmlns:a14="http://schemas.microsoft.com/office/drawing/2010/main" val="0"/>
              </a:ext>
            </a:extLst>
          </a:blip>
          <a:srcRect l="36729" t="5017" r="37864" b="45464"/>
          <a:stretch>
            <a:fillRect/>
          </a:stretch>
        </p:blipFill>
        <p:spPr bwMode="auto">
          <a:xfrm>
            <a:off x="8169649" y="801502"/>
            <a:ext cx="883791" cy="116836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1D55B796-1DBD-547C-BB0C-C04D24C4B897}"/>
              </a:ext>
            </a:extLst>
          </p:cNvPr>
          <p:cNvSpPr txBox="1"/>
          <p:nvPr/>
        </p:nvSpPr>
        <p:spPr bwMode="auto">
          <a:xfrm>
            <a:off x="8867311" y="378194"/>
            <a:ext cx="908412" cy="705451"/>
          </a:xfrm>
          <a:prstGeom prst="wedgeEllipseCallout">
            <a:avLst>
              <a:gd name="adj1" fmla="val -50129"/>
              <a:gd name="adj2" fmla="val 58865"/>
            </a:avLst>
          </a:prstGeom>
          <a:solidFill>
            <a:srgbClr val="FFFFCC"/>
          </a:solidFill>
          <a:ln>
            <a:noFill/>
          </a:ln>
          <a:effectLst/>
        </p:spPr>
        <p:txBody>
          <a:bodyPr wrap="none" lIns="0" tIns="0" rIns="0" bIns="0" rtlCol="0">
            <a:spAutoFit/>
          </a:bodyPr>
          <a:lstStyle/>
          <a:p>
            <a:pPr algn="ctr">
              <a:lnSpc>
                <a:spcPct val="80000"/>
              </a:lnSpc>
            </a:pPr>
            <a:r>
              <a:rPr lang="de-CH" sz="2800" b="1" dirty="0">
                <a:solidFill>
                  <a:srgbClr val="002060"/>
                </a:solidFill>
                <a:latin typeface="Segoe Print" panose="02000600000000000000" pitchFamily="2" charset="0"/>
              </a:rPr>
              <a:t>?</a:t>
            </a:r>
          </a:p>
          <a:p>
            <a:pPr algn="ctr">
              <a:lnSpc>
                <a:spcPct val="80000"/>
              </a:lnSpc>
            </a:pPr>
            <a:r>
              <a:rPr lang="de-CH" sz="1200" dirty="0">
                <a:solidFill>
                  <a:srgbClr val="002060"/>
                </a:solidFill>
                <a:latin typeface="Segoe Print" panose="02000600000000000000" pitchFamily="2" charset="0"/>
              </a:rPr>
              <a:t>Problem</a:t>
            </a:r>
            <a:endParaRPr lang="en-150" sz="1600" dirty="0" err="1">
              <a:solidFill>
                <a:srgbClr val="002060"/>
              </a:solidFill>
              <a:latin typeface="Segoe Print" panose="02000600000000000000" pitchFamily="2" charset="0"/>
            </a:endParaRPr>
          </a:p>
        </p:txBody>
      </p:sp>
      <p:sp>
        <p:nvSpPr>
          <p:cNvPr id="21" name="TextBox 20">
            <a:extLst>
              <a:ext uri="{FF2B5EF4-FFF2-40B4-BE49-F238E27FC236}">
                <a16:creationId xmlns:a16="http://schemas.microsoft.com/office/drawing/2014/main" id="{1AE83DCC-70B9-C2B3-10C2-4C35EF86F31A}"/>
              </a:ext>
            </a:extLst>
          </p:cNvPr>
          <p:cNvSpPr txBox="1"/>
          <p:nvPr/>
        </p:nvSpPr>
        <p:spPr>
          <a:xfrm>
            <a:off x="8336277" y="5592755"/>
            <a:ext cx="756617" cy="276999"/>
          </a:xfrm>
          <a:prstGeom prst="rect">
            <a:avLst/>
          </a:prstGeom>
          <a:noFill/>
        </p:spPr>
        <p:txBody>
          <a:bodyPr wrap="none" lIns="0" tIns="0" rIns="0" bIns="0" rtlCol="0">
            <a:spAutoFit/>
          </a:bodyPr>
          <a:lstStyle/>
          <a:p>
            <a:r>
              <a:rPr lang="de-CH" dirty="0"/>
              <a:t>Lösung</a:t>
            </a:r>
            <a:endParaRPr lang="en-GB" dirty="0"/>
          </a:p>
        </p:txBody>
      </p:sp>
      <p:pic>
        <p:nvPicPr>
          <p:cNvPr id="22" name="Picture 21" descr="A close up of a light&#10;&#10;Description automatically generated">
            <a:extLst>
              <a:ext uri="{FF2B5EF4-FFF2-40B4-BE49-F238E27FC236}">
                <a16:creationId xmlns:a16="http://schemas.microsoft.com/office/drawing/2014/main" id="{C9441A53-9A4F-31E3-644B-E8CF492C53C8}"/>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3285" t="9362" r="27095" b="14391"/>
          <a:stretch/>
        </p:blipFill>
        <p:spPr>
          <a:xfrm>
            <a:off x="8098458" y="4604984"/>
            <a:ext cx="1099849" cy="1126271"/>
          </a:xfrm>
          <a:prstGeom prst="ellipse">
            <a:avLst/>
          </a:prstGeom>
          <a:ln>
            <a:noFill/>
          </a:ln>
          <a:effectLst>
            <a:softEdge rad="112500"/>
          </a:effectLst>
        </p:spPr>
      </p:pic>
      <p:sp>
        <p:nvSpPr>
          <p:cNvPr id="23" name="Arrow: Right 22">
            <a:extLst>
              <a:ext uri="{FF2B5EF4-FFF2-40B4-BE49-F238E27FC236}">
                <a16:creationId xmlns:a16="http://schemas.microsoft.com/office/drawing/2014/main" id="{96F153F4-DD66-2FD9-FD3F-BDCEEE35E966}"/>
              </a:ext>
            </a:extLst>
          </p:cNvPr>
          <p:cNvSpPr/>
          <p:nvPr/>
        </p:nvSpPr>
        <p:spPr>
          <a:xfrm rot="5400000">
            <a:off x="8545309" y="1985294"/>
            <a:ext cx="338555" cy="371042"/>
          </a:xfrm>
          <a:prstGeom prst="rightArrow">
            <a:avLst/>
          </a:prstGeom>
          <a:solidFill>
            <a:srgbClr val="4472C4"/>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sz="2099"/>
          </a:p>
        </p:txBody>
      </p:sp>
      <p:sp>
        <p:nvSpPr>
          <p:cNvPr id="24" name="Arrow: Right 23">
            <a:extLst>
              <a:ext uri="{FF2B5EF4-FFF2-40B4-BE49-F238E27FC236}">
                <a16:creationId xmlns:a16="http://schemas.microsoft.com/office/drawing/2014/main" id="{AA76F933-6C62-9FD2-BF93-81C603B3B692}"/>
              </a:ext>
            </a:extLst>
          </p:cNvPr>
          <p:cNvSpPr/>
          <p:nvPr/>
        </p:nvSpPr>
        <p:spPr>
          <a:xfrm rot="5400000">
            <a:off x="8479106" y="4359237"/>
            <a:ext cx="338555" cy="371042"/>
          </a:xfrm>
          <a:prstGeom prst="rightArrow">
            <a:avLst/>
          </a:prstGeom>
          <a:solidFill>
            <a:srgbClr val="4472C4"/>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sz="2099"/>
          </a:p>
        </p:txBody>
      </p:sp>
      <p:sp>
        <p:nvSpPr>
          <p:cNvPr id="26" name="TextBox 25">
            <a:extLst>
              <a:ext uri="{FF2B5EF4-FFF2-40B4-BE49-F238E27FC236}">
                <a16:creationId xmlns:a16="http://schemas.microsoft.com/office/drawing/2014/main" id="{C69E6B2A-3F39-E3C0-9CBC-1A71C1FA30D3}"/>
              </a:ext>
            </a:extLst>
          </p:cNvPr>
          <p:cNvSpPr txBox="1"/>
          <p:nvPr/>
        </p:nvSpPr>
        <p:spPr>
          <a:xfrm>
            <a:off x="274513" y="5321049"/>
            <a:ext cx="6985310" cy="369332"/>
          </a:xfrm>
          <a:prstGeom prst="rect">
            <a:avLst/>
          </a:prstGeom>
          <a:noFill/>
        </p:spPr>
        <p:txBody>
          <a:bodyPr wrap="none" rtlCol="0">
            <a:spAutoFit/>
          </a:bodyPr>
          <a:lstStyle/>
          <a:p>
            <a:r>
              <a:rPr lang="en-US" dirty="0"/>
              <a:t>ChatGPT, CoPilot </a:t>
            </a:r>
            <a:r>
              <a:rPr lang="en-US" dirty="0" err="1"/>
              <a:t>usw</a:t>
            </a:r>
            <a:r>
              <a:rPr lang="en-US" dirty="0"/>
              <a:t>. </a:t>
            </a:r>
            <a:r>
              <a:rPr lang="en-US" dirty="0" err="1"/>
              <a:t>sind</a:t>
            </a:r>
            <a:r>
              <a:rPr lang="en-US" dirty="0"/>
              <a:t> </a:t>
            </a:r>
            <a:r>
              <a:rPr lang="en-US" dirty="0" err="1"/>
              <a:t>Sprachmodelle</a:t>
            </a:r>
            <a:r>
              <a:rPr lang="en-US" dirty="0"/>
              <a:t>, die </a:t>
            </a:r>
            <a:r>
              <a:rPr lang="en-US" dirty="0" err="1"/>
              <a:t>schon</a:t>
            </a:r>
            <a:r>
              <a:rPr lang="en-US" dirty="0"/>
              <a:t> </a:t>
            </a:r>
            <a:r>
              <a:rPr lang="en-US" dirty="0" err="1"/>
              <a:t>trainiert</a:t>
            </a:r>
            <a:r>
              <a:rPr lang="en-US" dirty="0"/>
              <a:t> </a:t>
            </a:r>
            <a:r>
              <a:rPr lang="en-US" dirty="0" err="1"/>
              <a:t>sind</a:t>
            </a:r>
            <a:r>
              <a:rPr lang="en-US" dirty="0"/>
              <a:t>.</a:t>
            </a:r>
          </a:p>
        </p:txBody>
      </p:sp>
      <p:pic>
        <p:nvPicPr>
          <p:cNvPr id="27" name="Picture 47" descr="buch">
            <a:extLst>
              <a:ext uri="{FF2B5EF4-FFF2-40B4-BE49-F238E27FC236}">
                <a16:creationId xmlns:a16="http://schemas.microsoft.com/office/drawing/2014/main" id="{26E269F2-2F9D-3675-8943-122085E7A85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100000" l="794" r="100000"/>
                    </a14:imgEffect>
                  </a14:imgLayer>
                </a14:imgProps>
              </a:ext>
              <a:ext uri="{28A0092B-C50C-407E-A947-70E740481C1C}">
                <a14:useLocalDpi xmlns:a14="http://schemas.microsoft.com/office/drawing/2010/main" val="0"/>
              </a:ext>
            </a:extLst>
          </a:blip>
          <a:srcRect/>
          <a:stretch>
            <a:fillRect/>
          </a:stretch>
        </p:blipFill>
        <p:spPr bwMode="auto">
          <a:xfrm>
            <a:off x="10028151" y="1213252"/>
            <a:ext cx="834444" cy="890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Arrow: Right 27">
            <a:extLst>
              <a:ext uri="{FF2B5EF4-FFF2-40B4-BE49-F238E27FC236}">
                <a16:creationId xmlns:a16="http://schemas.microsoft.com/office/drawing/2014/main" id="{F10BA6B1-13E9-A5F9-5063-7EBCDE3CC5A1}"/>
              </a:ext>
            </a:extLst>
          </p:cNvPr>
          <p:cNvSpPr/>
          <p:nvPr/>
        </p:nvSpPr>
        <p:spPr>
          <a:xfrm rot="7724543">
            <a:off x="9712074" y="1998331"/>
            <a:ext cx="338555" cy="371042"/>
          </a:xfrm>
          <a:prstGeom prst="rightArrow">
            <a:avLst/>
          </a:prstGeom>
          <a:solidFill>
            <a:srgbClr val="4472C4"/>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sz="2099"/>
          </a:p>
        </p:txBody>
      </p:sp>
      <p:sp>
        <p:nvSpPr>
          <p:cNvPr id="32" name="TextBox 31">
            <a:extLst>
              <a:ext uri="{FF2B5EF4-FFF2-40B4-BE49-F238E27FC236}">
                <a16:creationId xmlns:a16="http://schemas.microsoft.com/office/drawing/2014/main" id="{293D13F1-3798-6D4B-F236-0BE4066D8765}"/>
              </a:ext>
            </a:extLst>
          </p:cNvPr>
          <p:cNvSpPr txBox="1"/>
          <p:nvPr/>
        </p:nvSpPr>
        <p:spPr>
          <a:xfrm>
            <a:off x="10118533" y="2037006"/>
            <a:ext cx="1718773" cy="461665"/>
          </a:xfrm>
          <a:prstGeom prst="rect">
            <a:avLst/>
          </a:prstGeom>
          <a:noFill/>
        </p:spPr>
        <p:txBody>
          <a:bodyPr wrap="square">
            <a:spAutoFit/>
          </a:bodyPr>
          <a:lstStyle/>
          <a:p>
            <a:r>
              <a:rPr lang="en-US" sz="1200" dirty="0" err="1"/>
              <a:t>Unternehmens</a:t>
            </a:r>
            <a:r>
              <a:rPr lang="en-US" sz="1200" dirty="0"/>
              <a:t>-</a:t>
            </a:r>
          </a:p>
          <a:p>
            <a:r>
              <a:rPr lang="en-US" sz="1200" dirty="0" err="1"/>
              <a:t>informationen</a:t>
            </a:r>
            <a:endParaRPr lang="en-CH" sz="1200" dirty="0"/>
          </a:p>
        </p:txBody>
      </p:sp>
      <p:sp>
        <p:nvSpPr>
          <p:cNvPr id="33" name="TextBox 32">
            <a:extLst>
              <a:ext uri="{FF2B5EF4-FFF2-40B4-BE49-F238E27FC236}">
                <a16:creationId xmlns:a16="http://schemas.microsoft.com/office/drawing/2014/main" id="{9186BADC-F628-CA3A-9185-4096BA64C99E}"/>
              </a:ext>
            </a:extLst>
          </p:cNvPr>
          <p:cNvSpPr txBox="1"/>
          <p:nvPr/>
        </p:nvSpPr>
        <p:spPr>
          <a:xfrm>
            <a:off x="274513" y="5807911"/>
            <a:ext cx="7148624" cy="369332"/>
          </a:xfrm>
          <a:prstGeom prst="rect">
            <a:avLst/>
          </a:prstGeom>
          <a:noFill/>
        </p:spPr>
        <p:txBody>
          <a:bodyPr wrap="none" rtlCol="0">
            <a:spAutoFit/>
          </a:bodyPr>
          <a:lstStyle/>
          <a:p>
            <a:r>
              <a:rPr lang="en-US" dirty="0"/>
              <a:t>Man </a:t>
            </a:r>
            <a:r>
              <a:rPr lang="en-US" dirty="0" err="1"/>
              <a:t>kann</a:t>
            </a:r>
            <a:r>
              <a:rPr lang="en-US" dirty="0"/>
              <a:t> </a:t>
            </a:r>
            <a:r>
              <a:rPr lang="en-US" dirty="0" err="1"/>
              <a:t>sie</a:t>
            </a:r>
            <a:r>
              <a:rPr lang="en-US" dirty="0"/>
              <a:t> </a:t>
            </a:r>
            <a:r>
              <a:rPr lang="en-US" dirty="0" err="1"/>
              <a:t>mit</a:t>
            </a:r>
            <a:r>
              <a:rPr lang="en-US" dirty="0"/>
              <a:t> </a:t>
            </a:r>
            <a:r>
              <a:rPr lang="en-US" dirty="0" err="1"/>
              <a:t>Unternehmensinformationen</a:t>
            </a:r>
            <a:r>
              <a:rPr lang="en-US" dirty="0"/>
              <a:t> (</a:t>
            </a:r>
            <a:r>
              <a:rPr lang="en-US" dirty="0" err="1"/>
              <a:t>z.B.</a:t>
            </a:r>
            <a:r>
              <a:rPr lang="en-US" dirty="0"/>
              <a:t> Email) </a:t>
            </a:r>
            <a:r>
              <a:rPr lang="en-US" dirty="0" err="1"/>
              <a:t>ergänzen</a:t>
            </a:r>
            <a:endParaRPr lang="en-CH" dirty="0"/>
          </a:p>
        </p:txBody>
      </p:sp>
    </p:spTree>
    <p:extLst>
      <p:ext uri="{BB962C8B-B14F-4D97-AF65-F5344CB8AC3E}">
        <p14:creationId xmlns:p14="http://schemas.microsoft.com/office/powerpoint/2010/main" val="379993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P spid="17" grpId="0"/>
      <p:bldP spid="20" grpId="0" animBg="1"/>
      <p:bldP spid="21" grpId="0"/>
      <p:bldP spid="23" grpId="0" animBg="1"/>
      <p:bldP spid="24" grpId="0" animBg="1"/>
      <p:bldP spid="26" grpId="0"/>
      <p:bldP spid="28" grpId="0" animBg="1"/>
      <p:bldP spid="32"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7101C-CF58-59BB-B5B5-1C28227258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F48237-C0DB-4679-D115-79F128319BDE}"/>
              </a:ext>
            </a:extLst>
          </p:cNvPr>
          <p:cNvSpPr>
            <a:spLocks noGrp="1"/>
          </p:cNvSpPr>
          <p:nvPr>
            <p:ph type="body" sz="quarter" idx="13"/>
          </p:nvPr>
        </p:nvSpPr>
        <p:spPr/>
        <p:txBody>
          <a:bodyPr/>
          <a:lstStyle/>
          <a:p>
            <a:pPr marL="0" indent="0">
              <a:buNone/>
            </a:pPr>
            <a:r>
              <a:rPr lang="de-CH" dirty="0"/>
              <a:t>«</a:t>
            </a:r>
            <a:r>
              <a:rPr lang="de-DE" dirty="0"/>
              <a:t>Ein Expertensystem (wissensbasiertes System) nutzt Wissen und Inferenzverfahren, um Probleme zu lösen, die so schwierig sind, dass sie ein Fachwissen erfordern </a:t>
            </a:r>
            <a:r>
              <a:rPr lang="de-CH" dirty="0"/>
              <a:t>...»</a:t>
            </a:r>
          </a:p>
        </p:txBody>
      </p:sp>
      <p:sp>
        <p:nvSpPr>
          <p:cNvPr id="5" name="Title 4">
            <a:extLst>
              <a:ext uri="{FF2B5EF4-FFF2-40B4-BE49-F238E27FC236}">
                <a16:creationId xmlns:a16="http://schemas.microsoft.com/office/drawing/2014/main" id="{BCAB9729-B1EE-0F11-CE52-3CB3D7DB0E29}"/>
              </a:ext>
            </a:extLst>
          </p:cNvPr>
          <p:cNvSpPr>
            <a:spLocks noGrp="1"/>
          </p:cNvSpPr>
          <p:nvPr>
            <p:ph type="title"/>
          </p:nvPr>
        </p:nvSpPr>
        <p:spPr/>
        <p:txBody>
          <a:bodyPr/>
          <a:lstStyle/>
          <a:p>
            <a:r>
              <a:rPr lang="de-CH"/>
              <a:t>Wissensbasierte Systeme</a:t>
            </a:r>
            <a:endParaRPr lang="en-US"/>
          </a:p>
        </p:txBody>
      </p:sp>
      <p:sp>
        <p:nvSpPr>
          <p:cNvPr id="6" name="TextBox 5">
            <a:extLst>
              <a:ext uri="{FF2B5EF4-FFF2-40B4-BE49-F238E27FC236}">
                <a16:creationId xmlns:a16="http://schemas.microsoft.com/office/drawing/2014/main" id="{F24587D4-4803-AA39-8EE1-00C06E4B7FD4}"/>
              </a:ext>
            </a:extLst>
          </p:cNvPr>
          <p:cNvSpPr txBox="1"/>
          <p:nvPr/>
        </p:nvSpPr>
        <p:spPr bwMode="auto">
          <a:xfrm>
            <a:off x="3370607" y="2934696"/>
            <a:ext cx="5477683" cy="2752928"/>
          </a:xfrm>
          <a:prstGeom prst="roundRect">
            <a:avLst/>
          </a:prstGeom>
          <a:solidFill>
            <a:srgbClr val="C0C0C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0817" tIns="50408" rIns="100817" bIns="50408" numCol="1" spcCol="0" rtlCol="0" fromWordArt="0" anchor="t" anchorCtr="1" forceAA="0" compatLnSpc="1">
            <a:prstTxWarp prst="textNoShape">
              <a:avLst/>
            </a:prstTxWarp>
            <a:noAutofit/>
          </a:bodyPr>
          <a:lstStyle>
            <a:defPPr>
              <a:defRPr lang="de-CH"/>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de-CH" sz="3200" err="1">
                <a:solidFill>
                  <a:schemeClr val="tx2"/>
                </a:solidFill>
              </a:rPr>
              <a:t>Wissenbasiertes</a:t>
            </a:r>
            <a:r>
              <a:rPr lang="de-CH" sz="3200">
                <a:solidFill>
                  <a:schemeClr val="tx2"/>
                </a:solidFill>
              </a:rPr>
              <a:t> System</a:t>
            </a:r>
            <a:endParaRPr lang="en-150" sz="3200">
              <a:solidFill>
                <a:schemeClr val="tx2"/>
              </a:solidFill>
            </a:endParaRPr>
          </a:p>
        </p:txBody>
      </p:sp>
      <p:sp>
        <p:nvSpPr>
          <p:cNvPr id="7" name="TextBox 6">
            <a:extLst>
              <a:ext uri="{FF2B5EF4-FFF2-40B4-BE49-F238E27FC236}">
                <a16:creationId xmlns:a16="http://schemas.microsoft.com/office/drawing/2014/main" id="{F89A819F-58E5-11BC-F803-E45C2D3D5F50}"/>
              </a:ext>
            </a:extLst>
          </p:cNvPr>
          <p:cNvSpPr txBox="1"/>
          <p:nvPr/>
        </p:nvSpPr>
        <p:spPr bwMode="auto">
          <a:xfrm>
            <a:off x="3949799" y="3687305"/>
            <a:ext cx="1916803" cy="1804493"/>
          </a:xfrm>
          <a:prstGeom prst="rect">
            <a:avLst/>
          </a:prstGeom>
          <a:solidFill>
            <a:schemeClr val="tx2"/>
          </a:solidFill>
          <a:ln>
            <a:noFill/>
          </a:ln>
          <a:effectLst/>
        </p:spPr>
        <p:txBody>
          <a:bodyPr wrap="none" rtlCol="0" anchor="ctr" anchorCtr="1">
            <a:noAutofit/>
          </a:bodyPr>
          <a:lstStyle/>
          <a:p>
            <a:pPr algn="ctr"/>
            <a:r>
              <a:rPr lang="de-CH" sz="3087">
                <a:solidFill>
                  <a:schemeClr val="bg1"/>
                </a:solidFill>
              </a:rPr>
              <a:t>Wissens-</a:t>
            </a:r>
            <a:br>
              <a:rPr lang="de-CH" sz="3087">
                <a:solidFill>
                  <a:schemeClr val="bg1"/>
                </a:solidFill>
              </a:rPr>
            </a:br>
            <a:r>
              <a:rPr lang="de-CH" sz="3087" err="1">
                <a:solidFill>
                  <a:schemeClr val="bg1"/>
                </a:solidFill>
              </a:rPr>
              <a:t>basis</a:t>
            </a:r>
            <a:endParaRPr lang="en-150" sz="3087">
              <a:solidFill>
                <a:schemeClr val="bg1"/>
              </a:solidFill>
            </a:endParaRPr>
          </a:p>
        </p:txBody>
      </p:sp>
      <p:sp>
        <p:nvSpPr>
          <p:cNvPr id="10" name="TextBox 9">
            <a:extLst>
              <a:ext uri="{FF2B5EF4-FFF2-40B4-BE49-F238E27FC236}">
                <a16:creationId xmlns:a16="http://schemas.microsoft.com/office/drawing/2014/main" id="{9EA55A64-D3DE-84A3-B1EF-3DB5B2362ED9}"/>
              </a:ext>
            </a:extLst>
          </p:cNvPr>
          <p:cNvSpPr txBox="1"/>
          <p:nvPr/>
        </p:nvSpPr>
        <p:spPr bwMode="auto">
          <a:xfrm>
            <a:off x="6555690" y="3687305"/>
            <a:ext cx="1916803" cy="1804493"/>
          </a:xfrm>
          <a:prstGeom prst="ellipse">
            <a:avLst/>
          </a:prstGeom>
          <a:solidFill>
            <a:srgbClr val="4F81BD"/>
          </a:solidFill>
          <a:ln>
            <a:noFill/>
          </a:ln>
          <a:effectLst/>
        </p:spPr>
        <p:txBody>
          <a:bodyPr wrap="none" rtlCol="0" anchor="ctr" anchorCtr="1">
            <a:noAutofit/>
          </a:bodyPr>
          <a:lstStyle/>
          <a:p>
            <a:pPr algn="ctr"/>
            <a:r>
              <a:rPr lang="de-CH" sz="3087">
                <a:solidFill>
                  <a:schemeClr val="bg1"/>
                </a:solidFill>
              </a:rPr>
              <a:t>Schluss-</a:t>
            </a:r>
          </a:p>
          <a:p>
            <a:pPr algn="ctr"/>
            <a:r>
              <a:rPr lang="de-CH" sz="3087" err="1">
                <a:solidFill>
                  <a:schemeClr val="bg1"/>
                </a:solidFill>
              </a:rPr>
              <a:t>folgerung</a:t>
            </a:r>
            <a:endParaRPr lang="en-150" sz="3087">
              <a:solidFill>
                <a:schemeClr val="bg1"/>
              </a:solidFill>
            </a:endParaRPr>
          </a:p>
        </p:txBody>
      </p:sp>
      <p:pic>
        <p:nvPicPr>
          <p:cNvPr id="14" name="Picture 8" descr="Tigatelu #12 Royalty Free Photos, Pictures, Images And Stock Photography">
            <a:extLst>
              <a:ext uri="{FF2B5EF4-FFF2-40B4-BE49-F238E27FC236}">
                <a16:creationId xmlns:a16="http://schemas.microsoft.com/office/drawing/2014/main" id="{3AA1CAB6-45D9-F13C-2A3C-EB388106F2D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889" b="97111" l="2899" r="94783">
                        <a14:foregroundMark x1="53043" y1="9333" x2="53043" y2="9333"/>
                        <a14:foregroundMark x1="51304" y1="3333" x2="51304" y2="3333"/>
                        <a14:foregroundMark x1="10145" y1="40444" x2="10145" y2="40444"/>
                        <a14:foregroundMark x1="19710" y1="46000" x2="19710" y2="46000"/>
                        <a14:foregroundMark x1="25507" y1="48000" x2="25507" y2="48000"/>
                        <a14:foregroundMark x1="21159" y1="46889" x2="35072" y2="50667"/>
                        <a14:foregroundMark x1="3768" y1="40889" x2="3768" y2="40889"/>
                        <a14:foregroundMark x1="61449" y1="57111" x2="68116" y2="79111"/>
                        <a14:foregroundMark x1="68116" y1="79111" x2="68116" y2="81556"/>
                        <a14:foregroundMark x1="59420" y1="54667" x2="80870" y2="67111"/>
                        <a14:foregroundMark x1="95362" y1="71111" x2="95362" y2="71111"/>
                        <a14:foregroundMark x1="36812" y1="69333" x2="36812" y2="69333"/>
                        <a14:foregroundMark x1="38261" y1="65778" x2="32754" y2="86000"/>
                        <a14:foregroundMark x1="56232" y1="32444" x2="57391" y2="30667"/>
                        <a14:foregroundMark x1="36812" y1="29778" x2="43188" y2="30000"/>
                        <a14:foregroundMark x1="68116" y1="96667" x2="68116" y2="96667"/>
                        <a14:foregroundMark x1="31884" y1="97111" x2="31884" y2="97111"/>
                      </a14:backgroundRemoval>
                    </a14:imgEffect>
                  </a14:imgLayer>
                </a14:imgProps>
              </a:ext>
              <a:ext uri="{28A0092B-C50C-407E-A947-70E740481C1C}">
                <a14:useLocalDpi xmlns:a14="http://schemas.microsoft.com/office/drawing/2010/main" val="0"/>
              </a:ext>
            </a:extLst>
          </a:blip>
          <a:srcRect/>
          <a:stretch>
            <a:fillRect/>
          </a:stretch>
        </p:blipFill>
        <p:spPr bwMode="auto">
          <a:xfrm>
            <a:off x="977618" y="3629607"/>
            <a:ext cx="2017192" cy="2631121"/>
          </a:xfrm>
          <a:prstGeom prst="rect">
            <a:avLst/>
          </a:prstGeom>
          <a:noFill/>
          <a:extLst>
            <a:ext uri="{909E8E84-426E-40DD-AFC4-6F175D3DCCD1}">
              <a14:hiddenFill xmlns:a14="http://schemas.microsoft.com/office/drawing/2010/main">
                <a:solidFill>
                  <a:srgbClr val="FFFFFF"/>
                </a:solidFill>
              </a14:hiddenFill>
            </a:ext>
          </a:extLst>
        </p:spPr>
      </p:pic>
      <p:sp>
        <p:nvSpPr>
          <p:cNvPr id="15" name="Freeform: Shape 14">
            <a:extLst>
              <a:ext uri="{FF2B5EF4-FFF2-40B4-BE49-F238E27FC236}">
                <a16:creationId xmlns:a16="http://schemas.microsoft.com/office/drawing/2014/main" id="{3226951B-9838-B3E4-BAA4-E31A46FEC031}"/>
              </a:ext>
            </a:extLst>
          </p:cNvPr>
          <p:cNvSpPr/>
          <p:nvPr/>
        </p:nvSpPr>
        <p:spPr>
          <a:xfrm>
            <a:off x="2130464" y="3473387"/>
            <a:ext cx="1819335" cy="368186"/>
          </a:xfrm>
          <a:custGeom>
            <a:avLst/>
            <a:gdLst>
              <a:gd name="connsiteX0" fmla="*/ 0 w 2040834"/>
              <a:gd name="connsiteY0" fmla="*/ 398639 h 504656"/>
              <a:gd name="connsiteX1" fmla="*/ 715617 w 2040834"/>
              <a:gd name="connsiteY1" fmla="*/ 27578 h 504656"/>
              <a:gd name="connsiteX2" fmla="*/ 1470991 w 2040834"/>
              <a:gd name="connsiteY2" fmla="*/ 80587 h 504656"/>
              <a:gd name="connsiteX3" fmla="*/ 2040834 w 2040834"/>
              <a:gd name="connsiteY3" fmla="*/ 504656 h 504656"/>
            </a:gdLst>
            <a:ahLst/>
            <a:cxnLst>
              <a:cxn ang="0">
                <a:pos x="connsiteX0" y="connsiteY0"/>
              </a:cxn>
              <a:cxn ang="0">
                <a:pos x="connsiteX1" y="connsiteY1"/>
              </a:cxn>
              <a:cxn ang="0">
                <a:pos x="connsiteX2" y="connsiteY2"/>
              </a:cxn>
              <a:cxn ang="0">
                <a:pos x="connsiteX3" y="connsiteY3"/>
              </a:cxn>
            </a:cxnLst>
            <a:rect l="l" t="t" r="r" b="b"/>
            <a:pathLst>
              <a:path w="2040834" h="504656">
                <a:moveTo>
                  <a:pt x="0" y="398639"/>
                </a:moveTo>
                <a:cubicBezTo>
                  <a:pt x="235226" y="239613"/>
                  <a:pt x="470452" y="80587"/>
                  <a:pt x="715617" y="27578"/>
                </a:cubicBezTo>
                <a:cubicBezTo>
                  <a:pt x="960782" y="-25431"/>
                  <a:pt x="1250122" y="1074"/>
                  <a:pt x="1470991" y="80587"/>
                </a:cubicBezTo>
                <a:cubicBezTo>
                  <a:pt x="1691861" y="160100"/>
                  <a:pt x="1866347" y="332378"/>
                  <a:pt x="2040834" y="504656"/>
                </a:cubicBezTo>
              </a:path>
            </a:pathLst>
          </a:custGeom>
          <a:noFill/>
          <a:ln w="57150">
            <a:solidFill>
              <a:schemeClr val="tx2"/>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sz="2315"/>
          </a:p>
        </p:txBody>
      </p:sp>
      <p:sp>
        <p:nvSpPr>
          <p:cNvPr id="32" name="Arrow: Right 31">
            <a:extLst>
              <a:ext uri="{FF2B5EF4-FFF2-40B4-BE49-F238E27FC236}">
                <a16:creationId xmlns:a16="http://schemas.microsoft.com/office/drawing/2014/main" id="{7B25C7A6-77B1-408B-982B-93B1F5765876}"/>
              </a:ext>
            </a:extLst>
          </p:cNvPr>
          <p:cNvSpPr/>
          <p:nvPr/>
        </p:nvSpPr>
        <p:spPr>
          <a:xfrm>
            <a:off x="8828739" y="4183850"/>
            <a:ext cx="981382" cy="371042"/>
          </a:xfrm>
          <a:prstGeom prst="rightArrow">
            <a:avLst/>
          </a:prstGeom>
          <a:solidFill>
            <a:srgbClr val="4472C4"/>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sz="2099"/>
          </a:p>
        </p:txBody>
      </p:sp>
      <p:sp>
        <p:nvSpPr>
          <p:cNvPr id="35" name="TextBox 34">
            <a:extLst>
              <a:ext uri="{FF2B5EF4-FFF2-40B4-BE49-F238E27FC236}">
                <a16:creationId xmlns:a16="http://schemas.microsoft.com/office/drawing/2014/main" id="{05828CB5-5D9D-6CBD-A526-BCB0EB6F2000}"/>
              </a:ext>
            </a:extLst>
          </p:cNvPr>
          <p:cNvSpPr txBox="1"/>
          <p:nvPr/>
        </p:nvSpPr>
        <p:spPr>
          <a:xfrm>
            <a:off x="10100685" y="2312582"/>
            <a:ext cx="756617" cy="276999"/>
          </a:xfrm>
          <a:prstGeom prst="rect">
            <a:avLst/>
          </a:prstGeom>
          <a:noFill/>
        </p:spPr>
        <p:txBody>
          <a:bodyPr wrap="none" lIns="0" tIns="0" rIns="0" bIns="0" rtlCol="0">
            <a:spAutoFit/>
          </a:bodyPr>
          <a:lstStyle/>
          <a:p>
            <a:r>
              <a:rPr lang="de-CH" dirty="0"/>
              <a:t>Lösung</a:t>
            </a:r>
            <a:endParaRPr lang="en-GB" dirty="0"/>
          </a:p>
        </p:txBody>
      </p:sp>
      <p:pic>
        <p:nvPicPr>
          <p:cNvPr id="4" name="Picture 6" descr="Cartoon Physician Comics, Caricature cartoon character ,Cartoon Doctor,  cartoon Character, child, hand png | PNGWing">
            <a:extLst>
              <a:ext uri="{FF2B5EF4-FFF2-40B4-BE49-F238E27FC236}">
                <a16:creationId xmlns:a16="http://schemas.microsoft.com/office/drawing/2014/main" id="{735061AD-705D-5EEE-5C32-E74BCCEC4214}"/>
              </a:ext>
            </a:extLst>
          </p:cNvPr>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9455" b="89904" l="10000" r="90000">
                        <a14:foregroundMark x1="41413" y1="40545" x2="41413" y2="40545"/>
                        <a14:foregroundMark x1="58370" y1="35577" x2="58370" y2="35577"/>
                        <a14:foregroundMark x1="57500" y1="35577" x2="57500" y2="35577"/>
                        <a14:foregroundMark x1="55761" y1="33494" x2="55761" y2="33494"/>
                        <a14:foregroundMark x1="49783" y1="80769" x2="49783" y2="80769"/>
                        <a14:foregroundMark x1="48261" y1="88462" x2="48261" y2="88462"/>
                        <a14:foregroundMark x1="53370" y1="9455" x2="53370" y2="9455"/>
                        <a14:foregroundMark x1="47065" y1="36699" x2="47065" y2="36699"/>
                        <a14:backgroundMark x1="46087" y1="49679" x2="46087" y2="49679"/>
                        <a14:backgroundMark x1="39891" y1="47596" x2="39891" y2="47596"/>
                        <a14:backgroundMark x1="46413" y1="47596" x2="46413" y2="47596"/>
                      </a14:backgroundRemoval>
                    </a14:imgEffect>
                  </a14:imgLayer>
                </a14:imgProps>
              </a:ext>
              <a:ext uri="{28A0092B-C50C-407E-A947-70E740481C1C}">
                <a14:useLocalDpi xmlns:a14="http://schemas.microsoft.com/office/drawing/2010/main" val="0"/>
              </a:ext>
            </a:extLst>
          </a:blip>
          <a:srcRect l="36729" t="5017" r="37864" b="6912"/>
          <a:stretch/>
        </p:blipFill>
        <p:spPr bwMode="auto">
          <a:xfrm>
            <a:off x="10008353" y="4272749"/>
            <a:ext cx="883791" cy="207796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close up of a light&#10;&#10;Description automatically generated">
            <a:extLst>
              <a:ext uri="{FF2B5EF4-FFF2-40B4-BE49-F238E27FC236}">
                <a16:creationId xmlns:a16="http://schemas.microsoft.com/office/drawing/2014/main" id="{1DAC8C6E-B398-ED94-D14C-200E04E58D95}"/>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3285" t="9362" r="27095" b="14391"/>
          <a:stretch/>
        </p:blipFill>
        <p:spPr>
          <a:xfrm>
            <a:off x="9611888" y="2541063"/>
            <a:ext cx="1734212" cy="1775874"/>
          </a:xfrm>
          <a:prstGeom prst="ellipse">
            <a:avLst/>
          </a:prstGeom>
          <a:ln>
            <a:noFill/>
          </a:ln>
          <a:effectLst>
            <a:softEdge rad="112500"/>
          </a:effectLst>
        </p:spPr>
      </p:pic>
      <p:sp>
        <p:nvSpPr>
          <p:cNvPr id="11" name="TextBox 10">
            <a:extLst>
              <a:ext uri="{FF2B5EF4-FFF2-40B4-BE49-F238E27FC236}">
                <a16:creationId xmlns:a16="http://schemas.microsoft.com/office/drawing/2014/main" id="{6CCAC9D5-86FF-473B-9712-368E06B16B62}"/>
              </a:ext>
            </a:extLst>
          </p:cNvPr>
          <p:cNvSpPr txBox="1"/>
          <p:nvPr/>
        </p:nvSpPr>
        <p:spPr bwMode="auto">
          <a:xfrm>
            <a:off x="10706015" y="3849441"/>
            <a:ext cx="908412" cy="705451"/>
          </a:xfrm>
          <a:prstGeom prst="wedgeEllipseCallout">
            <a:avLst>
              <a:gd name="adj1" fmla="val -50129"/>
              <a:gd name="adj2" fmla="val 58865"/>
            </a:avLst>
          </a:prstGeom>
          <a:solidFill>
            <a:srgbClr val="FFFFCC"/>
          </a:solidFill>
          <a:ln>
            <a:noFill/>
          </a:ln>
          <a:effectLst/>
        </p:spPr>
        <p:txBody>
          <a:bodyPr wrap="none" lIns="0" tIns="0" rIns="0" bIns="0" rtlCol="0">
            <a:spAutoFit/>
          </a:bodyPr>
          <a:lstStyle/>
          <a:p>
            <a:pPr algn="ctr">
              <a:lnSpc>
                <a:spcPct val="80000"/>
              </a:lnSpc>
            </a:pPr>
            <a:r>
              <a:rPr lang="de-CH" sz="2800" b="1" dirty="0">
                <a:solidFill>
                  <a:srgbClr val="002060"/>
                </a:solidFill>
                <a:latin typeface="Segoe Print" panose="02000600000000000000" pitchFamily="2" charset="0"/>
              </a:rPr>
              <a:t>?</a:t>
            </a:r>
          </a:p>
          <a:p>
            <a:pPr algn="ctr">
              <a:lnSpc>
                <a:spcPct val="80000"/>
              </a:lnSpc>
            </a:pPr>
            <a:r>
              <a:rPr lang="de-CH" sz="1200" dirty="0">
                <a:solidFill>
                  <a:srgbClr val="002060"/>
                </a:solidFill>
                <a:latin typeface="Segoe Print" panose="02000600000000000000" pitchFamily="2" charset="0"/>
              </a:rPr>
              <a:t>Problem</a:t>
            </a:r>
            <a:endParaRPr lang="en-150" sz="1600" dirty="0" err="1">
              <a:solidFill>
                <a:srgbClr val="002060"/>
              </a:solidFill>
              <a:latin typeface="Segoe Print" panose="02000600000000000000" pitchFamily="2" charset="0"/>
            </a:endParaRPr>
          </a:p>
        </p:txBody>
      </p:sp>
    </p:spTree>
    <p:extLst>
      <p:ext uri="{BB962C8B-B14F-4D97-AF65-F5344CB8AC3E}">
        <p14:creationId xmlns:p14="http://schemas.microsoft.com/office/powerpoint/2010/main" val="3765229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5" grpId="0" animBg="1"/>
      <p:bldP spid="32" grpId="0" animBg="1"/>
      <p:bldP spid="35"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34E35-5D15-46E3-F266-D225F0FD5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3557D-A440-9AFE-C851-1892C8581D0F}"/>
              </a:ext>
            </a:extLst>
          </p:cNvPr>
          <p:cNvSpPr>
            <a:spLocks noGrp="1"/>
          </p:cNvSpPr>
          <p:nvPr>
            <p:ph type="title"/>
          </p:nvPr>
        </p:nvSpPr>
        <p:spPr/>
        <p:txBody>
          <a:bodyPr/>
          <a:lstStyle/>
          <a:p>
            <a:r>
              <a:rPr lang="en-US" dirty="0"/>
              <a:t>KI </a:t>
            </a:r>
            <a:r>
              <a:rPr lang="en-US" dirty="0" err="1"/>
              <a:t>ist</a:t>
            </a:r>
            <a:r>
              <a:rPr lang="en-US" dirty="0"/>
              <a:t> </a:t>
            </a:r>
            <a:r>
              <a:rPr lang="en-US" dirty="0" err="1"/>
              <a:t>mehr</a:t>
            </a:r>
            <a:r>
              <a:rPr lang="en-US" dirty="0"/>
              <a:t> </a:t>
            </a:r>
            <a:r>
              <a:rPr lang="en-US" dirty="0" err="1"/>
              <a:t>als</a:t>
            </a:r>
            <a:r>
              <a:rPr lang="en-US" dirty="0"/>
              <a:t> ChatGPT und CoPilot</a:t>
            </a:r>
            <a:endParaRPr lang="en-CH" dirty="0"/>
          </a:p>
        </p:txBody>
      </p:sp>
      <p:sp>
        <p:nvSpPr>
          <p:cNvPr id="3" name="Text Placeholder 2">
            <a:extLst>
              <a:ext uri="{FF2B5EF4-FFF2-40B4-BE49-F238E27FC236}">
                <a16:creationId xmlns:a16="http://schemas.microsoft.com/office/drawing/2014/main" id="{C2914F0E-5C89-39DA-4195-BBA93866D9C2}"/>
              </a:ext>
            </a:extLst>
          </p:cNvPr>
          <p:cNvSpPr>
            <a:spLocks noGrp="1"/>
          </p:cNvSpPr>
          <p:nvPr>
            <p:ph type="body" sz="quarter" idx="13"/>
          </p:nvPr>
        </p:nvSpPr>
        <p:spPr/>
        <p:txBody>
          <a:bodyPr/>
          <a:lstStyle/>
          <a:p>
            <a:endParaRPr lang="en-CH"/>
          </a:p>
        </p:txBody>
      </p:sp>
      <p:sp>
        <p:nvSpPr>
          <p:cNvPr id="4" name="Sechseck 40">
            <a:extLst>
              <a:ext uri="{FF2B5EF4-FFF2-40B4-BE49-F238E27FC236}">
                <a16:creationId xmlns:a16="http://schemas.microsoft.com/office/drawing/2014/main" id="{F192C03E-C922-5851-A637-5B92C9CA04F7}"/>
              </a:ext>
            </a:extLst>
          </p:cNvPr>
          <p:cNvSpPr/>
          <p:nvPr/>
        </p:nvSpPr>
        <p:spPr>
          <a:xfrm>
            <a:off x="3362738" y="1738696"/>
            <a:ext cx="5356998" cy="963516"/>
          </a:xfrm>
          <a:custGeom>
            <a:avLst/>
            <a:gdLst>
              <a:gd name="connsiteX0" fmla="*/ 0 w 5356998"/>
              <a:gd name="connsiteY0" fmla="*/ 481758 h 963516"/>
              <a:gd name="connsiteX1" fmla="*/ 279362 w 5356998"/>
              <a:gd name="connsiteY1" fmla="*/ 0 h 963516"/>
              <a:gd name="connsiteX2" fmla="*/ 735198 w 5356998"/>
              <a:gd name="connsiteY2" fmla="*/ 0 h 963516"/>
              <a:gd name="connsiteX3" fmla="*/ 1287000 w 5356998"/>
              <a:gd name="connsiteY3" fmla="*/ 0 h 963516"/>
              <a:gd name="connsiteX4" fmla="*/ 1982749 w 5356998"/>
              <a:gd name="connsiteY4" fmla="*/ 0 h 963516"/>
              <a:gd name="connsiteX5" fmla="*/ 2438585 w 5356998"/>
              <a:gd name="connsiteY5" fmla="*/ 0 h 963516"/>
              <a:gd name="connsiteX6" fmla="*/ 3134335 w 5356998"/>
              <a:gd name="connsiteY6" fmla="*/ 0 h 963516"/>
              <a:gd name="connsiteX7" fmla="*/ 3638154 w 5356998"/>
              <a:gd name="connsiteY7" fmla="*/ 0 h 963516"/>
              <a:gd name="connsiteX8" fmla="*/ 4141973 w 5356998"/>
              <a:gd name="connsiteY8" fmla="*/ 0 h 963516"/>
              <a:gd name="connsiteX9" fmla="*/ 5077636 w 5356998"/>
              <a:gd name="connsiteY9" fmla="*/ 0 h 963516"/>
              <a:gd name="connsiteX10" fmla="*/ 5356998 w 5356998"/>
              <a:gd name="connsiteY10" fmla="*/ 481758 h 963516"/>
              <a:gd name="connsiteX11" fmla="*/ 5077636 w 5356998"/>
              <a:gd name="connsiteY11" fmla="*/ 963516 h 963516"/>
              <a:gd name="connsiteX12" fmla="*/ 4525834 w 5356998"/>
              <a:gd name="connsiteY12" fmla="*/ 963516 h 963516"/>
              <a:gd name="connsiteX13" fmla="*/ 3830085 w 5356998"/>
              <a:gd name="connsiteY13" fmla="*/ 963516 h 963516"/>
              <a:gd name="connsiteX14" fmla="*/ 3278283 w 5356998"/>
              <a:gd name="connsiteY14" fmla="*/ 963516 h 963516"/>
              <a:gd name="connsiteX15" fmla="*/ 2726482 w 5356998"/>
              <a:gd name="connsiteY15" fmla="*/ 963516 h 963516"/>
              <a:gd name="connsiteX16" fmla="*/ 2270646 w 5356998"/>
              <a:gd name="connsiteY16" fmla="*/ 963516 h 963516"/>
              <a:gd name="connsiteX17" fmla="*/ 1574896 w 5356998"/>
              <a:gd name="connsiteY17" fmla="*/ 963516 h 963516"/>
              <a:gd name="connsiteX18" fmla="*/ 1023094 w 5356998"/>
              <a:gd name="connsiteY18" fmla="*/ 963516 h 963516"/>
              <a:gd name="connsiteX19" fmla="*/ 279362 w 5356998"/>
              <a:gd name="connsiteY19" fmla="*/ 963516 h 963516"/>
              <a:gd name="connsiteX20" fmla="*/ 0 w 5356998"/>
              <a:gd name="connsiteY20" fmla="*/ 481758 h 963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356998" h="963516" fill="none" extrusionOk="0">
                <a:moveTo>
                  <a:pt x="0" y="481758"/>
                </a:moveTo>
                <a:cubicBezTo>
                  <a:pt x="42076" y="331389"/>
                  <a:pt x="152794" y="233720"/>
                  <a:pt x="279362" y="0"/>
                </a:cubicBezTo>
                <a:cubicBezTo>
                  <a:pt x="480863" y="-19969"/>
                  <a:pt x="540053" y="51695"/>
                  <a:pt x="735198" y="0"/>
                </a:cubicBezTo>
                <a:cubicBezTo>
                  <a:pt x="930343" y="-51695"/>
                  <a:pt x="1016316" y="37236"/>
                  <a:pt x="1287000" y="0"/>
                </a:cubicBezTo>
                <a:cubicBezTo>
                  <a:pt x="1557684" y="-37236"/>
                  <a:pt x="1697784" y="49696"/>
                  <a:pt x="1982749" y="0"/>
                </a:cubicBezTo>
                <a:cubicBezTo>
                  <a:pt x="2267714" y="-49696"/>
                  <a:pt x="2214720" y="24547"/>
                  <a:pt x="2438585" y="0"/>
                </a:cubicBezTo>
                <a:cubicBezTo>
                  <a:pt x="2662450" y="-24547"/>
                  <a:pt x="2802692" y="66712"/>
                  <a:pt x="3134335" y="0"/>
                </a:cubicBezTo>
                <a:cubicBezTo>
                  <a:pt x="3465978" y="-66712"/>
                  <a:pt x="3419069" y="37655"/>
                  <a:pt x="3638154" y="0"/>
                </a:cubicBezTo>
                <a:cubicBezTo>
                  <a:pt x="3857239" y="-37655"/>
                  <a:pt x="3932214" y="20223"/>
                  <a:pt x="4141973" y="0"/>
                </a:cubicBezTo>
                <a:cubicBezTo>
                  <a:pt x="4351732" y="-20223"/>
                  <a:pt x="4686421" y="26071"/>
                  <a:pt x="5077636" y="0"/>
                </a:cubicBezTo>
                <a:cubicBezTo>
                  <a:pt x="5191345" y="128845"/>
                  <a:pt x="5203698" y="310582"/>
                  <a:pt x="5356998" y="481758"/>
                </a:cubicBezTo>
                <a:cubicBezTo>
                  <a:pt x="5313816" y="651744"/>
                  <a:pt x="5157342" y="740116"/>
                  <a:pt x="5077636" y="963516"/>
                </a:cubicBezTo>
                <a:cubicBezTo>
                  <a:pt x="4912194" y="964908"/>
                  <a:pt x="4720489" y="960804"/>
                  <a:pt x="4525834" y="963516"/>
                </a:cubicBezTo>
                <a:cubicBezTo>
                  <a:pt x="4331179" y="966228"/>
                  <a:pt x="3999075" y="916859"/>
                  <a:pt x="3830085" y="963516"/>
                </a:cubicBezTo>
                <a:cubicBezTo>
                  <a:pt x="3661095" y="1010173"/>
                  <a:pt x="3478466" y="951857"/>
                  <a:pt x="3278283" y="963516"/>
                </a:cubicBezTo>
                <a:cubicBezTo>
                  <a:pt x="3078100" y="975175"/>
                  <a:pt x="2934100" y="910849"/>
                  <a:pt x="2726482" y="963516"/>
                </a:cubicBezTo>
                <a:cubicBezTo>
                  <a:pt x="2518864" y="1016183"/>
                  <a:pt x="2452223" y="950362"/>
                  <a:pt x="2270646" y="963516"/>
                </a:cubicBezTo>
                <a:cubicBezTo>
                  <a:pt x="2089069" y="976670"/>
                  <a:pt x="1917149" y="951660"/>
                  <a:pt x="1574896" y="963516"/>
                </a:cubicBezTo>
                <a:cubicBezTo>
                  <a:pt x="1232643" y="975372"/>
                  <a:pt x="1214448" y="936617"/>
                  <a:pt x="1023094" y="963516"/>
                </a:cubicBezTo>
                <a:cubicBezTo>
                  <a:pt x="831740" y="990415"/>
                  <a:pt x="439193" y="885354"/>
                  <a:pt x="279362" y="963516"/>
                </a:cubicBezTo>
                <a:cubicBezTo>
                  <a:pt x="166365" y="807964"/>
                  <a:pt x="87048" y="570129"/>
                  <a:pt x="0" y="481758"/>
                </a:cubicBezTo>
                <a:close/>
              </a:path>
              <a:path w="5356998" h="963516" stroke="0" extrusionOk="0">
                <a:moveTo>
                  <a:pt x="0" y="481758"/>
                </a:moveTo>
                <a:cubicBezTo>
                  <a:pt x="47999" y="271145"/>
                  <a:pt x="176315" y="187602"/>
                  <a:pt x="279362" y="0"/>
                </a:cubicBezTo>
                <a:cubicBezTo>
                  <a:pt x="470843" y="-19913"/>
                  <a:pt x="631284" y="12017"/>
                  <a:pt x="783181" y="0"/>
                </a:cubicBezTo>
                <a:cubicBezTo>
                  <a:pt x="935078" y="-12017"/>
                  <a:pt x="1184420" y="14336"/>
                  <a:pt x="1287000" y="0"/>
                </a:cubicBezTo>
                <a:cubicBezTo>
                  <a:pt x="1389580" y="-14336"/>
                  <a:pt x="1618751" y="38406"/>
                  <a:pt x="1742836" y="0"/>
                </a:cubicBezTo>
                <a:cubicBezTo>
                  <a:pt x="1866921" y="-38406"/>
                  <a:pt x="2001922" y="26893"/>
                  <a:pt x="2246654" y="0"/>
                </a:cubicBezTo>
                <a:cubicBezTo>
                  <a:pt x="2491386" y="-26893"/>
                  <a:pt x="2713713" y="30127"/>
                  <a:pt x="2894421" y="0"/>
                </a:cubicBezTo>
                <a:cubicBezTo>
                  <a:pt x="3075129" y="-30127"/>
                  <a:pt x="3234458" y="12452"/>
                  <a:pt x="3398240" y="0"/>
                </a:cubicBezTo>
                <a:cubicBezTo>
                  <a:pt x="3562022" y="-12452"/>
                  <a:pt x="3693907" y="30053"/>
                  <a:pt x="3854076" y="0"/>
                </a:cubicBezTo>
                <a:cubicBezTo>
                  <a:pt x="4014245" y="-30053"/>
                  <a:pt x="4406879" y="81365"/>
                  <a:pt x="4549826" y="0"/>
                </a:cubicBezTo>
                <a:cubicBezTo>
                  <a:pt x="4692773" y="-81365"/>
                  <a:pt x="4813799" y="40264"/>
                  <a:pt x="5077636" y="0"/>
                </a:cubicBezTo>
                <a:cubicBezTo>
                  <a:pt x="5184360" y="150183"/>
                  <a:pt x="5212173" y="352068"/>
                  <a:pt x="5356998" y="481758"/>
                </a:cubicBezTo>
                <a:cubicBezTo>
                  <a:pt x="5317342" y="678386"/>
                  <a:pt x="5163354" y="778696"/>
                  <a:pt x="5077636" y="963516"/>
                </a:cubicBezTo>
                <a:cubicBezTo>
                  <a:pt x="4952121" y="970470"/>
                  <a:pt x="4805710" y="948712"/>
                  <a:pt x="4573817" y="963516"/>
                </a:cubicBezTo>
                <a:cubicBezTo>
                  <a:pt x="4341924" y="978320"/>
                  <a:pt x="4235864" y="925086"/>
                  <a:pt x="4069998" y="963516"/>
                </a:cubicBezTo>
                <a:cubicBezTo>
                  <a:pt x="3904132" y="1001946"/>
                  <a:pt x="3573642" y="910687"/>
                  <a:pt x="3422231" y="963516"/>
                </a:cubicBezTo>
                <a:cubicBezTo>
                  <a:pt x="3270820" y="1016345"/>
                  <a:pt x="3080049" y="906930"/>
                  <a:pt x="2822447" y="963516"/>
                </a:cubicBezTo>
                <a:cubicBezTo>
                  <a:pt x="2564845" y="1020102"/>
                  <a:pt x="2423360" y="939637"/>
                  <a:pt x="2270646" y="963516"/>
                </a:cubicBezTo>
                <a:cubicBezTo>
                  <a:pt x="2117932" y="987395"/>
                  <a:pt x="1943775" y="907730"/>
                  <a:pt x="1766827" y="963516"/>
                </a:cubicBezTo>
                <a:cubicBezTo>
                  <a:pt x="1589879" y="1019302"/>
                  <a:pt x="1356055" y="951209"/>
                  <a:pt x="1167043" y="963516"/>
                </a:cubicBezTo>
                <a:cubicBezTo>
                  <a:pt x="978031" y="975823"/>
                  <a:pt x="604474" y="879068"/>
                  <a:pt x="279362" y="963516"/>
                </a:cubicBezTo>
                <a:cubicBezTo>
                  <a:pt x="182721" y="798040"/>
                  <a:pt x="94004" y="614804"/>
                  <a:pt x="0" y="481758"/>
                </a:cubicBezTo>
                <a:close/>
              </a:path>
            </a:pathLst>
          </a:custGeom>
          <a:solidFill>
            <a:srgbClr val="F8E899">
              <a:alpha val="50000"/>
            </a:srgbClr>
          </a:solidFill>
          <a:ln w="12700">
            <a:solidFill>
              <a:schemeClr val="tx1"/>
            </a:solidFill>
            <a:extLst>
              <a:ext uri="{C807C97D-BFC1-408E-A445-0C87EB9F89A2}">
                <ask:lineSketchStyleProps xmlns:ask="http://schemas.microsoft.com/office/drawing/2018/sketchyshapes" sd="3184039405">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5" name="Sechseck 41">
            <a:extLst>
              <a:ext uri="{FF2B5EF4-FFF2-40B4-BE49-F238E27FC236}">
                <a16:creationId xmlns:a16="http://schemas.microsoft.com/office/drawing/2014/main" id="{03499DFB-AF49-A295-2638-FAD1A40B6C4E}"/>
              </a:ext>
            </a:extLst>
          </p:cNvPr>
          <p:cNvSpPr/>
          <p:nvPr/>
        </p:nvSpPr>
        <p:spPr>
          <a:xfrm>
            <a:off x="4902315" y="1278167"/>
            <a:ext cx="2164235" cy="1871906"/>
          </a:xfrm>
          <a:custGeom>
            <a:avLst/>
            <a:gdLst>
              <a:gd name="connsiteX0" fmla="*/ 0 w 2164235"/>
              <a:gd name="connsiteY0" fmla="*/ 935953 h 1871906"/>
              <a:gd name="connsiteX1" fmla="*/ 276797 w 2164235"/>
              <a:gd name="connsiteY1" fmla="*/ 458617 h 1871906"/>
              <a:gd name="connsiteX2" fmla="*/ 542740 w 2164235"/>
              <a:gd name="connsiteY2" fmla="*/ 0 h 1871906"/>
              <a:gd name="connsiteX3" fmla="*/ 1092905 w 2164235"/>
              <a:gd name="connsiteY3" fmla="*/ 0 h 1871906"/>
              <a:gd name="connsiteX4" fmla="*/ 1621495 w 2164235"/>
              <a:gd name="connsiteY4" fmla="*/ 0 h 1871906"/>
              <a:gd name="connsiteX5" fmla="*/ 1882010 w 2164235"/>
              <a:gd name="connsiteY5" fmla="*/ 449257 h 1871906"/>
              <a:gd name="connsiteX6" fmla="*/ 2164235 w 2164235"/>
              <a:gd name="connsiteY6" fmla="*/ 935953 h 1871906"/>
              <a:gd name="connsiteX7" fmla="*/ 1898292 w 2164235"/>
              <a:gd name="connsiteY7" fmla="*/ 1394570 h 1871906"/>
              <a:gd name="connsiteX8" fmla="*/ 1621495 w 2164235"/>
              <a:gd name="connsiteY8" fmla="*/ 1871906 h 1871906"/>
              <a:gd name="connsiteX9" fmla="*/ 1114480 w 2164235"/>
              <a:gd name="connsiteY9" fmla="*/ 1871906 h 1871906"/>
              <a:gd name="connsiteX10" fmla="*/ 542740 w 2164235"/>
              <a:gd name="connsiteY10" fmla="*/ 1871906 h 1871906"/>
              <a:gd name="connsiteX11" fmla="*/ 265943 w 2164235"/>
              <a:gd name="connsiteY11" fmla="*/ 1394570 h 1871906"/>
              <a:gd name="connsiteX12" fmla="*/ 0 w 2164235"/>
              <a:gd name="connsiteY12" fmla="*/ 935953 h 187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64235" h="1871906" fill="none" extrusionOk="0">
                <a:moveTo>
                  <a:pt x="0" y="935953"/>
                </a:moveTo>
                <a:cubicBezTo>
                  <a:pt x="126113" y="693408"/>
                  <a:pt x="174205" y="675278"/>
                  <a:pt x="276797" y="458617"/>
                </a:cubicBezTo>
                <a:cubicBezTo>
                  <a:pt x="379389" y="241956"/>
                  <a:pt x="497801" y="157896"/>
                  <a:pt x="542740" y="0"/>
                </a:cubicBezTo>
                <a:cubicBezTo>
                  <a:pt x="808662" y="-16400"/>
                  <a:pt x="828163" y="38065"/>
                  <a:pt x="1092905" y="0"/>
                </a:cubicBezTo>
                <a:cubicBezTo>
                  <a:pt x="1357647" y="-38065"/>
                  <a:pt x="1514906" y="4895"/>
                  <a:pt x="1621495" y="0"/>
                </a:cubicBezTo>
                <a:cubicBezTo>
                  <a:pt x="1696348" y="77008"/>
                  <a:pt x="1714118" y="268174"/>
                  <a:pt x="1882010" y="449257"/>
                </a:cubicBezTo>
                <a:cubicBezTo>
                  <a:pt x="2049902" y="630341"/>
                  <a:pt x="2010209" y="785327"/>
                  <a:pt x="2164235" y="935953"/>
                </a:cubicBezTo>
                <a:cubicBezTo>
                  <a:pt x="2056053" y="1148368"/>
                  <a:pt x="1941672" y="1251600"/>
                  <a:pt x="1898292" y="1394570"/>
                </a:cubicBezTo>
                <a:cubicBezTo>
                  <a:pt x="1854912" y="1537540"/>
                  <a:pt x="1753339" y="1634534"/>
                  <a:pt x="1621495" y="1871906"/>
                </a:cubicBezTo>
                <a:cubicBezTo>
                  <a:pt x="1420686" y="1932014"/>
                  <a:pt x="1354070" y="1833878"/>
                  <a:pt x="1114480" y="1871906"/>
                </a:cubicBezTo>
                <a:cubicBezTo>
                  <a:pt x="874891" y="1909934"/>
                  <a:pt x="793139" y="1815941"/>
                  <a:pt x="542740" y="1871906"/>
                </a:cubicBezTo>
                <a:cubicBezTo>
                  <a:pt x="435187" y="1738407"/>
                  <a:pt x="390190" y="1580569"/>
                  <a:pt x="265943" y="1394570"/>
                </a:cubicBezTo>
                <a:cubicBezTo>
                  <a:pt x="141695" y="1208571"/>
                  <a:pt x="89667" y="1082206"/>
                  <a:pt x="0" y="935953"/>
                </a:cubicBezTo>
                <a:close/>
              </a:path>
              <a:path w="2164235" h="1871906" stroke="0" extrusionOk="0">
                <a:moveTo>
                  <a:pt x="0" y="935953"/>
                </a:moveTo>
                <a:cubicBezTo>
                  <a:pt x="80814" y="749983"/>
                  <a:pt x="192264" y="673110"/>
                  <a:pt x="255088" y="496055"/>
                </a:cubicBezTo>
                <a:cubicBezTo>
                  <a:pt x="317911" y="319000"/>
                  <a:pt x="495105" y="152258"/>
                  <a:pt x="542740" y="0"/>
                </a:cubicBezTo>
                <a:cubicBezTo>
                  <a:pt x="817344" y="-20152"/>
                  <a:pt x="852521" y="47466"/>
                  <a:pt x="1103693" y="0"/>
                </a:cubicBezTo>
                <a:cubicBezTo>
                  <a:pt x="1354865" y="-47466"/>
                  <a:pt x="1369884" y="12875"/>
                  <a:pt x="1621495" y="0"/>
                </a:cubicBezTo>
                <a:cubicBezTo>
                  <a:pt x="1767999" y="161134"/>
                  <a:pt x="1799650" y="357488"/>
                  <a:pt x="1903720" y="486696"/>
                </a:cubicBezTo>
                <a:cubicBezTo>
                  <a:pt x="2007790" y="615904"/>
                  <a:pt x="2069717" y="849638"/>
                  <a:pt x="2164235" y="935953"/>
                </a:cubicBezTo>
                <a:cubicBezTo>
                  <a:pt x="2080702" y="1088751"/>
                  <a:pt x="1990787" y="1143059"/>
                  <a:pt x="1898292" y="1394570"/>
                </a:cubicBezTo>
                <a:cubicBezTo>
                  <a:pt x="1805797" y="1646081"/>
                  <a:pt x="1711378" y="1628821"/>
                  <a:pt x="1621495" y="1871906"/>
                </a:cubicBezTo>
                <a:cubicBezTo>
                  <a:pt x="1461758" y="1907069"/>
                  <a:pt x="1286499" y="1842373"/>
                  <a:pt x="1092905" y="1871906"/>
                </a:cubicBezTo>
                <a:cubicBezTo>
                  <a:pt x="899311" y="1901439"/>
                  <a:pt x="750042" y="1823251"/>
                  <a:pt x="542740" y="1871906"/>
                </a:cubicBezTo>
                <a:cubicBezTo>
                  <a:pt x="427716" y="1792968"/>
                  <a:pt x="404252" y="1572536"/>
                  <a:pt x="276797" y="1413289"/>
                </a:cubicBezTo>
                <a:cubicBezTo>
                  <a:pt x="149343" y="1254042"/>
                  <a:pt x="123012" y="1066868"/>
                  <a:pt x="0" y="935953"/>
                </a:cubicBezTo>
                <a:close/>
              </a:path>
            </a:pathLst>
          </a:custGeom>
          <a:solidFill>
            <a:srgbClr val="B1D8BC">
              <a:alpha val="50000"/>
            </a:srgbClr>
          </a:solidFill>
          <a:ln w="12700">
            <a:solidFill>
              <a:schemeClr val="tx1"/>
            </a:solidFill>
            <a:extLst>
              <a:ext uri="{C807C97D-BFC1-408E-A445-0C87EB9F89A2}">
                <ask:lineSketchStyleProps xmlns:ask="http://schemas.microsoft.com/office/drawing/2018/sketchyshapes" sd="1825056982">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6" name="Sechseck 42">
            <a:extLst>
              <a:ext uri="{FF2B5EF4-FFF2-40B4-BE49-F238E27FC236}">
                <a16:creationId xmlns:a16="http://schemas.microsoft.com/office/drawing/2014/main" id="{D0699916-8954-D35C-D321-11D091B25EF6}"/>
              </a:ext>
            </a:extLst>
          </p:cNvPr>
          <p:cNvSpPr/>
          <p:nvPr/>
        </p:nvSpPr>
        <p:spPr>
          <a:xfrm>
            <a:off x="3479752" y="2221256"/>
            <a:ext cx="2968109" cy="2567197"/>
          </a:xfrm>
          <a:custGeom>
            <a:avLst/>
            <a:gdLst>
              <a:gd name="connsiteX0" fmla="*/ 0 w 2968109"/>
              <a:gd name="connsiteY0" fmla="*/ 1283599 h 2567197"/>
              <a:gd name="connsiteX1" fmla="*/ 248111 w 2968109"/>
              <a:gd name="connsiteY1" fmla="*/ 855733 h 2567197"/>
              <a:gd name="connsiteX2" fmla="*/ 511109 w 2968109"/>
              <a:gd name="connsiteY2" fmla="*/ 402195 h 2567197"/>
              <a:gd name="connsiteX3" fmla="*/ 744333 w 2968109"/>
              <a:gd name="connsiteY3" fmla="*/ 1 h 2567197"/>
              <a:gd name="connsiteX4" fmla="*/ 1207892 w 2968109"/>
              <a:gd name="connsiteY4" fmla="*/ 1 h 2567197"/>
              <a:gd name="connsiteX5" fmla="*/ 1701039 w 2968109"/>
              <a:gd name="connsiteY5" fmla="*/ 1 h 2567197"/>
              <a:gd name="connsiteX6" fmla="*/ 2223776 w 2968109"/>
              <a:gd name="connsiteY6" fmla="*/ 1 h 2567197"/>
              <a:gd name="connsiteX7" fmla="*/ 2479330 w 2968109"/>
              <a:gd name="connsiteY7" fmla="*/ 440703 h 2567197"/>
              <a:gd name="connsiteX8" fmla="*/ 2705111 w 2968109"/>
              <a:gd name="connsiteY8" fmla="*/ 830061 h 2567197"/>
              <a:gd name="connsiteX9" fmla="*/ 2968109 w 2968109"/>
              <a:gd name="connsiteY9" fmla="*/ 1283599 h 2567197"/>
              <a:gd name="connsiteX10" fmla="*/ 2734885 w 2968109"/>
              <a:gd name="connsiteY10" fmla="*/ 1685793 h 2567197"/>
              <a:gd name="connsiteX11" fmla="*/ 2509104 w 2968109"/>
              <a:gd name="connsiteY11" fmla="*/ 2075150 h 2567197"/>
              <a:gd name="connsiteX12" fmla="*/ 2223776 w 2968109"/>
              <a:gd name="connsiteY12" fmla="*/ 2567196 h 2567197"/>
              <a:gd name="connsiteX13" fmla="*/ 1745423 w 2968109"/>
              <a:gd name="connsiteY13" fmla="*/ 2567196 h 2567197"/>
              <a:gd name="connsiteX14" fmla="*/ 1267070 w 2968109"/>
              <a:gd name="connsiteY14" fmla="*/ 2567196 h 2567197"/>
              <a:gd name="connsiteX15" fmla="*/ 744333 w 2968109"/>
              <a:gd name="connsiteY15" fmla="*/ 2567196 h 2567197"/>
              <a:gd name="connsiteX16" fmla="*/ 496222 w 2968109"/>
              <a:gd name="connsiteY16" fmla="*/ 2139330 h 2567197"/>
              <a:gd name="connsiteX17" fmla="*/ 262998 w 2968109"/>
              <a:gd name="connsiteY17" fmla="*/ 1737137 h 2567197"/>
              <a:gd name="connsiteX18" fmla="*/ 0 w 2968109"/>
              <a:gd name="connsiteY18" fmla="*/ 1283599 h 256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8109" h="2567197" fill="none" extrusionOk="0">
                <a:moveTo>
                  <a:pt x="0" y="1283599"/>
                </a:moveTo>
                <a:cubicBezTo>
                  <a:pt x="32326" y="1160655"/>
                  <a:pt x="208299" y="989479"/>
                  <a:pt x="248111" y="855733"/>
                </a:cubicBezTo>
                <a:cubicBezTo>
                  <a:pt x="287923" y="721987"/>
                  <a:pt x="472172" y="514378"/>
                  <a:pt x="511109" y="402195"/>
                </a:cubicBezTo>
                <a:cubicBezTo>
                  <a:pt x="550046" y="290012"/>
                  <a:pt x="653876" y="192788"/>
                  <a:pt x="744333" y="1"/>
                </a:cubicBezTo>
                <a:cubicBezTo>
                  <a:pt x="973320" y="-4080"/>
                  <a:pt x="1084909" y="5644"/>
                  <a:pt x="1207892" y="1"/>
                </a:cubicBezTo>
                <a:cubicBezTo>
                  <a:pt x="1330875" y="-5642"/>
                  <a:pt x="1521224" y="1704"/>
                  <a:pt x="1701039" y="1"/>
                </a:cubicBezTo>
                <a:cubicBezTo>
                  <a:pt x="1880854" y="-1702"/>
                  <a:pt x="2074385" y="25459"/>
                  <a:pt x="2223776" y="1"/>
                </a:cubicBezTo>
                <a:cubicBezTo>
                  <a:pt x="2342608" y="148000"/>
                  <a:pt x="2350376" y="323920"/>
                  <a:pt x="2479330" y="440703"/>
                </a:cubicBezTo>
                <a:cubicBezTo>
                  <a:pt x="2608285" y="557485"/>
                  <a:pt x="2611495" y="675406"/>
                  <a:pt x="2705111" y="830061"/>
                </a:cubicBezTo>
                <a:cubicBezTo>
                  <a:pt x="2798727" y="984716"/>
                  <a:pt x="2812105" y="1105344"/>
                  <a:pt x="2968109" y="1283599"/>
                </a:cubicBezTo>
                <a:cubicBezTo>
                  <a:pt x="2892689" y="1449032"/>
                  <a:pt x="2766453" y="1545470"/>
                  <a:pt x="2734885" y="1685793"/>
                </a:cubicBezTo>
                <a:cubicBezTo>
                  <a:pt x="2703316" y="1826116"/>
                  <a:pt x="2586187" y="1882856"/>
                  <a:pt x="2509104" y="2075150"/>
                </a:cubicBezTo>
                <a:cubicBezTo>
                  <a:pt x="2432021" y="2267444"/>
                  <a:pt x="2299074" y="2407287"/>
                  <a:pt x="2223776" y="2567196"/>
                </a:cubicBezTo>
                <a:cubicBezTo>
                  <a:pt x="1992877" y="2580344"/>
                  <a:pt x="1983575" y="2518301"/>
                  <a:pt x="1745423" y="2567196"/>
                </a:cubicBezTo>
                <a:cubicBezTo>
                  <a:pt x="1507271" y="2616091"/>
                  <a:pt x="1374194" y="2536165"/>
                  <a:pt x="1267070" y="2567196"/>
                </a:cubicBezTo>
                <a:cubicBezTo>
                  <a:pt x="1159946" y="2598227"/>
                  <a:pt x="906055" y="2533123"/>
                  <a:pt x="744333" y="2567196"/>
                </a:cubicBezTo>
                <a:cubicBezTo>
                  <a:pt x="634887" y="2479286"/>
                  <a:pt x="638663" y="2273498"/>
                  <a:pt x="496222" y="2139330"/>
                </a:cubicBezTo>
                <a:cubicBezTo>
                  <a:pt x="353781" y="2005162"/>
                  <a:pt x="344920" y="1817315"/>
                  <a:pt x="262998" y="1737137"/>
                </a:cubicBezTo>
                <a:cubicBezTo>
                  <a:pt x="181076" y="1656959"/>
                  <a:pt x="92759" y="1411607"/>
                  <a:pt x="0" y="1283599"/>
                </a:cubicBezTo>
                <a:close/>
              </a:path>
              <a:path w="2968109" h="2567197" stroke="0" extrusionOk="0">
                <a:moveTo>
                  <a:pt x="0" y="1283599"/>
                </a:moveTo>
                <a:cubicBezTo>
                  <a:pt x="88816" y="1098142"/>
                  <a:pt x="161530" y="1022875"/>
                  <a:pt x="255554" y="842897"/>
                </a:cubicBezTo>
                <a:cubicBezTo>
                  <a:pt x="349579" y="662919"/>
                  <a:pt x="439806" y="578067"/>
                  <a:pt x="518552" y="389359"/>
                </a:cubicBezTo>
                <a:cubicBezTo>
                  <a:pt x="597297" y="200651"/>
                  <a:pt x="666671" y="196645"/>
                  <a:pt x="744333" y="1"/>
                </a:cubicBezTo>
                <a:cubicBezTo>
                  <a:pt x="941786" y="-293"/>
                  <a:pt x="1046101" y="39240"/>
                  <a:pt x="1193097" y="1"/>
                </a:cubicBezTo>
                <a:cubicBezTo>
                  <a:pt x="1340093" y="-39238"/>
                  <a:pt x="1417635" y="4690"/>
                  <a:pt x="1641862" y="1"/>
                </a:cubicBezTo>
                <a:cubicBezTo>
                  <a:pt x="1866089" y="-4688"/>
                  <a:pt x="1943669" y="34760"/>
                  <a:pt x="2223776" y="1"/>
                </a:cubicBezTo>
                <a:cubicBezTo>
                  <a:pt x="2319998" y="68538"/>
                  <a:pt x="2334635" y="253837"/>
                  <a:pt x="2464444" y="415031"/>
                </a:cubicBezTo>
                <a:cubicBezTo>
                  <a:pt x="2594253" y="576225"/>
                  <a:pt x="2562146" y="662863"/>
                  <a:pt x="2727441" y="868569"/>
                </a:cubicBezTo>
                <a:cubicBezTo>
                  <a:pt x="2892737" y="1074275"/>
                  <a:pt x="2827190" y="1122534"/>
                  <a:pt x="2968109" y="1283599"/>
                </a:cubicBezTo>
                <a:cubicBezTo>
                  <a:pt x="2922365" y="1389343"/>
                  <a:pt x="2764891" y="1557552"/>
                  <a:pt x="2719998" y="1711465"/>
                </a:cubicBezTo>
                <a:cubicBezTo>
                  <a:pt x="2675105" y="1865378"/>
                  <a:pt x="2565791" y="1957041"/>
                  <a:pt x="2486774" y="2113658"/>
                </a:cubicBezTo>
                <a:cubicBezTo>
                  <a:pt x="2407757" y="2270275"/>
                  <a:pt x="2337410" y="2354356"/>
                  <a:pt x="2223776" y="2567196"/>
                </a:cubicBezTo>
                <a:cubicBezTo>
                  <a:pt x="2048742" y="2607672"/>
                  <a:pt x="1897906" y="2558589"/>
                  <a:pt x="1730628" y="2567196"/>
                </a:cubicBezTo>
                <a:cubicBezTo>
                  <a:pt x="1563350" y="2575803"/>
                  <a:pt x="1483663" y="2562097"/>
                  <a:pt x="1267070" y="2567196"/>
                </a:cubicBezTo>
                <a:cubicBezTo>
                  <a:pt x="1050477" y="2572295"/>
                  <a:pt x="877397" y="2510766"/>
                  <a:pt x="744333" y="2567196"/>
                </a:cubicBezTo>
                <a:cubicBezTo>
                  <a:pt x="617322" y="2384590"/>
                  <a:pt x="643141" y="2271743"/>
                  <a:pt x="481335" y="2113658"/>
                </a:cubicBezTo>
                <a:cubicBezTo>
                  <a:pt x="319529" y="1955573"/>
                  <a:pt x="330011" y="1846157"/>
                  <a:pt x="225781" y="1672957"/>
                </a:cubicBezTo>
                <a:cubicBezTo>
                  <a:pt x="121552" y="1499757"/>
                  <a:pt x="87488" y="1371727"/>
                  <a:pt x="0" y="1283599"/>
                </a:cubicBezTo>
                <a:close/>
              </a:path>
            </a:pathLst>
          </a:custGeom>
          <a:solidFill>
            <a:srgbClr val="E59796">
              <a:alpha val="50000"/>
            </a:srgbClr>
          </a:solidFill>
          <a:ln w="12700">
            <a:solidFill>
              <a:schemeClr val="tx1"/>
            </a:solidFill>
            <a:extLst>
              <a:ext uri="{C807C97D-BFC1-408E-A445-0C87EB9F89A2}">
                <ask:lineSketchStyleProps xmlns:ask="http://schemas.microsoft.com/office/drawing/2018/sketchyshapes" sd="2098040422">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7" name="Sechseck 43">
            <a:extLst>
              <a:ext uri="{FF2B5EF4-FFF2-40B4-BE49-F238E27FC236}">
                <a16:creationId xmlns:a16="http://schemas.microsoft.com/office/drawing/2014/main" id="{DAB18CBA-B30E-E05A-C275-087ED4829FF8}"/>
              </a:ext>
            </a:extLst>
          </p:cNvPr>
          <p:cNvSpPr/>
          <p:nvPr/>
        </p:nvSpPr>
        <p:spPr>
          <a:xfrm>
            <a:off x="5515677" y="2221256"/>
            <a:ext cx="2968109" cy="2567197"/>
          </a:xfrm>
          <a:custGeom>
            <a:avLst/>
            <a:gdLst>
              <a:gd name="connsiteX0" fmla="*/ 0 w 2968109"/>
              <a:gd name="connsiteY0" fmla="*/ 1283599 h 2567197"/>
              <a:gd name="connsiteX1" fmla="*/ 262998 w 2968109"/>
              <a:gd name="connsiteY1" fmla="*/ 830061 h 2567197"/>
              <a:gd name="connsiteX2" fmla="*/ 518552 w 2968109"/>
              <a:gd name="connsiteY2" fmla="*/ 389359 h 2567197"/>
              <a:gd name="connsiteX3" fmla="*/ 744333 w 2968109"/>
              <a:gd name="connsiteY3" fmla="*/ 1 h 2567197"/>
              <a:gd name="connsiteX4" fmla="*/ 1252275 w 2968109"/>
              <a:gd name="connsiteY4" fmla="*/ 1 h 2567197"/>
              <a:gd name="connsiteX5" fmla="*/ 1745423 w 2968109"/>
              <a:gd name="connsiteY5" fmla="*/ 1 h 2567197"/>
              <a:gd name="connsiteX6" fmla="*/ 2223776 w 2968109"/>
              <a:gd name="connsiteY6" fmla="*/ 1 h 2567197"/>
              <a:gd name="connsiteX7" fmla="*/ 2457000 w 2968109"/>
              <a:gd name="connsiteY7" fmla="*/ 402195 h 2567197"/>
              <a:gd name="connsiteX8" fmla="*/ 2712555 w 2968109"/>
              <a:gd name="connsiteY8" fmla="*/ 842897 h 2567197"/>
              <a:gd name="connsiteX9" fmla="*/ 2968109 w 2968109"/>
              <a:gd name="connsiteY9" fmla="*/ 1283599 h 2567197"/>
              <a:gd name="connsiteX10" fmla="*/ 2742328 w 2968109"/>
              <a:gd name="connsiteY10" fmla="*/ 1672957 h 2567197"/>
              <a:gd name="connsiteX11" fmla="*/ 2486774 w 2968109"/>
              <a:gd name="connsiteY11" fmla="*/ 2113658 h 2567197"/>
              <a:gd name="connsiteX12" fmla="*/ 2223776 w 2968109"/>
              <a:gd name="connsiteY12" fmla="*/ 2567196 h 2567197"/>
              <a:gd name="connsiteX13" fmla="*/ 1775012 w 2968109"/>
              <a:gd name="connsiteY13" fmla="*/ 2567196 h 2567197"/>
              <a:gd name="connsiteX14" fmla="*/ 1326247 w 2968109"/>
              <a:gd name="connsiteY14" fmla="*/ 2567196 h 2567197"/>
              <a:gd name="connsiteX15" fmla="*/ 744333 w 2968109"/>
              <a:gd name="connsiteY15" fmla="*/ 2567196 h 2567197"/>
              <a:gd name="connsiteX16" fmla="*/ 518552 w 2968109"/>
              <a:gd name="connsiteY16" fmla="*/ 2177838 h 2567197"/>
              <a:gd name="connsiteX17" fmla="*/ 270441 w 2968109"/>
              <a:gd name="connsiteY17" fmla="*/ 1749973 h 2567197"/>
              <a:gd name="connsiteX18" fmla="*/ 0 w 2968109"/>
              <a:gd name="connsiteY18" fmla="*/ 1283599 h 256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8109" h="2567197" fill="none" extrusionOk="0">
                <a:moveTo>
                  <a:pt x="0" y="1283599"/>
                </a:moveTo>
                <a:cubicBezTo>
                  <a:pt x="46361" y="1136380"/>
                  <a:pt x="199689" y="944185"/>
                  <a:pt x="262998" y="830061"/>
                </a:cubicBezTo>
                <a:cubicBezTo>
                  <a:pt x="326307" y="715937"/>
                  <a:pt x="503866" y="502099"/>
                  <a:pt x="518552" y="389359"/>
                </a:cubicBezTo>
                <a:cubicBezTo>
                  <a:pt x="533238" y="276619"/>
                  <a:pt x="682082" y="171778"/>
                  <a:pt x="744333" y="1"/>
                </a:cubicBezTo>
                <a:cubicBezTo>
                  <a:pt x="952758" y="-17350"/>
                  <a:pt x="1073638" y="48605"/>
                  <a:pt x="1252275" y="1"/>
                </a:cubicBezTo>
                <a:cubicBezTo>
                  <a:pt x="1430912" y="-48603"/>
                  <a:pt x="1499098" y="21554"/>
                  <a:pt x="1745423" y="1"/>
                </a:cubicBezTo>
                <a:cubicBezTo>
                  <a:pt x="1991748" y="-21552"/>
                  <a:pt x="1985131" y="4132"/>
                  <a:pt x="2223776" y="1"/>
                </a:cubicBezTo>
                <a:cubicBezTo>
                  <a:pt x="2362586" y="160818"/>
                  <a:pt x="2330825" y="247138"/>
                  <a:pt x="2457000" y="402195"/>
                </a:cubicBezTo>
                <a:cubicBezTo>
                  <a:pt x="2583175" y="557252"/>
                  <a:pt x="2601967" y="669091"/>
                  <a:pt x="2712555" y="842897"/>
                </a:cubicBezTo>
                <a:cubicBezTo>
                  <a:pt x="2823143" y="1016703"/>
                  <a:pt x="2808520" y="1089537"/>
                  <a:pt x="2968109" y="1283599"/>
                </a:cubicBezTo>
                <a:cubicBezTo>
                  <a:pt x="2960310" y="1397512"/>
                  <a:pt x="2813268" y="1493898"/>
                  <a:pt x="2742328" y="1672957"/>
                </a:cubicBezTo>
                <a:cubicBezTo>
                  <a:pt x="2671388" y="1852016"/>
                  <a:pt x="2553483" y="1965536"/>
                  <a:pt x="2486774" y="2113658"/>
                </a:cubicBezTo>
                <a:cubicBezTo>
                  <a:pt x="2420065" y="2261780"/>
                  <a:pt x="2283384" y="2361782"/>
                  <a:pt x="2223776" y="2567196"/>
                </a:cubicBezTo>
                <a:cubicBezTo>
                  <a:pt x="2081579" y="2596733"/>
                  <a:pt x="1908940" y="2541271"/>
                  <a:pt x="1775012" y="2567196"/>
                </a:cubicBezTo>
                <a:cubicBezTo>
                  <a:pt x="1641084" y="2593121"/>
                  <a:pt x="1483606" y="2538683"/>
                  <a:pt x="1326247" y="2567196"/>
                </a:cubicBezTo>
                <a:cubicBezTo>
                  <a:pt x="1168888" y="2595709"/>
                  <a:pt x="1032401" y="2547040"/>
                  <a:pt x="744333" y="2567196"/>
                </a:cubicBezTo>
                <a:cubicBezTo>
                  <a:pt x="669735" y="2458454"/>
                  <a:pt x="645425" y="2338806"/>
                  <a:pt x="518552" y="2177838"/>
                </a:cubicBezTo>
                <a:cubicBezTo>
                  <a:pt x="391679" y="2016870"/>
                  <a:pt x="419290" y="1938000"/>
                  <a:pt x="270441" y="1749973"/>
                </a:cubicBezTo>
                <a:cubicBezTo>
                  <a:pt x="121592" y="1561946"/>
                  <a:pt x="112685" y="1381648"/>
                  <a:pt x="0" y="1283599"/>
                </a:cubicBezTo>
                <a:close/>
              </a:path>
              <a:path w="2968109" h="2567197" stroke="0" extrusionOk="0">
                <a:moveTo>
                  <a:pt x="0" y="1283599"/>
                </a:moveTo>
                <a:cubicBezTo>
                  <a:pt x="52836" y="1092734"/>
                  <a:pt x="183473" y="1020313"/>
                  <a:pt x="255554" y="842897"/>
                </a:cubicBezTo>
                <a:cubicBezTo>
                  <a:pt x="327635" y="665481"/>
                  <a:pt x="450327" y="585578"/>
                  <a:pt x="503665" y="415031"/>
                </a:cubicBezTo>
                <a:cubicBezTo>
                  <a:pt x="557003" y="244484"/>
                  <a:pt x="686601" y="155462"/>
                  <a:pt x="744333" y="1"/>
                </a:cubicBezTo>
                <a:cubicBezTo>
                  <a:pt x="901300" y="-38001"/>
                  <a:pt x="995060" y="41714"/>
                  <a:pt x="1193097" y="1"/>
                </a:cubicBezTo>
                <a:cubicBezTo>
                  <a:pt x="1391134" y="-41712"/>
                  <a:pt x="1430027" y="30241"/>
                  <a:pt x="1641862" y="1"/>
                </a:cubicBezTo>
                <a:cubicBezTo>
                  <a:pt x="1853698" y="-30239"/>
                  <a:pt x="2016088" y="60901"/>
                  <a:pt x="2223776" y="1"/>
                </a:cubicBezTo>
                <a:cubicBezTo>
                  <a:pt x="2374897" y="138431"/>
                  <a:pt x="2368382" y="344915"/>
                  <a:pt x="2486774" y="453539"/>
                </a:cubicBezTo>
                <a:cubicBezTo>
                  <a:pt x="2605166" y="562163"/>
                  <a:pt x="2565216" y="705419"/>
                  <a:pt x="2734885" y="881405"/>
                </a:cubicBezTo>
                <a:cubicBezTo>
                  <a:pt x="2904554" y="1057391"/>
                  <a:pt x="2899566" y="1214418"/>
                  <a:pt x="2968109" y="1283599"/>
                </a:cubicBezTo>
                <a:cubicBezTo>
                  <a:pt x="2909675" y="1427862"/>
                  <a:pt x="2833157" y="1482369"/>
                  <a:pt x="2742328" y="1672957"/>
                </a:cubicBezTo>
                <a:cubicBezTo>
                  <a:pt x="2651499" y="1863544"/>
                  <a:pt x="2527199" y="1944168"/>
                  <a:pt x="2501660" y="2087986"/>
                </a:cubicBezTo>
                <a:cubicBezTo>
                  <a:pt x="2476122" y="2231804"/>
                  <a:pt x="2295208" y="2360264"/>
                  <a:pt x="2223776" y="2567196"/>
                </a:cubicBezTo>
                <a:cubicBezTo>
                  <a:pt x="1998641" y="2569531"/>
                  <a:pt x="1949233" y="2539244"/>
                  <a:pt x="1715834" y="2567196"/>
                </a:cubicBezTo>
                <a:cubicBezTo>
                  <a:pt x="1482435" y="2595148"/>
                  <a:pt x="1409349" y="2513237"/>
                  <a:pt x="1207892" y="2567196"/>
                </a:cubicBezTo>
                <a:cubicBezTo>
                  <a:pt x="1006435" y="2621155"/>
                  <a:pt x="932825" y="2528056"/>
                  <a:pt x="744333" y="2567196"/>
                </a:cubicBezTo>
                <a:cubicBezTo>
                  <a:pt x="602615" y="2421854"/>
                  <a:pt x="614606" y="2252283"/>
                  <a:pt x="511109" y="2165002"/>
                </a:cubicBezTo>
                <a:cubicBezTo>
                  <a:pt x="407612" y="2077722"/>
                  <a:pt x="390976" y="1955255"/>
                  <a:pt x="285328" y="1775645"/>
                </a:cubicBezTo>
                <a:cubicBezTo>
                  <a:pt x="179680" y="1596035"/>
                  <a:pt x="135233" y="1425579"/>
                  <a:pt x="0" y="1283599"/>
                </a:cubicBezTo>
                <a:close/>
              </a:path>
            </a:pathLst>
          </a:custGeom>
          <a:solidFill>
            <a:srgbClr val="98B4D8">
              <a:alpha val="50000"/>
            </a:srgbClr>
          </a:solidFill>
          <a:ln w="12700">
            <a:solidFill>
              <a:schemeClr val="tx1"/>
            </a:solidFill>
            <a:extLst>
              <a:ext uri="{C807C97D-BFC1-408E-A445-0C87EB9F89A2}">
                <ask:lineSketchStyleProps xmlns:ask="http://schemas.microsoft.com/office/drawing/2018/sketchyshapes" sd="212518470">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8" name="Sechseck 44">
            <a:extLst>
              <a:ext uri="{FF2B5EF4-FFF2-40B4-BE49-F238E27FC236}">
                <a16:creationId xmlns:a16="http://schemas.microsoft.com/office/drawing/2014/main" id="{D6FACF14-575B-F5B9-0C8F-9CA85E1E34B4}"/>
              </a:ext>
            </a:extLst>
          </p:cNvPr>
          <p:cNvSpPr/>
          <p:nvPr/>
        </p:nvSpPr>
        <p:spPr>
          <a:xfrm>
            <a:off x="3479752" y="3786749"/>
            <a:ext cx="2968109" cy="2567197"/>
          </a:xfrm>
          <a:custGeom>
            <a:avLst/>
            <a:gdLst>
              <a:gd name="connsiteX0" fmla="*/ 0 w 2968109"/>
              <a:gd name="connsiteY0" fmla="*/ 1283599 h 2567197"/>
              <a:gd name="connsiteX1" fmla="*/ 255554 w 2968109"/>
              <a:gd name="connsiteY1" fmla="*/ 842897 h 2567197"/>
              <a:gd name="connsiteX2" fmla="*/ 496222 w 2968109"/>
              <a:gd name="connsiteY2" fmla="*/ 427867 h 2567197"/>
              <a:gd name="connsiteX3" fmla="*/ 744333 w 2968109"/>
              <a:gd name="connsiteY3" fmla="*/ 1 h 2567197"/>
              <a:gd name="connsiteX4" fmla="*/ 1252275 w 2968109"/>
              <a:gd name="connsiteY4" fmla="*/ 1 h 2567197"/>
              <a:gd name="connsiteX5" fmla="*/ 1715834 w 2968109"/>
              <a:gd name="connsiteY5" fmla="*/ 1 h 2567197"/>
              <a:gd name="connsiteX6" fmla="*/ 2223776 w 2968109"/>
              <a:gd name="connsiteY6" fmla="*/ 1 h 2567197"/>
              <a:gd name="connsiteX7" fmla="*/ 2449557 w 2968109"/>
              <a:gd name="connsiteY7" fmla="*/ 389359 h 2567197"/>
              <a:gd name="connsiteX8" fmla="*/ 2705111 w 2968109"/>
              <a:gd name="connsiteY8" fmla="*/ 830061 h 2567197"/>
              <a:gd name="connsiteX9" fmla="*/ 2968109 w 2968109"/>
              <a:gd name="connsiteY9" fmla="*/ 1283599 h 2567197"/>
              <a:gd name="connsiteX10" fmla="*/ 2742328 w 2968109"/>
              <a:gd name="connsiteY10" fmla="*/ 1672957 h 2567197"/>
              <a:gd name="connsiteX11" fmla="*/ 2486774 w 2968109"/>
              <a:gd name="connsiteY11" fmla="*/ 2113658 h 2567197"/>
              <a:gd name="connsiteX12" fmla="*/ 2223776 w 2968109"/>
              <a:gd name="connsiteY12" fmla="*/ 2567196 h 2567197"/>
              <a:gd name="connsiteX13" fmla="*/ 1760217 w 2968109"/>
              <a:gd name="connsiteY13" fmla="*/ 2567196 h 2567197"/>
              <a:gd name="connsiteX14" fmla="*/ 1267070 w 2968109"/>
              <a:gd name="connsiteY14" fmla="*/ 2567196 h 2567197"/>
              <a:gd name="connsiteX15" fmla="*/ 744333 w 2968109"/>
              <a:gd name="connsiteY15" fmla="*/ 2567196 h 2567197"/>
              <a:gd name="connsiteX16" fmla="*/ 481335 w 2968109"/>
              <a:gd name="connsiteY16" fmla="*/ 2113658 h 2567197"/>
              <a:gd name="connsiteX17" fmla="*/ 218338 w 2968109"/>
              <a:gd name="connsiteY17" fmla="*/ 1660121 h 2567197"/>
              <a:gd name="connsiteX18" fmla="*/ 0 w 2968109"/>
              <a:gd name="connsiteY18" fmla="*/ 1283599 h 256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8109" h="2567197" fill="none" extrusionOk="0">
                <a:moveTo>
                  <a:pt x="0" y="1283599"/>
                </a:moveTo>
                <a:cubicBezTo>
                  <a:pt x="28051" y="1124885"/>
                  <a:pt x="235394" y="963335"/>
                  <a:pt x="255554" y="842897"/>
                </a:cubicBezTo>
                <a:cubicBezTo>
                  <a:pt x="275714" y="722459"/>
                  <a:pt x="421334" y="592230"/>
                  <a:pt x="496222" y="427867"/>
                </a:cubicBezTo>
                <a:cubicBezTo>
                  <a:pt x="571110" y="263504"/>
                  <a:pt x="717445" y="144656"/>
                  <a:pt x="744333" y="1"/>
                </a:cubicBezTo>
                <a:cubicBezTo>
                  <a:pt x="984758" y="-49501"/>
                  <a:pt x="1089337" y="60242"/>
                  <a:pt x="1252275" y="1"/>
                </a:cubicBezTo>
                <a:cubicBezTo>
                  <a:pt x="1415213" y="-60240"/>
                  <a:pt x="1588393" y="42852"/>
                  <a:pt x="1715834" y="1"/>
                </a:cubicBezTo>
                <a:cubicBezTo>
                  <a:pt x="1843275" y="-42850"/>
                  <a:pt x="2005859" y="11280"/>
                  <a:pt x="2223776" y="1"/>
                </a:cubicBezTo>
                <a:cubicBezTo>
                  <a:pt x="2290584" y="92810"/>
                  <a:pt x="2332193" y="207774"/>
                  <a:pt x="2449557" y="389359"/>
                </a:cubicBezTo>
                <a:cubicBezTo>
                  <a:pt x="2566921" y="570944"/>
                  <a:pt x="2577621" y="627252"/>
                  <a:pt x="2705111" y="830061"/>
                </a:cubicBezTo>
                <a:cubicBezTo>
                  <a:pt x="2832601" y="1032870"/>
                  <a:pt x="2810231" y="1111701"/>
                  <a:pt x="2968109" y="1283599"/>
                </a:cubicBezTo>
                <a:cubicBezTo>
                  <a:pt x="2925487" y="1456019"/>
                  <a:pt x="2778085" y="1588942"/>
                  <a:pt x="2742328" y="1672957"/>
                </a:cubicBezTo>
                <a:cubicBezTo>
                  <a:pt x="2706571" y="1756972"/>
                  <a:pt x="2505584" y="1967661"/>
                  <a:pt x="2486774" y="2113658"/>
                </a:cubicBezTo>
                <a:cubicBezTo>
                  <a:pt x="2467964" y="2259655"/>
                  <a:pt x="2268826" y="2387241"/>
                  <a:pt x="2223776" y="2567196"/>
                </a:cubicBezTo>
                <a:cubicBezTo>
                  <a:pt x="2071897" y="2586823"/>
                  <a:pt x="1915435" y="2516656"/>
                  <a:pt x="1760217" y="2567196"/>
                </a:cubicBezTo>
                <a:cubicBezTo>
                  <a:pt x="1604999" y="2617736"/>
                  <a:pt x="1384862" y="2514043"/>
                  <a:pt x="1267070" y="2567196"/>
                </a:cubicBezTo>
                <a:cubicBezTo>
                  <a:pt x="1149278" y="2620349"/>
                  <a:pt x="900880" y="2558876"/>
                  <a:pt x="744333" y="2567196"/>
                </a:cubicBezTo>
                <a:cubicBezTo>
                  <a:pt x="600027" y="2423059"/>
                  <a:pt x="585898" y="2264887"/>
                  <a:pt x="481335" y="2113658"/>
                </a:cubicBezTo>
                <a:cubicBezTo>
                  <a:pt x="376772" y="1962429"/>
                  <a:pt x="345790" y="1822055"/>
                  <a:pt x="218338" y="1660121"/>
                </a:cubicBezTo>
                <a:cubicBezTo>
                  <a:pt x="90886" y="1498187"/>
                  <a:pt x="64556" y="1386136"/>
                  <a:pt x="0" y="1283599"/>
                </a:cubicBezTo>
                <a:close/>
              </a:path>
              <a:path w="2968109" h="2567197" stroke="0" extrusionOk="0">
                <a:moveTo>
                  <a:pt x="0" y="1283599"/>
                </a:moveTo>
                <a:cubicBezTo>
                  <a:pt x="84538" y="1053835"/>
                  <a:pt x="217461" y="1006996"/>
                  <a:pt x="255554" y="842897"/>
                </a:cubicBezTo>
                <a:cubicBezTo>
                  <a:pt x="293647" y="678798"/>
                  <a:pt x="438162" y="591240"/>
                  <a:pt x="496222" y="427867"/>
                </a:cubicBezTo>
                <a:cubicBezTo>
                  <a:pt x="554282" y="264494"/>
                  <a:pt x="656707" y="213268"/>
                  <a:pt x="744333" y="1"/>
                </a:cubicBezTo>
                <a:cubicBezTo>
                  <a:pt x="895705" y="-46064"/>
                  <a:pt x="978354" y="5229"/>
                  <a:pt x="1193097" y="1"/>
                </a:cubicBezTo>
                <a:cubicBezTo>
                  <a:pt x="1407840" y="-5227"/>
                  <a:pt x="1580004" y="8994"/>
                  <a:pt x="1701039" y="1"/>
                </a:cubicBezTo>
                <a:cubicBezTo>
                  <a:pt x="1822074" y="-8992"/>
                  <a:pt x="2036336" y="8468"/>
                  <a:pt x="2223776" y="1"/>
                </a:cubicBezTo>
                <a:cubicBezTo>
                  <a:pt x="2315395" y="73363"/>
                  <a:pt x="2336575" y="298951"/>
                  <a:pt x="2449557" y="389359"/>
                </a:cubicBezTo>
                <a:cubicBezTo>
                  <a:pt x="2562538" y="479767"/>
                  <a:pt x="2629517" y="713816"/>
                  <a:pt x="2705111" y="830061"/>
                </a:cubicBezTo>
                <a:cubicBezTo>
                  <a:pt x="2780705" y="946306"/>
                  <a:pt x="2844593" y="1171719"/>
                  <a:pt x="2968109" y="1283599"/>
                </a:cubicBezTo>
                <a:cubicBezTo>
                  <a:pt x="2911063" y="1469771"/>
                  <a:pt x="2830426" y="1491104"/>
                  <a:pt x="2719998" y="1711465"/>
                </a:cubicBezTo>
                <a:cubicBezTo>
                  <a:pt x="2609570" y="1931826"/>
                  <a:pt x="2564194" y="1947548"/>
                  <a:pt x="2479330" y="2126494"/>
                </a:cubicBezTo>
                <a:cubicBezTo>
                  <a:pt x="2394466" y="2305440"/>
                  <a:pt x="2295136" y="2416237"/>
                  <a:pt x="2223776" y="2567196"/>
                </a:cubicBezTo>
                <a:cubicBezTo>
                  <a:pt x="2103043" y="2591238"/>
                  <a:pt x="1871991" y="2561753"/>
                  <a:pt x="1760217" y="2567196"/>
                </a:cubicBezTo>
                <a:cubicBezTo>
                  <a:pt x="1648443" y="2572639"/>
                  <a:pt x="1423296" y="2527921"/>
                  <a:pt x="1296658" y="2567196"/>
                </a:cubicBezTo>
                <a:cubicBezTo>
                  <a:pt x="1170020" y="2606471"/>
                  <a:pt x="910636" y="2552389"/>
                  <a:pt x="744333" y="2567196"/>
                </a:cubicBezTo>
                <a:cubicBezTo>
                  <a:pt x="632328" y="2459873"/>
                  <a:pt x="628732" y="2272491"/>
                  <a:pt x="511109" y="2165002"/>
                </a:cubicBezTo>
                <a:cubicBezTo>
                  <a:pt x="393486" y="2057513"/>
                  <a:pt x="394718" y="1882102"/>
                  <a:pt x="285328" y="1775645"/>
                </a:cubicBezTo>
                <a:cubicBezTo>
                  <a:pt x="175938" y="1669188"/>
                  <a:pt x="102110" y="1409745"/>
                  <a:pt x="0" y="1283599"/>
                </a:cubicBezTo>
                <a:close/>
              </a:path>
            </a:pathLst>
          </a:custGeom>
          <a:solidFill>
            <a:srgbClr val="F08927">
              <a:alpha val="50000"/>
            </a:srgbClr>
          </a:solidFill>
          <a:ln w="12700">
            <a:solidFill>
              <a:schemeClr val="tx1"/>
            </a:solidFill>
            <a:extLst>
              <a:ext uri="{C807C97D-BFC1-408E-A445-0C87EB9F89A2}">
                <ask:lineSketchStyleProps xmlns:ask="http://schemas.microsoft.com/office/drawing/2018/sketchyshapes" sd="1182091124">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9" name="Sechseck 45">
            <a:extLst>
              <a:ext uri="{FF2B5EF4-FFF2-40B4-BE49-F238E27FC236}">
                <a16:creationId xmlns:a16="http://schemas.microsoft.com/office/drawing/2014/main" id="{0643429A-AD28-8DA8-941C-331E6BD571BA}"/>
              </a:ext>
            </a:extLst>
          </p:cNvPr>
          <p:cNvSpPr/>
          <p:nvPr/>
        </p:nvSpPr>
        <p:spPr>
          <a:xfrm>
            <a:off x="5515677" y="3786749"/>
            <a:ext cx="2968109" cy="2567197"/>
          </a:xfrm>
          <a:custGeom>
            <a:avLst/>
            <a:gdLst>
              <a:gd name="connsiteX0" fmla="*/ 0 w 2968109"/>
              <a:gd name="connsiteY0" fmla="*/ 1283599 h 2567197"/>
              <a:gd name="connsiteX1" fmla="*/ 240668 w 2968109"/>
              <a:gd name="connsiteY1" fmla="*/ 868569 h 2567197"/>
              <a:gd name="connsiteX2" fmla="*/ 481335 w 2968109"/>
              <a:gd name="connsiteY2" fmla="*/ 453539 h 2567197"/>
              <a:gd name="connsiteX3" fmla="*/ 744333 w 2968109"/>
              <a:gd name="connsiteY3" fmla="*/ 1 h 2567197"/>
              <a:gd name="connsiteX4" fmla="*/ 1193097 w 2968109"/>
              <a:gd name="connsiteY4" fmla="*/ 1 h 2567197"/>
              <a:gd name="connsiteX5" fmla="*/ 1686245 w 2968109"/>
              <a:gd name="connsiteY5" fmla="*/ 1 h 2567197"/>
              <a:gd name="connsiteX6" fmla="*/ 2223776 w 2968109"/>
              <a:gd name="connsiteY6" fmla="*/ 1 h 2567197"/>
              <a:gd name="connsiteX7" fmla="*/ 2486774 w 2968109"/>
              <a:gd name="connsiteY7" fmla="*/ 453539 h 2567197"/>
              <a:gd name="connsiteX8" fmla="*/ 2734885 w 2968109"/>
              <a:gd name="connsiteY8" fmla="*/ 881405 h 2567197"/>
              <a:gd name="connsiteX9" fmla="*/ 2968109 w 2968109"/>
              <a:gd name="connsiteY9" fmla="*/ 1283599 h 2567197"/>
              <a:gd name="connsiteX10" fmla="*/ 2727441 w 2968109"/>
              <a:gd name="connsiteY10" fmla="*/ 1698629 h 2567197"/>
              <a:gd name="connsiteX11" fmla="*/ 2471887 w 2968109"/>
              <a:gd name="connsiteY11" fmla="*/ 2139330 h 2567197"/>
              <a:gd name="connsiteX12" fmla="*/ 2223776 w 2968109"/>
              <a:gd name="connsiteY12" fmla="*/ 2567196 h 2567197"/>
              <a:gd name="connsiteX13" fmla="*/ 1775012 w 2968109"/>
              <a:gd name="connsiteY13" fmla="*/ 2567196 h 2567197"/>
              <a:gd name="connsiteX14" fmla="*/ 1252275 w 2968109"/>
              <a:gd name="connsiteY14" fmla="*/ 2567196 h 2567197"/>
              <a:gd name="connsiteX15" fmla="*/ 744333 w 2968109"/>
              <a:gd name="connsiteY15" fmla="*/ 2567196 h 2567197"/>
              <a:gd name="connsiteX16" fmla="*/ 511109 w 2968109"/>
              <a:gd name="connsiteY16" fmla="*/ 2165002 h 2567197"/>
              <a:gd name="connsiteX17" fmla="*/ 255554 w 2968109"/>
              <a:gd name="connsiteY17" fmla="*/ 1724301 h 2567197"/>
              <a:gd name="connsiteX18" fmla="*/ 0 w 2968109"/>
              <a:gd name="connsiteY18" fmla="*/ 1283599 h 256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8109" h="2567197" fill="none" extrusionOk="0">
                <a:moveTo>
                  <a:pt x="0" y="1283599"/>
                </a:moveTo>
                <a:cubicBezTo>
                  <a:pt x="38457" y="1143055"/>
                  <a:pt x="226425" y="984994"/>
                  <a:pt x="240668" y="868569"/>
                </a:cubicBezTo>
                <a:cubicBezTo>
                  <a:pt x="254911" y="752144"/>
                  <a:pt x="388640" y="639983"/>
                  <a:pt x="481335" y="453539"/>
                </a:cubicBezTo>
                <a:cubicBezTo>
                  <a:pt x="574030" y="267095"/>
                  <a:pt x="705108" y="186020"/>
                  <a:pt x="744333" y="1"/>
                </a:cubicBezTo>
                <a:cubicBezTo>
                  <a:pt x="949077" y="-18987"/>
                  <a:pt x="1097980" y="27811"/>
                  <a:pt x="1193097" y="1"/>
                </a:cubicBezTo>
                <a:cubicBezTo>
                  <a:pt x="1288214" y="-27809"/>
                  <a:pt x="1553780" y="4470"/>
                  <a:pt x="1686245" y="1"/>
                </a:cubicBezTo>
                <a:cubicBezTo>
                  <a:pt x="1818710" y="-4468"/>
                  <a:pt x="1990802" y="15725"/>
                  <a:pt x="2223776" y="1"/>
                </a:cubicBezTo>
                <a:cubicBezTo>
                  <a:pt x="2348433" y="195481"/>
                  <a:pt x="2356032" y="234204"/>
                  <a:pt x="2486774" y="453539"/>
                </a:cubicBezTo>
                <a:cubicBezTo>
                  <a:pt x="2617516" y="672874"/>
                  <a:pt x="2621331" y="712394"/>
                  <a:pt x="2734885" y="881405"/>
                </a:cubicBezTo>
                <a:cubicBezTo>
                  <a:pt x="2848439" y="1050416"/>
                  <a:pt x="2883348" y="1223535"/>
                  <a:pt x="2968109" y="1283599"/>
                </a:cubicBezTo>
                <a:cubicBezTo>
                  <a:pt x="2864487" y="1490457"/>
                  <a:pt x="2820282" y="1520987"/>
                  <a:pt x="2727441" y="1698629"/>
                </a:cubicBezTo>
                <a:cubicBezTo>
                  <a:pt x="2634600" y="1876271"/>
                  <a:pt x="2488836" y="1994936"/>
                  <a:pt x="2471887" y="2139330"/>
                </a:cubicBezTo>
                <a:cubicBezTo>
                  <a:pt x="2454938" y="2283724"/>
                  <a:pt x="2302140" y="2363086"/>
                  <a:pt x="2223776" y="2567196"/>
                </a:cubicBezTo>
                <a:cubicBezTo>
                  <a:pt x="2132227" y="2594422"/>
                  <a:pt x="1946399" y="2549268"/>
                  <a:pt x="1775012" y="2567196"/>
                </a:cubicBezTo>
                <a:cubicBezTo>
                  <a:pt x="1603625" y="2585124"/>
                  <a:pt x="1507701" y="2537437"/>
                  <a:pt x="1252275" y="2567196"/>
                </a:cubicBezTo>
                <a:cubicBezTo>
                  <a:pt x="996849" y="2596955"/>
                  <a:pt x="913953" y="2546333"/>
                  <a:pt x="744333" y="2567196"/>
                </a:cubicBezTo>
                <a:cubicBezTo>
                  <a:pt x="584759" y="2399845"/>
                  <a:pt x="659047" y="2316200"/>
                  <a:pt x="511109" y="2165002"/>
                </a:cubicBezTo>
                <a:cubicBezTo>
                  <a:pt x="363170" y="2013805"/>
                  <a:pt x="370722" y="1862835"/>
                  <a:pt x="255554" y="1724301"/>
                </a:cubicBezTo>
                <a:cubicBezTo>
                  <a:pt x="140386" y="1585766"/>
                  <a:pt x="121949" y="1471037"/>
                  <a:pt x="0" y="1283599"/>
                </a:cubicBezTo>
                <a:close/>
              </a:path>
              <a:path w="2968109" h="2567197" stroke="0" extrusionOk="0">
                <a:moveTo>
                  <a:pt x="0" y="1283599"/>
                </a:moveTo>
                <a:cubicBezTo>
                  <a:pt x="81198" y="1122462"/>
                  <a:pt x="174643" y="992615"/>
                  <a:pt x="233224" y="881405"/>
                </a:cubicBezTo>
                <a:cubicBezTo>
                  <a:pt x="291805" y="770195"/>
                  <a:pt x="448442" y="617882"/>
                  <a:pt x="496222" y="427867"/>
                </a:cubicBezTo>
                <a:cubicBezTo>
                  <a:pt x="544002" y="237852"/>
                  <a:pt x="681799" y="115540"/>
                  <a:pt x="744333" y="1"/>
                </a:cubicBezTo>
                <a:cubicBezTo>
                  <a:pt x="923843" y="-56522"/>
                  <a:pt x="1046232" y="39226"/>
                  <a:pt x="1252275" y="1"/>
                </a:cubicBezTo>
                <a:cubicBezTo>
                  <a:pt x="1458318" y="-39224"/>
                  <a:pt x="1524092" y="30719"/>
                  <a:pt x="1760217" y="1"/>
                </a:cubicBezTo>
                <a:cubicBezTo>
                  <a:pt x="1996342" y="-30717"/>
                  <a:pt x="2075178" y="42604"/>
                  <a:pt x="2223776" y="1"/>
                </a:cubicBezTo>
                <a:cubicBezTo>
                  <a:pt x="2332359" y="174157"/>
                  <a:pt x="2354579" y="304581"/>
                  <a:pt x="2464444" y="415031"/>
                </a:cubicBezTo>
                <a:cubicBezTo>
                  <a:pt x="2574309" y="525481"/>
                  <a:pt x="2627598" y="787465"/>
                  <a:pt x="2719998" y="855733"/>
                </a:cubicBezTo>
                <a:cubicBezTo>
                  <a:pt x="2812398" y="924001"/>
                  <a:pt x="2839853" y="1086528"/>
                  <a:pt x="2968109" y="1283599"/>
                </a:cubicBezTo>
                <a:cubicBezTo>
                  <a:pt x="2877980" y="1458361"/>
                  <a:pt x="2736419" y="1577920"/>
                  <a:pt x="2734885" y="1685793"/>
                </a:cubicBezTo>
                <a:cubicBezTo>
                  <a:pt x="2733351" y="1793666"/>
                  <a:pt x="2525087" y="1950060"/>
                  <a:pt x="2501660" y="2087986"/>
                </a:cubicBezTo>
                <a:cubicBezTo>
                  <a:pt x="2478234" y="2225912"/>
                  <a:pt x="2265007" y="2425919"/>
                  <a:pt x="2223776" y="2567196"/>
                </a:cubicBezTo>
                <a:cubicBezTo>
                  <a:pt x="2016802" y="2589680"/>
                  <a:pt x="1858793" y="2561269"/>
                  <a:pt x="1701039" y="2567196"/>
                </a:cubicBezTo>
                <a:cubicBezTo>
                  <a:pt x="1543285" y="2573123"/>
                  <a:pt x="1393646" y="2516154"/>
                  <a:pt x="1193097" y="2567196"/>
                </a:cubicBezTo>
                <a:cubicBezTo>
                  <a:pt x="992548" y="2618238"/>
                  <a:pt x="870674" y="2554807"/>
                  <a:pt x="744333" y="2567196"/>
                </a:cubicBezTo>
                <a:cubicBezTo>
                  <a:pt x="594937" y="2388096"/>
                  <a:pt x="577817" y="2251116"/>
                  <a:pt x="511109" y="2165002"/>
                </a:cubicBezTo>
                <a:cubicBezTo>
                  <a:pt x="444401" y="2078888"/>
                  <a:pt x="375369" y="1812136"/>
                  <a:pt x="248111" y="1711465"/>
                </a:cubicBezTo>
                <a:cubicBezTo>
                  <a:pt x="120854" y="1610794"/>
                  <a:pt x="129228" y="1474974"/>
                  <a:pt x="0" y="1283599"/>
                </a:cubicBezTo>
                <a:close/>
              </a:path>
            </a:pathLst>
          </a:custGeom>
          <a:solidFill>
            <a:srgbClr val="A9DDF4">
              <a:alpha val="50000"/>
            </a:srgbClr>
          </a:solidFill>
          <a:ln w="12700">
            <a:solidFill>
              <a:schemeClr val="tx1"/>
            </a:solidFill>
            <a:extLst>
              <a:ext uri="{C807C97D-BFC1-408E-A445-0C87EB9F89A2}">
                <ask:lineSketchStyleProps xmlns:ask="http://schemas.microsoft.com/office/drawing/2018/sketchyshapes" sd="552241890">
                  <a:prstGeom prst="hexagon">
                    <a:avLst>
                      <a:gd name="adj" fmla="val 28994"/>
                      <a:gd name="vf" fmla="val 115470"/>
                    </a:avLst>
                  </a:prstGeom>
                  <ask:type>
                    <ask:lineSketchScribble/>
                  </ask:type>
                </ask:lineSketchStyleProps>
              </a:ext>
            </a:extLst>
          </a:ln>
        </p:spPr>
        <p:txBody>
          <a:bodyPr wrap="square" lIns="0" tIns="0" rIns="0" bIns="0" rtlCol="0"/>
          <a:lstStyle/>
          <a:p>
            <a:pPr defTabSz="829269">
              <a:defRPr/>
            </a:pPr>
            <a:endParaRPr lang="de-CH" sz="544" kern="0">
              <a:solidFill>
                <a:prstClr val="black"/>
              </a:solidFill>
              <a:latin typeface="Arial Narrow" panose="020B0606020202030204" pitchFamily="34" charset="0"/>
            </a:endParaRPr>
          </a:p>
        </p:txBody>
      </p:sp>
      <p:sp>
        <p:nvSpPr>
          <p:cNvPr id="10" name="object 4">
            <a:extLst>
              <a:ext uri="{FF2B5EF4-FFF2-40B4-BE49-F238E27FC236}">
                <a16:creationId xmlns:a16="http://schemas.microsoft.com/office/drawing/2014/main" id="{4F79951A-62B9-69B4-CD1F-65FE3C8837B6}"/>
              </a:ext>
            </a:extLst>
          </p:cNvPr>
          <p:cNvSpPr txBox="1"/>
          <p:nvPr/>
        </p:nvSpPr>
        <p:spPr>
          <a:xfrm>
            <a:off x="3587195" y="1750148"/>
            <a:ext cx="1502552" cy="305540"/>
          </a:xfrm>
          <a:prstGeom prst="rect">
            <a:avLst/>
          </a:prstGeom>
          <a:noFill/>
        </p:spPr>
        <p:txBody>
          <a:bodyPr vert="horz" wrap="square" lIns="0" tIns="26106" rIns="0" bIns="0" rtlCol="0">
            <a:spAutoFit/>
          </a:bodyPr>
          <a:lstStyle/>
          <a:p>
            <a:pPr marL="5674">
              <a:spcBef>
                <a:spcPts val="205"/>
              </a:spcBef>
            </a:pPr>
            <a:r>
              <a:rPr lang="en-GB" sz="1814" b="1" spc="-11" dirty="0" err="1">
                <a:solidFill>
                  <a:srgbClr val="996633"/>
                </a:solidFill>
                <a:latin typeface="Arial Narrow" panose="020B0606020202030204" pitchFamily="34" charset="0"/>
                <a:cs typeface="Roboto Condensed"/>
              </a:rPr>
              <a:t>Kommunizieren</a:t>
            </a:r>
            <a:endParaRPr lang="en-GB" sz="1814" b="1" spc="-11" dirty="0">
              <a:solidFill>
                <a:srgbClr val="996633"/>
              </a:solidFill>
              <a:latin typeface="Arial Narrow" panose="020B0606020202030204" pitchFamily="34" charset="0"/>
              <a:cs typeface="Roboto Condensed"/>
            </a:endParaRPr>
          </a:p>
        </p:txBody>
      </p:sp>
      <p:sp>
        <p:nvSpPr>
          <p:cNvPr id="11" name="object 15">
            <a:extLst>
              <a:ext uri="{FF2B5EF4-FFF2-40B4-BE49-F238E27FC236}">
                <a16:creationId xmlns:a16="http://schemas.microsoft.com/office/drawing/2014/main" id="{279DA89F-62C6-B20F-1906-BD0C87D06F7D}"/>
              </a:ext>
            </a:extLst>
          </p:cNvPr>
          <p:cNvSpPr txBox="1"/>
          <p:nvPr/>
        </p:nvSpPr>
        <p:spPr>
          <a:xfrm>
            <a:off x="3896998" y="2947252"/>
            <a:ext cx="1349404" cy="305540"/>
          </a:xfrm>
          <a:prstGeom prst="rect">
            <a:avLst/>
          </a:prstGeom>
          <a:noFill/>
        </p:spPr>
        <p:txBody>
          <a:bodyPr vert="horz" wrap="square" lIns="0" tIns="26106" rIns="0" bIns="0" rtlCol="0">
            <a:spAutoFit/>
          </a:bodyPr>
          <a:lstStyle/>
          <a:p>
            <a:pPr marL="5674">
              <a:spcBef>
                <a:spcPts val="205"/>
              </a:spcBef>
            </a:pPr>
            <a:r>
              <a:rPr lang="en-GB" sz="1814" b="1" spc="-9" err="1">
                <a:solidFill>
                  <a:srgbClr val="CC0000"/>
                </a:solidFill>
                <a:latin typeface="Arial Narrow" panose="020B0606020202030204" pitchFamily="34" charset="0"/>
                <a:cs typeface="Roboto Condensed"/>
              </a:rPr>
              <a:t>Wahrnehmen</a:t>
            </a:r>
            <a:endParaRPr lang="en-GB" sz="1814" b="1" spc="-9">
              <a:solidFill>
                <a:srgbClr val="CC0000"/>
              </a:solidFill>
              <a:latin typeface="Arial Narrow" panose="020B0606020202030204" pitchFamily="34" charset="0"/>
              <a:cs typeface="Roboto Condensed"/>
            </a:endParaRPr>
          </a:p>
        </p:txBody>
      </p:sp>
      <p:sp>
        <p:nvSpPr>
          <p:cNvPr id="12" name="object 16">
            <a:extLst>
              <a:ext uri="{FF2B5EF4-FFF2-40B4-BE49-F238E27FC236}">
                <a16:creationId xmlns:a16="http://schemas.microsoft.com/office/drawing/2014/main" id="{836C69C6-EBB3-5F1D-D62B-5B0190DE0B96}"/>
              </a:ext>
            </a:extLst>
          </p:cNvPr>
          <p:cNvSpPr txBox="1"/>
          <p:nvPr/>
        </p:nvSpPr>
        <p:spPr>
          <a:xfrm>
            <a:off x="6717136" y="2754667"/>
            <a:ext cx="1429947" cy="584719"/>
          </a:xfrm>
          <a:prstGeom prst="rect">
            <a:avLst/>
          </a:prstGeom>
          <a:noFill/>
        </p:spPr>
        <p:txBody>
          <a:bodyPr vert="horz" wrap="square" lIns="0" tIns="26106" rIns="0" bIns="0" rtlCol="0">
            <a:spAutoFit/>
          </a:bodyPr>
          <a:lstStyle/>
          <a:p>
            <a:pPr marL="5674">
              <a:spcBef>
                <a:spcPts val="205"/>
              </a:spcBef>
            </a:pPr>
            <a:r>
              <a:rPr lang="en-GB" sz="1814" b="1" spc="-9" dirty="0">
                <a:solidFill>
                  <a:srgbClr val="003399"/>
                </a:solidFill>
                <a:latin typeface="Arial Narrow" panose="020B0606020202030204" pitchFamily="34" charset="0"/>
                <a:cs typeface="Roboto Condensed"/>
              </a:rPr>
              <a:t>Denken/</a:t>
            </a:r>
            <a:br>
              <a:rPr lang="en-GB" sz="1814" b="1" spc="-9" dirty="0">
                <a:solidFill>
                  <a:srgbClr val="003399"/>
                </a:solidFill>
                <a:latin typeface="Arial Narrow" panose="020B0606020202030204" pitchFamily="34" charset="0"/>
                <a:cs typeface="Roboto Condensed"/>
              </a:rPr>
            </a:br>
            <a:r>
              <a:rPr lang="en-GB" sz="1814" b="1" spc="-9" dirty="0" err="1">
                <a:solidFill>
                  <a:srgbClr val="003399"/>
                </a:solidFill>
                <a:latin typeface="Arial Narrow" panose="020B0606020202030204" pitchFamily="34" charset="0"/>
                <a:cs typeface="Roboto Condensed"/>
              </a:rPr>
              <a:t>Schlussfolgern</a:t>
            </a:r>
            <a:endParaRPr lang="en-GB" sz="1814" b="1" spc="-9" dirty="0">
              <a:solidFill>
                <a:srgbClr val="003399"/>
              </a:solidFill>
              <a:latin typeface="Arial Narrow" panose="020B0606020202030204" pitchFamily="34" charset="0"/>
              <a:cs typeface="Roboto Condensed"/>
            </a:endParaRPr>
          </a:p>
        </p:txBody>
      </p:sp>
      <p:sp>
        <p:nvSpPr>
          <p:cNvPr id="13" name="object 18">
            <a:extLst>
              <a:ext uri="{FF2B5EF4-FFF2-40B4-BE49-F238E27FC236}">
                <a16:creationId xmlns:a16="http://schemas.microsoft.com/office/drawing/2014/main" id="{5B6151BA-42BC-BC3A-B4A3-4682FC9AFF56}"/>
              </a:ext>
            </a:extLst>
          </p:cNvPr>
          <p:cNvSpPr txBox="1"/>
          <p:nvPr/>
        </p:nvSpPr>
        <p:spPr>
          <a:xfrm>
            <a:off x="4393891" y="5435679"/>
            <a:ext cx="852512" cy="305540"/>
          </a:xfrm>
          <a:prstGeom prst="rect">
            <a:avLst/>
          </a:prstGeom>
          <a:noFill/>
        </p:spPr>
        <p:txBody>
          <a:bodyPr vert="horz" wrap="square" lIns="0" tIns="26106" rIns="0" bIns="0" rtlCol="0">
            <a:spAutoFit/>
          </a:bodyPr>
          <a:lstStyle/>
          <a:p>
            <a:pPr marL="5674">
              <a:spcBef>
                <a:spcPts val="205"/>
              </a:spcBef>
            </a:pPr>
            <a:r>
              <a:rPr lang="en-GB" sz="1814" b="1" spc="-11" err="1">
                <a:solidFill>
                  <a:srgbClr val="CC0000"/>
                </a:solidFill>
                <a:latin typeface="Arial Narrow" panose="020B0606020202030204" pitchFamily="34" charset="0"/>
                <a:cs typeface="Roboto Condensed"/>
              </a:rPr>
              <a:t>Lernen</a:t>
            </a:r>
            <a:endParaRPr lang="en-GB" sz="1814" b="1" spc="-11">
              <a:solidFill>
                <a:srgbClr val="CC0000"/>
              </a:solidFill>
              <a:latin typeface="Arial Narrow" panose="020B0606020202030204" pitchFamily="34" charset="0"/>
              <a:cs typeface="Roboto Condensed"/>
            </a:endParaRPr>
          </a:p>
        </p:txBody>
      </p:sp>
      <p:sp>
        <p:nvSpPr>
          <p:cNvPr id="14" name="object 19">
            <a:extLst>
              <a:ext uri="{FF2B5EF4-FFF2-40B4-BE49-F238E27FC236}">
                <a16:creationId xmlns:a16="http://schemas.microsoft.com/office/drawing/2014/main" id="{4FBF70B8-D64E-E4BC-8E97-DEEF38F4CC40}"/>
              </a:ext>
            </a:extLst>
          </p:cNvPr>
          <p:cNvSpPr txBox="1"/>
          <p:nvPr/>
        </p:nvSpPr>
        <p:spPr>
          <a:xfrm>
            <a:off x="6707668" y="5446137"/>
            <a:ext cx="937306" cy="284624"/>
          </a:xfrm>
          <a:prstGeom prst="rect">
            <a:avLst/>
          </a:prstGeom>
          <a:noFill/>
        </p:spPr>
        <p:txBody>
          <a:bodyPr vert="horz" wrap="square" lIns="0" tIns="5392" rIns="0" bIns="0" rtlCol="0">
            <a:spAutoFit/>
          </a:bodyPr>
          <a:lstStyle/>
          <a:p>
            <a:pPr marL="5674">
              <a:spcBef>
                <a:spcPts val="43"/>
              </a:spcBef>
            </a:pPr>
            <a:r>
              <a:rPr lang="en-GB" sz="1814" b="1" spc="-9">
                <a:solidFill>
                  <a:srgbClr val="003399"/>
                </a:solidFill>
                <a:latin typeface="Arial Narrow" panose="020B0606020202030204" pitchFamily="34" charset="0"/>
                <a:cs typeface="Roboto Condensed"/>
              </a:rPr>
              <a:t>Wissen</a:t>
            </a:r>
          </a:p>
        </p:txBody>
      </p:sp>
      <p:sp>
        <p:nvSpPr>
          <p:cNvPr id="15" name="object 17">
            <a:extLst>
              <a:ext uri="{FF2B5EF4-FFF2-40B4-BE49-F238E27FC236}">
                <a16:creationId xmlns:a16="http://schemas.microsoft.com/office/drawing/2014/main" id="{6A829C79-31C0-299A-FB90-9CB9849704AF}"/>
              </a:ext>
            </a:extLst>
          </p:cNvPr>
          <p:cNvSpPr txBox="1"/>
          <p:nvPr/>
        </p:nvSpPr>
        <p:spPr>
          <a:xfrm>
            <a:off x="5459454" y="1350698"/>
            <a:ext cx="988407" cy="305540"/>
          </a:xfrm>
          <a:prstGeom prst="rect">
            <a:avLst/>
          </a:prstGeom>
          <a:noFill/>
        </p:spPr>
        <p:txBody>
          <a:bodyPr vert="horz" wrap="square" lIns="0" tIns="26106" rIns="0" bIns="0" rtlCol="0">
            <a:spAutoFit/>
          </a:bodyPr>
          <a:lstStyle/>
          <a:p>
            <a:pPr marL="5674" algn="ctr">
              <a:spcBef>
                <a:spcPts val="205"/>
              </a:spcBef>
            </a:pPr>
            <a:r>
              <a:rPr lang="en-GB" sz="1814" b="1" spc="-9" err="1">
                <a:solidFill>
                  <a:srgbClr val="006600"/>
                </a:solidFill>
                <a:latin typeface="Arial Narrow" panose="020B0606020202030204" pitchFamily="34" charset="0"/>
                <a:cs typeface="Roboto Condensed"/>
              </a:rPr>
              <a:t>Handeln</a:t>
            </a:r>
            <a:r>
              <a:rPr lang="en-GB" sz="1814" b="1" spc="-9">
                <a:solidFill>
                  <a:srgbClr val="006600"/>
                </a:solidFill>
                <a:latin typeface="Arial Narrow" panose="020B0606020202030204" pitchFamily="34" charset="0"/>
                <a:cs typeface="Roboto Condensed"/>
              </a:rPr>
              <a:t> </a:t>
            </a:r>
            <a:endParaRPr lang="en-GB" sz="1814">
              <a:solidFill>
                <a:srgbClr val="006600"/>
              </a:solidFill>
              <a:latin typeface="Arial Narrow" panose="020B0606020202030204" pitchFamily="34" charset="0"/>
              <a:cs typeface="Roboto Condensed"/>
            </a:endParaRPr>
          </a:p>
        </p:txBody>
      </p:sp>
      <p:sp>
        <p:nvSpPr>
          <p:cNvPr id="16" name="object 24">
            <a:extLst>
              <a:ext uri="{FF2B5EF4-FFF2-40B4-BE49-F238E27FC236}">
                <a16:creationId xmlns:a16="http://schemas.microsoft.com/office/drawing/2014/main" id="{1183BD87-0177-22CD-B0E9-AEEF0DBAA735}"/>
              </a:ext>
            </a:extLst>
          </p:cNvPr>
          <p:cNvSpPr/>
          <p:nvPr/>
        </p:nvSpPr>
        <p:spPr>
          <a:xfrm>
            <a:off x="4248587" y="3485513"/>
            <a:ext cx="1950761" cy="1719830"/>
          </a:xfrm>
          <a:custGeom>
            <a:avLst/>
            <a:gdLst/>
            <a:ahLst/>
            <a:cxnLst/>
            <a:rect l="l" t="t" r="r" b="b"/>
            <a:pathLst>
              <a:path w="3735704" h="3234690">
                <a:moveTo>
                  <a:pt x="2801313" y="0"/>
                </a:moveTo>
                <a:lnTo>
                  <a:pt x="933771" y="0"/>
                </a:lnTo>
                <a:lnTo>
                  <a:pt x="0" y="1617341"/>
                </a:lnTo>
                <a:lnTo>
                  <a:pt x="933771" y="3234674"/>
                </a:lnTo>
                <a:lnTo>
                  <a:pt x="2801313" y="3234674"/>
                </a:lnTo>
                <a:lnTo>
                  <a:pt x="3735084" y="1617341"/>
                </a:lnTo>
                <a:lnTo>
                  <a:pt x="2801313" y="0"/>
                </a:lnTo>
                <a:close/>
              </a:path>
            </a:pathLst>
          </a:custGeom>
          <a:solidFill>
            <a:srgbClr val="B00C42"/>
          </a:solidFill>
          <a:ln w="19050">
            <a:solidFill>
              <a:srgbClr val="FFFFFF"/>
            </a:solidFill>
          </a:ln>
        </p:spPr>
        <p:txBody>
          <a:bodyPr wrap="square" lIns="0" tIns="0" rIns="0" bIns="0" rtlCol="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endParaRPr>
          </a:p>
        </p:txBody>
      </p:sp>
      <p:sp>
        <p:nvSpPr>
          <p:cNvPr id="17" name="object 32">
            <a:extLst>
              <a:ext uri="{FF2B5EF4-FFF2-40B4-BE49-F238E27FC236}">
                <a16:creationId xmlns:a16="http://schemas.microsoft.com/office/drawing/2014/main" id="{BE6F6805-A1AA-EB2B-182E-2F38EDBDFE4D}"/>
              </a:ext>
            </a:extLst>
          </p:cNvPr>
          <p:cNvSpPr txBox="1"/>
          <p:nvPr/>
        </p:nvSpPr>
        <p:spPr>
          <a:xfrm>
            <a:off x="4290409" y="4096155"/>
            <a:ext cx="1443012" cy="984885"/>
          </a:xfrm>
          <a:prstGeom prst="rect">
            <a:avLst/>
          </a:prstGeom>
        </p:spPr>
        <p:txBody>
          <a:bodyPr vert="horz" wrap="square" lIns="0" tIns="0" rIns="0" bIns="0" rtlCol="0">
            <a:spAutoFit/>
          </a:bodyPr>
          <a:lstStyle/>
          <a:p>
            <a:pPr marL="6257" marR="2503" lvl="0" indent="0" algn="ctr" defTabSz="914400" rtl="0" eaLnBrk="1" fontAlgn="base" latinLnBrk="0" hangingPunct="1">
              <a:lnSpc>
                <a:spcPct val="100000"/>
              </a:lnSpc>
              <a:spcBef>
                <a:spcPts val="47"/>
              </a:spcBef>
              <a:spcAft>
                <a:spcPct val="0"/>
              </a:spcAft>
              <a:buClrTx/>
              <a:buSzTx/>
              <a:buFontTx/>
              <a:buNone/>
              <a:tabLst/>
              <a:defRPr/>
            </a:pPr>
            <a:r>
              <a:rPr kumimoji="0" lang="en-GB" sz="1600" b="1" i="0" u="none" strike="noStrike" kern="1200" cap="none" spc="-10" normalizeH="0" baseline="0" noProof="0" dirty="0" err="1">
                <a:ln>
                  <a:noFill/>
                </a:ln>
                <a:solidFill>
                  <a:srgbClr val="FFFFFF"/>
                </a:solidFill>
                <a:effectLst/>
                <a:uLnTx/>
                <a:uFillTx/>
                <a:latin typeface="Arial Narrow" panose="020B0606020202030204" pitchFamily="34" charset="0"/>
                <a:ea typeface="+mn-ea"/>
                <a:cs typeface="Roboto Condensed"/>
              </a:rPr>
              <a:t>Subymbolische</a:t>
            </a:r>
            <a: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t>/</a:t>
            </a:r>
            <a:b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br>
            <a:r>
              <a:rPr kumimoji="0" lang="en-GB" sz="1600" b="1" i="0" u="none" strike="noStrike" kern="1200" cap="none" spc="-10" normalizeH="0" baseline="0" noProof="0" dirty="0" err="1">
                <a:ln>
                  <a:noFill/>
                </a:ln>
                <a:solidFill>
                  <a:srgbClr val="FFFFFF"/>
                </a:solidFill>
                <a:effectLst/>
                <a:uLnTx/>
                <a:uFillTx/>
                <a:latin typeface="Arial Narrow" panose="020B0606020202030204" pitchFamily="34" charset="0"/>
                <a:ea typeface="+mn-ea"/>
                <a:cs typeface="Roboto Condensed"/>
              </a:rPr>
              <a:t>datenbasierte</a:t>
            </a:r>
            <a: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t> KI</a:t>
            </a:r>
            <a:b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br>
            <a:b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br>
            <a:endPar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endParaRPr>
          </a:p>
        </p:txBody>
      </p:sp>
      <p:sp>
        <p:nvSpPr>
          <p:cNvPr id="18" name="object 26">
            <a:extLst>
              <a:ext uri="{FF2B5EF4-FFF2-40B4-BE49-F238E27FC236}">
                <a16:creationId xmlns:a16="http://schemas.microsoft.com/office/drawing/2014/main" id="{0F6AD4A2-A388-C303-8378-913D2011FA79}"/>
              </a:ext>
            </a:extLst>
          </p:cNvPr>
          <p:cNvSpPr/>
          <p:nvPr/>
        </p:nvSpPr>
        <p:spPr>
          <a:xfrm>
            <a:off x="5645460" y="3497832"/>
            <a:ext cx="1999514" cy="1722983"/>
          </a:xfrm>
          <a:custGeom>
            <a:avLst/>
            <a:gdLst/>
            <a:ahLst/>
            <a:cxnLst/>
            <a:rect l="l" t="t" r="r" b="b"/>
            <a:pathLst>
              <a:path w="3735704" h="3234690">
                <a:moveTo>
                  <a:pt x="2801313" y="0"/>
                </a:moveTo>
                <a:lnTo>
                  <a:pt x="933771" y="0"/>
                </a:lnTo>
                <a:lnTo>
                  <a:pt x="0" y="1617341"/>
                </a:lnTo>
                <a:lnTo>
                  <a:pt x="933771" y="3234674"/>
                </a:lnTo>
                <a:lnTo>
                  <a:pt x="2801313" y="3234674"/>
                </a:lnTo>
                <a:lnTo>
                  <a:pt x="3735084" y="1617341"/>
                </a:lnTo>
                <a:lnTo>
                  <a:pt x="2801313" y="0"/>
                </a:lnTo>
                <a:close/>
              </a:path>
            </a:pathLst>
          </a:custGeom>
          <a:solidFill>
            <a:srgbClr val="186EB0"/>
          </a:solidFill>
          <a:ln w="19050">
            <a:solidFill>
              <a:srgbClr val="FFFFFF"/>
            </a:solidFill>
          </a:ln>
        </p:spPr>
        <p:txBody>
          <a:bodyPr wrap="square" lIns="0" tIns="0" rIns="0" bIns="0" rtlCol="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19" name="Diamond 18">
            <a:extLst>
              <a:ext uri="{FF2B5EF4-FFF2-40B4-BE49-F238E27FC236}">
                <a16:creationId xmlns:a16="http://schemas.microsoft.com/office/drawing/2014/main" id="{686A067B-9E54-D8DA-9363-AE2839844211}"/>
              </a:ext>
            </a:extLst>
          </p:cNvPr>
          <p:cNvSpPr/>
          <p:nvPr/>
        </p:nvSpPr>
        <p:spPr>
          <a:xfrm>
            <a:off x="5623498" y="3842596"/>
            <a:ext cx="608156" cy="1034649"/>
          </a:xfrm>
          <a:prstGeom prst="diamond">
            <a:avLst/>
          </a:prstGeom>
          <a:solidFill>
            <a:srgbClr val="934C8F"/>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bject 32">
            <a:extLst>
              <a:ext uri="{FF2B5EF4-FFF2-40B4-BE49-F238E27FC236}">
                <a16:creationId xmlns:a16="http://schemas.microsoft.com/office/drawing/2014/main" id="{09DA2229-FCFE-DD9B-302A-08F5C9D4C092}"/>
              </a:ext>
            </a:extLst>
          </p:cNvPr>
          <p:cNvSpPr txBox="1"/>
          <p:nvPr/>
        </p:nvSpPr>
        <p:spPr>
          <a:xfrm>
            <a:off x="5862028" y="4064587"/>
            <a:ext cx="1895541" cy="738664"/>
          </a:xfrm>
          <a:prstGeom prst="rect">
            <a:avLst/>
          </a:prstGeom>
          <a:ln w="28575">
            <a:noFill/>
          </a:ln>
        </p:spPr>
        <p:txBody>
          <a:bodyPr vert="horz" wrap="square" lIns="0" tIns="0" rIns="0" bIns="0" rtlCol="0">
            <a:spAutoFit/>
          </a:bodyPr>
          <a:lstStyle/>
          <a:p>
            <a:pPr marL="6257" marR="2503" lvl="0" indent="0" algn="ctr" defTabSz="914400" rtl="0" eaLnBrk="1" fontAlgn="base" latinLnBrk="0" hangingPunct="1">
              <a:lnSpc>
                <a:spcPct val="100000"/>
              </a:lnSpc>
              <a:spcBef>
                <a:spcPts val="47"/>
              </a:spcBef>
              <a:spcAft>
                <a:spcPct val="0"/>
              </a:spcAft>
              <a:buClrTx/>
              <a:buSzTx/>
              <a:buFontTx/>
              <a:buNone/>
              <a:tabLst/>
              <a:defRPr/>
            </a:pPr>
            <a:r>
              <a:rPr kumimoji="0" lang="en-GB" sz="1600" b="1" i="0" u="none" strike="noStrike" kern="1200" cap="none" spc="-10" normalizeH="0" baseline="0" noProof="0" dirty="0" err="1">
                <a:ln>
                  <a:noFill/>
                </a:ln>
                <a:solidFill>
                  <a:srgbClr val="FFFFFF"/>
                </a:solidFill>
                <a:effectLst/>
                <a:uLnTx/>
                <a:uFillTx/>
                <a:latin typeface="Arial Narrow" panose="020B0606020202030204" pitchFamily="34" charset="0"/>
                <a:ea typeface="+mn-ea"/>
                <a:cs typeface="Roboto Condensed"/>
              </a:rPr>
              <a:t>Symbolische</a:t>
            </a:r>
            <a: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t>/</a:t>
            </a:r>
            <a:b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br>
            <a:r>
              <a:rPr kumimoji="0" lang="en-GB" sz="1600" b="1" i="0" u="none" strike="noStrike" kern="1200" cap="none" spc="-10" normalizeH="0" baseline="0" noProof="0" dirty="0" err="1">
                <a:ln>
                  <a:noFill/>
                </a:ln>
                <a:solidFill>
                  <a:srgbClr val="FFFFFF"/>
                </a:solidFill>
                <a:effectLst/>
                <a:uLnTx/>
                <a:uFillTx/>
                <a:latin typeface="Arial Narrow" panose="020B0606020202030204" pitchFamily="34" charset="0"/>
                <a:ea typeface="+mn-ea"/>
                <a:cs typeface="Roboto Condensed"/>
              </a:rPr>
              <a:t>wissens</a:t>
            </a:r>
            <a: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t>-</a:t>
            </a:r>
            <a:b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br>
            <a:r>
              <a:rPr kumimoji="0" lang="en-GB" sz="1600" b="1" i="0" u="none" strike="noStrike" kern="1200" cap="none" spc="-10" normalizeH="0" baseline="0" noProof="0" dirty="0" err="1">
                <a:ln>
                  <a:noFill/>
                </a:ln>
                <a:solidFill>
                  <a:srgbClr val="FFFFFF"/>
                </a:solidFill>
                <a:effectLst/>
                <a:uLnTx/>
                <a:uFillTx/>
                <a:latin typeface="Arial Narrow" panose="020B0606020202030204" pitchFamily="34" charset="0"/>
                <a:ea typeface="+mn-ea"/>
                <a:cs typeface="Roboto Condensed"/>
              </a:rPr>
              <a:t>basierte</a:t>
            </a:r>
            <a:r>
              <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rPr>
              <a:t> </a:t>
            </a:r>
            <a:r>
              <a:rPr lang="en-GB" sz="1600" b="1" spc="-10" dirty="0">
                <a:solidFill>
                  <a:srgbClr val="FFFFFF"/>
                </a:solidFill>
                <a:latin typeface="Arial Narrow" panose="020B0606020202030204" pitchFamily="34" charset="0"/>
                <a:cs typeface="Roboto Condensed"/>
              </a:rPr>
              <a:t>KI</a:t>
            </a:r>
            <a:endParaRPr kumimoji="0" lang="en-GB" sz="1600" b="1" i="0" u="none" strike="noStrike" kern="1200" cap="none" spc="-10" normalizeH="0" baseline="0" noProof="0" dirty="0">
              <a:ln>
                <a:noFill/>
              </a:ln>
              <a:solidFill>
                <a:srgbClr val="FFFFFF"/>
              </a:solidFill>
              <a:effectLst/>
              <a:uLnTx/>
              <a:uFillTx/>
              <a:latin typeface="Arial Narrow" panose="020B0606020202030204" pitchFamily="34" charset="0"/>
              <a:ea typeface="+mn-ea"/>
              <a:cs typeface="Roboto Condensed"/>
            </a:endParaRPr>
          </a:p>
        </p:txBody>
      </p:sp>
      <p:sp>
        <p:nvSpPr>
          <p:cNvPr id="21" name="TextBox 20">
            <a:extLst>
              <a:ext uri="{FF2B5EF4-FFF2-40B4-BE49-F238E27FC236}">
                <a16:creationId xmlns:a16="http://schemas.microsoft.com/office/drawing/2014/main" id="{34A7DE34-D6B2-CE3B-DED3-9480D9C7A652}"/>
              </a:ext>
            </a:extLst>
          </p:cNvPr>
          <p:cNvSpPr txBox="1"/>
          <p:nvPr/>
        </p:nvSpPr>
        <p:spPr>
          <a:xfrm>
            <a:off x="8861637" y="3497832"/>
            <a:ext cx="1882494" cy="288147"/>
          </a:xfrm>
          <a:prstGeom prst="accentCallout2">
            <a:avLst>
              <a:gd name="adj1" fmla="val 39475"/>
              <a:gd name="adj2" fmla="val -4567"/>
              <a:gd name="adj3" fmla="val 31533"/>
              <a:gd name="adj4" fmla="val -59577"/>
              <a:gd name="adj5" fmla="val 213984"/>
              <a:gd name="adj6" fmla="val -92312"/>
            </a:avLst>
          </a:prstGeom>
          <a:solidFill>
            <a:srgbClr val="186EB0"/>
          </a:solidFill>
          <a:ln w="28575">
            <a:solidFill>
              <a:srgbClr val="186EB0"/>
            </a:solidFill>
          </a:ln>
        </p:spPr>
        <p:txBody>
          <a:bodyPr wrap="none" lIns="36000" tIns="36000" rIns="36000" bIns="36000" rtlCol="0">
            <a:spAutoFit/>
          </a:bodyPr>
          <a:lstStyle/>
          <a:p>
            <a:r>
              <a:rPr lang="de-CH" sz="1200" dirty="0">
                <a:solidFill>
                  <a:srgbClr val="FFFFFF"/>
                </a:solidFill>
              </a:rPr>
              <a:t>Basiert auf </a:t>
            </a:r>
            <a:r>
              <a:rPr lang="de-CH" sz="1400" b="1" dirty="0">
                <a:solidFill>
                  <a:srgbClr val="FFFFFF"/>
                </a:solidFill>
              </a:rPr>
              <a:t>Rationalität</a:t>
            </a:r>
            <a:endParaRPr lang="de-CH" sz="1200" b="1" dirty="0">
              <a:solidFill>
                <a:srgbClr val="FFFFFF"/>
              </a:solidFill>
            </a:endParaRPr>
          </a:p>
        </p:txBody>
      </p:sp>
      <p:sp>
        <p:nvSpPr>
          <p:cNvPr id="22" name="TextBox 21">
            <a:extLst>
              <a:ext uri="{FF2B5EF4-FFF2-40B4-BE49-F238E27FC236}">
                <a16:creationId xmlns:a16="http://schemas.microsoft.com/office/drawing/2014/main" id="{2370F6A9-7C29-B879-3F6B-CAFFB0C19413}"/>
              </a:ext>
            </a:extLst>
          </p:cNvPr>
          <p:cNvSpPr txBox="1"/>
          <p:nvPr/>
        </p:nvSpPr>
        <p:spPr>
          <a:xfrm>
            <a:off x="8861637" y="4723198"/>
            <a:ext cx="1882494" cy="626701"/>
          </a:xfrm>
          <a:prstGeom prst="accentCallout2">
            <a:avLst>
              <a:gd name="adj1" fmla="val 57240"/>
              <a:gd name="adj2" fmla="val -3622"/>
              <a:gd name="adj3" fmla="val 59394"/>
              <a:gd name="adj4" fmla="val -59750"/>
              <a:gd name="adj5" fmla="val -5744"/>
              <a:gd name="adj6" fmla="val -87292"/>
            </a:avLst>
          </a:prstGeom>
          <a:solidFill>
            <a:srgbClr val="186EB0"/>
          </a:solidFill>
          <a:ln w="28575">
            <a:solidFill>
              <a:srgbClr val="186EB0"/>
            </a:solidFill>
          </a:ln>
        </p:spPr>
        <p:txBody>
          <a:bodyPr wrap="square" lIns="36000" tIns="36000" rIns="36000" bIns="36000" rtlCol="0">
            <a:spAutoFit/>
          </a:bodyPr>
          <a:lstStyle/>
          <a:p>
            <a:pPr marL="171450" indent="-171450">
              <a:buFontTx/>
              <a:buChar char="-"/>
            </a:pPr>
            <a:r>
              <a:rPr lang="de-CH" sz="1200" dirty="0">
                <a:solidFill>
                  <a:srgbClr val="FFFFFF"/>
                </a:solidFill>
              </a:rPr>
              <a:t>Problemlösen</a:t>
            </a:r>
          </a:p>
          <a:p>
            <a:pPr marL="171450" indent="-171450">
              <a:buFontTx/>
              <a:buChar char="-"/>
            </a:pPr>
            <a:r>
              <a:rPr lang="de-CH" sz="1200" dirty="0">
                <a:solidFill>
                  <a:srgbClr val="FFFFFF"/>
                </a:solidFill>
              </a:rPr>
              <a:t>Diagnose</a:t>
            </a:r>
          </a:p>
          <a:p>
            <a:pPr marL="171450" indent="-171450">
              <a:buFontTx/>
              <a:buChar char="-"/>
            </a:pPr>
            <a:r>
              <a:rPr lang="de-CH" sz="1200" dirty="0">
                <a:solidFill>
                  <a:srgbClr val="FFFFFF"/>
                </a:solidFill>
              </a:rPr>
              <a:t>Entscheiden</a:t>
            </a:r>
          </a:p>
        </p:txBody>
      </p:sp>
      <p:sp>
        <p:nvSpPr>
          <p:cNvPr id="23" name="TextBox 22">
            <a:extLst>
              <a:ext uri="{FF2B5EF4-FFF2-40B4-BE49-F238E27FC236}">
                <a16:creationId xmlns:a16="http://schemas.microsoft.com/office/drawing/2014/main" id="{82046FD4-15C5-3490-5716-387FAECDE2C0}"/>
              </a:ext>
            </a:extLst>
          </p:cNvPr>
          <p:cNvSpPr txBox="1"/>
          <p:nvPr/>
        </p:nvSpPr>
        <p:spPr>
          <a:xfrm>
            <a:off x="1121237" y="3497832"/>
            <a:ext cx="1739826" cy="288147"/>
          </a:xfrm>
          <a:prstGeom prst="accentCallout2">
            <a:avLst>
              <a:gd name="adj1" fmla="val 44589"/>
              <a:gd name="adj2" fmla="val 104723"/>
              <a:gd name="adj3" fmla="val 43512"/>
              <a:gd name="adj4" fmla="val 169892"/>
              <a:gd name="adj5" fmla="val 175127"/>
              <a:gd name="adj6" fmla="val 201915"/>
            </a:avLst>
          </a:prstGeom>
          <a:solidFill>
            <a:srgbClr val="B00C42"/>
          </a:solidFill>
          <a:ln w="28575">
            <a:solidFill>
              <a:srgbClr val="B00C42"/>
            </a:solidFill>
          </a:ln>
        </p:spPr>
        <p:txBody>
          <a:bodyPr wrap="none" lIns="36000" tIns="36000" rIns="36000" bIns="36000" rtlCol="0">
            <a:spAutoFit/>
          </a:bodyPr>
          <a:lstStyle/>
          <a:p>
            <a:r>
              <a:rPr lang="de-CH" sz="1200" dirty="0">
                <a:solidFill>
                  <a:srgbClr val="FFFFFF"/>
                </a:solidFill>
              </a:rPr>
              <a:t>Basiert auf </a:t>
            </a:r>
            <a:r>
              <a:rPr lang="de-CH" sz="1400" b="1" dirty="0">
                <a:solidFill>
                  <a:srgbClr val="FFFFFF"/>
                </a:solidFill>
              </a:rPr>
              <a:t>Erfahrung</a:t>
            </a:r>
            <a:endParaRPr lang="de-CH" sz="1200" b="1" dirty="0">
              <a:solidFill>
                <a:srgbClr val="FFFFFF"/>
              </a:solidFill>
            </a:endParaRPr>
          </a:p>
        </p:txBody>
      </p:sp>
      <p:sp>
        <p:nvSpPr>
          <p:cNvPr id="24" name="TextBox 23">
            <a:extLst>
              <a:ext uri="{FF2B5EF4-FFF2-40B4-BE49-F238E27FC236}">
                <a16:creationId xmlns:a16="http://schemas.microsoft.com/office/drawing/2014/main" id="{D532F413-68C1-5A22-F6C1-860D762EB93C}"/>
              </a:ext>
            </a:extLst>
          </p:cNvPr>
          <p:cNvSpPr txBox="1"/>
          <p:nvPr/>
        </p:nvSpPr>
        <p:spPr>
          <a:xfrm>
            <a:off x="1063043" y="4748482"/>
            <a:ext cx="1670573" cy="626701"/>
          </a:xfrm>
          <a:prstGeom prst="accentCallout2">
            <a:avLst>
              <a:gd name="adj1" fmla="val 49703"/>
              <a:gd name="adj2" fmla="val 106562"/>
              <a:gd name="adj3" fmla="val 49716"/>
              <a:gd name="adj4" fmla="val 173086"/>
              <a:gd name="adj5" fmla="val -21178"/>
              <a:gd name="adj6" fmla="val 221294"/>
            </a:avLst>
          </a:prstGeom>
          <a:solidFill>
            <a:srgbClr val="B00C42"/>
          </a:solidFill>
          <a:ln w="28575">
            <a:solidFill>
              <a:srgbClr val="B00C42"/>
            </a:solidFill>
          </a:ln>
        </p:spPr>
        <p:txBody>
          <a:bodyPr wrap="square" lIns="36000" tIns="36000" rIns="36000" bIns="36000" rtlCol="0">
            <a:spAutoFit/>
          </a:bodyPr>
          <a:lstStyle/>
          <a:p>
            <a:r>
              <a:rPr lang="de-CH" sz="1200" dirty="0">
                <a:solidFill>
                  <a:srgbClr val="FFFFFF"/>
                </a:solidFill>
              </a:rPr>
              <a:t>- Vorhersagen</a:t>
            </a:r>
          </a:p>
          <a:p>
            <a:r>
              <a:rPr lang="de-CH" sz="1200" dirty="0">
                <a:solidFill>
                  <a:srgbClr val="FFFFFF"/>
                </a:solidFill>
              </a:rPr>
              <a:t>- Empfehlungen</a:t>
            </a:r>
          </a:p>
          <a:p>
            <a:r>
              <a:rPr lang="de-CH" sz="1200" dirty="0">
                <a:solidFill>
                  <a:srgbClr val="FFFFFF"/>
                </a:solidFill>
              </a:rPr>
              <a:t>- Risikobeurteilung</a:t>
            </a:r>
          </a:p>
        </p:txBody>
      </p:sp>
    </p:spTree>
    <p:extLst>
      <p:ext uri="{BB962C8B-B14F-4D97-AF65-F5344CB8AC3E}">
        <p14:creationId xmlns:p14="http://schemas.microsoft.com/office/powerpoint/2010/main" val="3719614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702741-6057-1227-D459-10035747C2A9}"/>
              </a:ext>
            </a:extLst>
          </p:cNvPr>
          <p:cNvSpPr>
            <a:spLocks noGrp="1"/>
          </p:cNvSpPr>
          <p:nvPr>
            <p:ph type="title"/>
          </p:nvPr>
        </p:nvSpPr>
        <p:spPr>
          <a:xfrm>
            <a:off x="2927648" y="2270753"/>
            <a:ext cx="8848491" cy="1439997"/>
          </a:xfrm>
        </p:spPr>
        <p:txBody>
          <a:bodyPr/>
          <a:lstStyle/>
          <a:p>
            <a:pPr>
              <a:lnSpc>
                <a:spcPct val="150000"/>
              </a:lnSpc>
            </a:pPr>
            <a:r>
              <a:rPr lang="de-CH" dirty="0"/>
              <a:t>Methodik KI-4-KMU</a:t>
            </a:r>
          </a:p>
        </p:txBody>
      </p:sp>
      <p:sp>
        <p:nvSpPr>
          <p:cNvPr id="4" name="Rechteck 3">
            <a:extLst>
              <a:ext uri="{FF2B5EF4-FFF2-40B4-BE49-F238E27FC236}">
                <a16:creationId xmlns:a16="http://schemas.microsoft.com/office/drawing/2014/main" id="{B0C3E293-A3DE-1D08-294A-F1D6C575F9E7}"/>
              </a:ext>
            </a:extLst>
          </p:cNvPr>
          <p:cNvSpPr/>
          <p:nvPr/>
        </p:nvSpPr>
        <p:spPr>
          <a:xfrm>
            <a:off x="1127448" y="2270751"/>
            <a:ext cx="1440160" cy="144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sz="8800" dirty="0">
                <a:solidFill>
                  <a:schemeClr val="bg1"/>
                </a:solidFill>
                <a:latin typeface="Roboto" panose="02000000000000000000" pitchFamily="2" charset="0"/>
                <a:ea typeface="Roboto" panose="02000000000000000000" pitchFamily="2" charset="0"/>
                <a:cs typeface="Roboto" panose="02000000000000000000" pitchFamily="2" charset="0"/>
              </a:rPr>
              <a:t>2</a:t>
            </a:r>
          </a:p>
        </p:txBody>
      </p:sp>
    </p:spTree>
    <p:extLst>
      <p:ext uri="{BB962C8B-B14F-4D97-AF65-F5344CB8AC3E}">
        <p14:creationId xmlns:p14="http://schemas.microsoft.com/office/powerpoint/2010/main" val="346148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6065A-7BC9-AE42-D9DF-64C1557A7178}"/>
              </a:ext>
            </a:extLst>
          </p:cNvPr>
          <p:cNvSpPr>
            <a:spLocks noGrp="1"/>
          </p:cNvSpPr>
          <p:nvPr>
            <p:ph type="title"/>
          </p:nvPr>
        </p:nvSpPr>
        <p:spPr/>
        <p:txBody>
          <a:bodyPr/>
          <a:lstStyle/>
          <a:p>
            <a:r>
              <a:rPr lang="en-GB" dirty="0"/>
              <a:t>Design-Phase</a:t>
            </a:r>
          </a:p>
        </p:txBody>
      </p:sp>
      <p:sp>
        <p:nvSpPr>
          <p:cNvPr id="3" name="Slide Number Placeholder 2">
            <a:extLst>
              <a:ext uri="{FF2B5EF4-FFF2-40B4-BE49-F238E27FC236}">
                <a16:creationId xmlns:a16="http://schemas.microsoft.com/office/drawing/2014/main" id="{363BA255-47D2-5B1A-D47A-5339FB543990}"/>
              </a:ext>
            </a:extLst>
          </p:cNvPr>
          <p:cNvSpPr>
            <a:spLocks noGrp="1"/>
          </p:cNvSpPr>
          <p:nvPr>
            <p:ph type="sldNum" sz="quarter" idx="12"/>
          </p:nvPr>
        </p:nvSpPr>
        <p:spPr>
          <a:prstGeom prst="rect">
            <a:avLst/>
          </a:prstGeom>
        </p:spPr>
        <p:txBody>
          <a:bodyPr/>
          <a:lstStyle/>
          <a:p>
            <a:fld id="{442AD375-037F-43D0-B059-5172DA06796A}" type="slidenum">
              <a:rPr lang="de-CH" smtClean="0"/>
              <a:pPr/>
              <a:t>10</a:t>
            </a:fld>
            <a:endParaRPr lang="de-CH" dirty="0"/>
          </a:p>
        </p:txBody>
      </p:sp>
      <p:sp>
        <p:nvSpPr>
          <p:cNvPr id="14" name="Text Placeholder 13">
            <a:extLst>
              <a:ext uri="{FF2B5EF4-FFF2-40B4-BE49-F238E27FC236}">
                <a16:creationId xmlns:a16="http://schemas.microsoft.com/office/drawing/2014/main" id="{C128575B-71DC-2178-D0BD-A5657A0E3D82}"/>
              </a:ext>
            </a:extLst>
          </p:cNvPr>
          <p:cNvSpPr>
            <a:spLocks noGrp="1"/>
          </p:cNvSpPr>
          <p:nvPr>
            <p:ph type="body" sz="quarter" idx="14"/>
          </p:nvPr>
        </p:nvSpPr>
        <p:spPr/>
        <p:txBody>
          <a:bodyPr/>
          <a:lstStyle/>
          <a:p>
            <a:endParaRPr lang="en-CH"/>
          </a:p>
        </p:txBody>
      </p:sp>
      <p:sp>
        <p:nvSpPr>
          <p:cNvPr id="5" name="Freeform: Shape 4">
            <a:extLst>
              <a:ext uri="{FF2B5EF4-FFF2-40B4-BE49-F238E27FC236}">
                <a16:creationId xmlns:a16="http://schemas.microsoft.com/office/drawing/2014/main" id="{A2A9104C-7933-8C36-CD76-90525A6BD855}"/>
              </a:ext>
            </a:extLst>
          </p:cNvPr>
          <p:cNvSpPr/>
          <p:nvPr/>
        </p:nvSpPr>
        <p:spPr>
          <a:xfrm>
            <a:off x="1041900" y="2661355"/>
            <a:ext cx="2250528" cy="672681"/>
          </a:xfrm>
          <a:custGeom>
            <a:avLst/>
            <a:gdLst>
              <a:gd name="connsiteX0" fmla="*/ 0 w 2250528"/>
              <a:gd name="connsiteY0" fmla="*/ 0 h 672681"/>
              <a:gd name="connsiteX1" fmla="*/ 2250528 w 2250528"/>
              <a:gd name="connsiteY1" fmla="*/ 0 h 672681"/>
              <a:gd name="connsiteX2" fmla="*/ 2250528 w 2250528"/>
              <a:gd name="connsiteY2" fmla="*/ 672681 h 672681"/>
              <a:gd name="connsiteX3" fmla="*/ 0 w 2250528"/>
              <a:gd name="connsiteY3" fmla="*/ 672681 h 672681"/>
              <a:gd name="connsiteX4" fmla="*/ 0 w 2250528"/>
              <a:gd name="connsiteY4" fmla="*/ 0 h 672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0528" h="672681">
                <a:moveTo>
                  <a:pt x="0" y="0"/>
                </a:moveTo>
                <a:lnTo>
                  <a:pt x="2250528" y="0"/>
                </a:lnTo>
                <a:lnTo>
                  <a:pt x="2250528" y="672681"/>
                </a:lnTo>
                <a:lnTo>
                  <a:pt x="0" y="672681"/>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8016" tIns="128016" rIns="128016" bIns="292807" numCol="1" spcCol="1270" anchor="t" anchorCtr="0">
            <a:noAutofit/>
          </a:bodyPr>
          <a:lstStyle/>
          <a:p>
            <a:pPr marL="0" lvl="0" indent="0" algn="ctr" defTabSz="800100">
              <a:lnSpc>
                <a:spcPct val="90000"/>
              </a:lnSpc>
              <a:spcBef>
                <a:spcPct val="0"/>
              </a:spcBef>
              <a:spcAft>
                <a:spcPct val="35000"/>
              </a:spcAft>
              <a:buNone/>
            </a:pPr>
            <a:r>
              <a:rPr lang="de-CH" sz="1800" b="1" kern="1200"/>
              <a:t>Design</a:t>
            </a:r>
          </a:p>
        </p:txBody>
      </p:sp>
      <p:sp>
        <p:nvSpPr>
          <p:cNvPr id="6" name="Freeform: Shape 5">
            <a:extLst>
              <a:ext uri="{FF2B5EF4-FFF2-40B4-BE49-F238E27FC236}">
                <a16:creationId xmlns:a16="http://schemas.microsoft.com/office/drawing/2014/main" id="{A12902FB-40D6-54CC-A9BD-9CBD68805803}"/>
              </a:ext>
            </a:extLst>
          </p:cNvPr>
          <p:cNvSpPr/>
          <p:nvPr/>
        </p:nvSpPr>
        <p:spPr>
          <a:xfrm rot="4657">
            <a:off x="3691020" y="2705941"/>
            <a:ext cx="845015" cy="364554"/>
          </a:xfrm>
          <a:custGeom>
            <a:avLst/>
            <a:gdLst>
              <a:gd name="connsiteX0" fmla="*/ 0 w 845015"/>
              <a:gd name="connsiteY0" fmla="*/ 72911 h 364554"/>
              <a:gd name="connsiteX1" fmla="*/ 662738 w 845015"/>
              <a:gd name="connsiteY1" fmla="*/ 72911 h 364554"/>
              <a:gd name="connsiteX2" fmla="*/ 662738 w 845015"/>
              <a:gd name="connsiteY2" fmla="*/ 0 h 364554"/>
              <a:gd name="connsiteX3" fmla="*/ 845015 w 845015"/>
              <a:gd name="connsiteY3" fmla="*/ 182277 h 364554"/>
              <a:gd name="connsiteX4" fmla="*/ 662738 w 845015"/>
              <a:gd name="connsiteY4" fmla="*/ 364554 h 364554"/>
              <a:gd name="connsiteX5" fmla="*/ 662738 w 845015"/>
              <a:gd name="connsiteY5" fmla="*/ 291643 h 364554"/>
              <a:gd name="connsiteX6" fmla="*/ 0 w 845015"/>
              <a:gd name="connsiteY6" fmla="*/ 291643 h 364554"/>
              <a:gd name="connsiteX7" fmla="*/ 0 w 845015"/>
              <a:gd name="connsiteY7" fmla="*/ 72911 h 36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5015" h="364554">
                <a:moveTo>
                  <a:pt x="0" y="72911"/>
                </a:moveTo>
                <a:lnTo>
                  <a:pt x="662738" y="72911"/>
                </a:lnTo>
                <a:lnTo>
                  <a:pt x="662738" y="0"/>
                </a:lnTo>
                <a:lnTo>
                  <a:pt x="845015" y="182277"/>
                </a:lnTo>
                <a:lnTo>
                  <a:pt x="662738" y="364554"/>
                </a:lnTo>
                <a:lnTo>
                  <a:pt x="662738" y="291643"/>
                </a:lnTo>
                <a:lnTo>
                  <a:pt x="0" y="291643"/>
                </a:lnTo>
                <a:lnTo>
                  <a:pt x="0" y="7291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72911" rIns="109366" bIns="72910" numCol="1" spcCol="1270" anchor="ctr" anchorCtr="0">
            <a:noAutofit/>
          </a:bodyPr>
          <a:lstStyle/>
          <a:p>
            <a:pPr marL="0" lvl="0" indent="0" algn="ctr" defTabSz="711200">
              <a:lnSpc>
                <a:spcPct val="90000"/>
              </a:lnSpc>
              <a:spcBef>
                <a:spcPct val="0"/>
              </a:spcBef>
              <a:spcAft>
                <a:spcPct val="35000"/>
              </a:spcAft>
              <a:buNone/>
            </a:pPr>
            <a:endParaRPr lang="de-CH" sz="1600" kern="1200"/>
          </a:p>
        </p:txBody>
      </p:sp>
      <p:sp>
        <p:nvSpPr>
          <p:cNvPr id="7" name="Freeform: Shape 6">
            <a:extLst>
              <a:ext uri="{FF2B5EF4-FFF2-40B4-BE49-F238E27FC236}">
                <a16:creationId xmlns:a16="http://schemas.microsoft.com/office/drawing/2014/main" id="{92FF3EAE-3D18-8F03-7E4C-3D6DE7BE00B0}"/>
              </a:ext>
            </a:extLst>
          </p:cNvPr>
          <p:cNvSpPr/>
          <p:nvPr/>
        </p:nvSpPr>
        <p:spPr>
          <a:xfrm>
            <a:off x="4886795" y="2666564"/>
            <a:ext cx="2250528" cy="672681"/>
          </a:xfrm>
          <a:custGeom>
            <a:avLst/>
            <a:gdLst>
              <a:gd name="connsiteX0" fmla="*/ 0 w 2250528"/>
              <a:gd name="connsiteY0" fmla="*/ 0 h 672681"/>
              <a:gd name="connsiteX1" fmla="*/ 2250528 w 2250528"/>
              <a:gd name="connsiteY1" fmla="*/ 0 h 672681"/>
              <a:gd name="connsiteX2" fmla="*/ 2250528 w 2250528"/>
              <a:gd name="connsiteY2" fmla="*/ 672681 h 672681"/>
              <a:gd name="connsiteX3" fmla="*/ 0 w 2250528"/>
              <a:gd name="connsiteY3" fmla="*/ 672681 h 672681"/>
              <a:gd name="connsiteX4" fmla="*/ 0 w 2250528"/>
              <a:gd name="connsiteY4" fmla="*/ 0 h 672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0528" h="672681">
                <a:moveTo>
                  <a:pt x="0" y="0"/>
                </a:moveTo>
                <a:lnTo>
                  <a:pt x="2250528" y="0"/>
                </a:lnTo>
                <a:lnTo>
                  <a:pt x="2250528" y="672681"/>
                </a:lnTo>
                <a:lnTo>
                  <a:pt x="0" y="672681"/>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8016" tIns="128016" rIns="128016" bIns="292807" numCol="1" spcCol="1270" anchor="t" anchorCtr="0">
            <a:noAutofit/>
          </a:bodyPr>
          <a:lstStyle/>
          <a:p>
            <a:pPr marL="0" lvl="0" indent="0" algn="ctr" defTabSz="800100">
              <a:lnSpc>
                <a:spcPct val="90000"/>
              </a:lnSpc>
              <a:spcBef>
                <a:spcPct val="0"/>
              </a:spcBef>
              <a:spcAft>
                <a:spcPct val="35000"/>
              </a:spcAft>
              <a:buNone/>
            </a:pPr>
            <a:r>
              <a:rPr lang="de-CH" sz="1800" b="1" kern="1200"/>
              <a:t>Build</a:t>
            </a:r>
          </a:p>
        </p:txBody>
      </p:sp>
      <p:sp>
        <p:nvSpPr>
          <p:cNvPr id="8" name="Freeform: Shape 7">
            <a:extLst>
              <a:ext uri="{FF2B5EF4-FFF2-40B4-BE49-F238E27FC236}">
                <a16:creationId xmlns:a16="http://schemas.microsoft.com/office/drawing/2014/main" id="{E42F1895-A9F7-0857-F8D7-3707299A3037}"/>
              </a:ext>
            </a:extLst>
          </p:cNvPr>
          <p:cNvSpPr/>
          <p:nvPr/>
        </p:nvSpPr>
        <p:spPr>
          <a:xfrm rot="4644">
            <a:off x="7535915" y="2711142"/>
            <a:ext cx="845015" cy="364554"/>
          </a:xfrm>
          <a:custGeom>
            <a:avLst/>
            <a:gdLst>
              <a:gd name="connsiteX0" fmla="*/ 0 w 845015"/>
              <a:gd name="connsiteY0" fmla="*/ 72911 h 364554"/>
              <a:gd name="connsiteX1" fmla="*/ 662738 w 845015"/>
              <a:gd name="connsiteY1" fmla="*/ 72911 h 364554"/>
              <a:gd name="connsiteX2" fmla="*/ 662738 w 845015"/>
              <a:gd name="connsiteY2" fmla="*/ 0 h 364554"/>
              <a:gd name="connsiteX3" fmla="*/ 845015 w 845015"/>
              <a:gd name="connsiteY3" fmla="*/ 182277 h 364554"/>
              <a:gd name="connsiteX4" fmla="*/ 662738 w 845015"/>
              <a:gd name="connsiteY4" fmla="*/ 364554 h 364554"/>
              <a:gd name="connsiteX5" fmla="*/ 662738 w 845015"/>
              <a:gd name="connsiteY5" fmla="*/ 291643 h 364554"/>
              <a:gd name="connsiteX6" fmla="*/ 0 w 845015"/>
              <a:gd name="connsiteY6" fmla="*/ 291643 h 364554"/>
              <a:gd name="connsiteX7" fmla="*/ 0 w 845015"/>
              <a:gd name="connsiteY7" fmla="*/ 72911 h 36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5015" h="364554">
                <a:moveTo>
                  <a:pt x="0" y="72911"/>
                </a:moveTo>
                <a:lnTo>
                  <a:pt x="662738" y="72911"/>
                </a:lnTo>
                <a:lnTo>
                  <a:pt x="662738" y="0"/>
                </a:lnTo>
                <a:lnTo>
                  <a:pt x="845015" y="182277"/>
                </a:lnTo>
                <a:lnTo>
                  <a:pt x="662738" y="364554"/>
                </a:lnTo>
                <a:lnTo>
                  <a:pt x="662738" y="291643"/>
                </a:lnTo>
                <a:lnTo>
                  <a:pt x="0" y="291643"/>
                </a:lnTo>
                <a:lnTo>
                  <a:pt x="0" y="7291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72910" rIns="109366" bIns="72911" numCol="1" spcCol="1270" anchor="ctr" anchorCtr="0">
            <a:noAutofit/>
          </a:bodyPr>
          <a:lstStyle/>
          <a:p>
            <a:pPr marL="0" lvl="0" indent="0" algn="ctr" defTabSz="711200">
              <a:lnSpc>
                <a:spcPct val="90000"/>
              </a:lnSpc>
              <a:spcBef>
                <a:spcPct val="0"/>
              </a:spcBef>
              <a:spcAft>
                <a:spcPct val="35000"/>
              </a:spcAft>
              <a:buNone/>
            </a:pPr>
            <a:endParaRPr lang="de-CH" sz="1600" kern="1200"/>
          </a:p>
        </p:txBody>
      </p:sp>
      <p:sp>
        <p:nvSpPr>
          <p:cNvPr id="9" name="Freeform: Shape 8">
            <a:extLst>
              <a:ext uri="{FF2B5EF4-FFF2-40B4-BE49-F238E27FC236}">
                <a16:creationId xmlns:a16="http://schemas.microsoft.com/office/drawing/2014/main" id="{5F156E9B-544F-31CC-DE6A-F2D0F900C562}"/>
              </a:ext>
            </a:extLst>
          </p:cNvPr>
          <p:cNvSpPr/>
          <p:nvPr/>
        </p:nvSpPr>
        <p:spPr>
          <a:xfrm>
            <a:off x="8731690" y="2671757"/>
            <a:ext cx="2250528" cy="672681"/>
          </a:xfrm>
          <a:custGeom>
            <a:avLst/>
            <a:gdLst>
              <a:gd name="connsiteX0" fmla="*/ 0 w 2250528"/>
              <a:gd name="connsiteY0" fmla="*/ 0 h 672681"/>
              <a:gd name="connsiteX1" fmla="*/ 2250528 w 2250528"/>
              <a:gd name="connsiteY1" fmla="*/ 0 h 672681"/>
              <a:gd name="connsiteX2" fmla="*/ 2250528 w 2250528"/>
              <a:gd name="connsiteY2" fmla="*/ 672681 h 672681"/>
              <a:gd name="connsiteX3" fmla="*/ 0 w 2250528"/>
              <a:gd name="connsiteY3" fmla="*/ 672681 h 672681"/>
              <a:gd name="connsiteX4" fmla="*/ 0 w 2250528"/>
              <a:gd name="connsiteY4" fmla="*/ 0 h 672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0528" h="672681">
                <a:moveTo>
                  <a:pt x="0" y="0"/>
                </a:moveTo>
                <a:lnTo>
                  <a:pt x="2250528" y="0"/>
                </a:lnTo>
                <a:lnTo>
                  <a:pt x="2250528" y="672681"/>
                </a:lnTo>
                <a:lnTo>
                  <a:pt x="0" y="672681"/>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8016" tIns="128016" rIns="128016" bIns="292807" numCol="1" spcCol="1270" anchor="t" anchorCtr="0">
            <a:noAutofit/>
          </a:bodyPr>
          <a:lstStyle/>
          <a:p>
            <a:pPr marL="0" lvl="0" indent="0" algn="ctr" defTabSz="800100">
              <a:lnSpc>
                <a:spcPct val="90000"/>
              </a:lnSpc>
              <a:spcBef>
                <a:spcPct val="0"/>
              </a:spcBef>
              <a:spcAft>
                <a:spcPct val="35000"/>
              </a:spcAft>
              <a:buNone/>
            </a:pPr>
            <a:r>
              <a:rPr lang="de-CH" sz="1800" b="1" kern="1200"/>
              <a:t>Run</a:t>
            </a:r>
          </a:p>
        </p:txBody>
      </p:sp>
      <p:pic>
        <p:nvPicPr>
          <p:cNvPr id="10" name="Picture 9" descr="A group of hands connecting gears and nuts&#10;&#10;Description automatically generated">
            <a:extLst>
              <a:ext uri="{FF2B5EF4-FFF2-40B4-BE49-F238E27FC236}">
                <a16:creationId xmlns:a16="http://schemas.microsoft.com/office/drawing/2014/main" id="{713110B6-0044-8DD1-745D-84E913C4C5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98804" y="3189169"/>
            <a:ext cx="3496431" cy="2331158"/>
          </a:xfrm>
          <a:prstGeom prst="rect">
            <a:avLst/>
          </a:prstGeom>
        </p:spPr>
      </p:pic>
      <p:pic>
        <p:nvPicPr>
          <p:cNvPr id="11" name="Picture 10" descr="A group of people working on a computer&#10;&#10;Description automatically generated">
            <a:extLst>
              <a:ext uri="{FF2B5EF4-FFF2-40B4-BE49-F238E27FC236}">
                <a16:creationId xmlns:a16="http://schemas.microsoft.com/office/drawing/2014/main" id="{C2E19ED2-C410-0A32-0B85-E45421D89869}"/>
              </a:ext>
            </a:extLst>
          </p:cNvPr>
          <p:cNvPicPr>
            <a:picLocks noChangeAspect="1"/>
          </p:cNvPicPr>
          <p:nvPr/>
        </p:nvPicPr>
        <p:blipFill>
          <a:blip r:embed="rId3" cstate="print">
            <a:alphaModFix/>
            <a:extLst>
              <a:ext uri="{BEBA8EAE-BF5A-486C-A8C5-ECC9F3942E4B}">
                <a14:imgProps xmlns:a14="http://schemas.microsoft.com/office/drawing/2010/main">
                  <a14:imgLayer r:embed="rId4">
                    <a14:imgEffect>
                      <a14:backgroundRemoval t="8599" b="89988" l="6459" r="92734">
                        <a14:foregroundMark x1="28848" y1="23617" x2="28848" y2="23617"/>
                        <a14:foregroundMark x1="28848" y1="23617" x2="28848" y2="23617"/>
                        <a14:foregroundMark x1="20452" y1="22164" x2="20452" y2="22164"/>
                        <a14:foregroundMark x1="72174" y1="14413" x2="72174" y2="14413"/>
                        <a14:foregroundMark x1="72174" y1="14413" x2="72174" y2="14413"/>
                        <a14:foregroundMark x1="83154" y1="23133" x2="83154" y2="23133"/>
                        <a14:foregroundMark x1="88025" y1="58539" x2="88025" y2="58539"/>
                        <a14:foregroundMark x1="12379" y1="60961" x2="12379" y2="60961"/>
                        <a14:foregroundMark x1="9150" y1="31772" x2="9150" y2="31772"/>
                        <a14:foregroundMark x1="9150" y1="31772" x2="9150" y2="31772"/>
                        <a14:foregroundMark x1="22443" y1="23335" x2="22443" y2="23335"/>
                        <a14:foregroundMark x1="13644" y1="63302" x2="13644" y2="63302"/>
                        <a14:foregroundMark x1="13644" y1="63302" x2="13644" y2="63302"/>
                        <a14:foregroundMark x1="88240" y1="52725" x2="86491" y2="57166"/>
                        <a14:foregroundMark x1="83181" y1="21720" x2="82400" y2="28139"/>
                        <a14:foregroundMark x1="82078" y1="34396" x2="81647" y2="35567"/>
                        <a14:foregroundMark x1="73493" y1="26484" x2="73493" y2="26484"/>
                        <a14:foregroundMark x1="13428" y1="64594" x2="14639" y2="69721"/>
                        <a14:foregroundMark x1="6485" y1="69237" x2="6485" y2="69237"/>
                        <a14:foregroundMark x1="6485" y1="69237" x2="6835" y2="69883"/>
                        <a14:foregroundMark x1="92761" y1="57529" x2="92304" y2="60799"/>
                        <a14:foregroundMark x1="66469" y1="8599" x2="66469" y2="8599"/>
                        <a14:backgroundMark x1="20479" y1="23335" x2="20479" y2="23335"/>
                        <a14:backgroundMark x1="20479" y1="23335" x2="20479" y2="23335"/>
                        <a14:backgroundMark x1="88132" y1="73516" x2="89559" y2="72023"/>
                        <a14:backgroundMark x1="37083" y1="21356" x2="37621" y2="24505"/>
                        <a14:backgroundMark x1="37756" y1="28462" x2="37756" y2="28462"/>
                        <a14:backgroundMark x1="67008" y1="19540" x2="67008" y2="19540"/>
                        <a14:backgroundMark x1="82185" y1="40694" x2="82185" y2="40694"/>
                        <a14:backgroundMark x1="78552" y1="17239" x2="80436" y2="17400"/>
                        <a14:backgroundMark x1="10684" y1="56681" x2="14532" y2="57529"/>
                        <a14:backgroundMark x1="13967" y1="75818" x2="13967" y2="75818"/>
                      </a14:backgroundRemoval>
                    </a14:imgEffect>
                  </a14:imgLayer>
                </a14:imgProps>
              </a:ext>
              <a:ext uri="{28A0092B-C50C-407E-A947-70E740481C1C}">
                <a14:useLocalDpi xmlns:a14="http://schemas.microsoft.com/office/drawing/2010/main" val="0"/>
              </a:ext>
            </a:extLst>
          </a:blip>
          <a:srcRect l="-69" r="-1"/>
          <a:stretch/>
        </p:blipFill>
        <p:spPr>
          <a:xfrm>
            <a:off x="419914" y="3190716"/>
            <a:ext cx="3494499" cy="2328064"/>
          </a:xfrm>
          <a:prstGeom prst="rect">
            <a:avLst/>
          </a:prstGeom>
          <a:solidFill>
            <a:schemeClr val="tx1">
              <a:lumMod val="75000"/>
              <a:lumOff val="25000"/>
            </a:schemeClr>
          </a:solidFill>
        </p:spPr>
      </p:pic>
      <p:pic>
        <p:nvPicPr>
          <p:cNvPr id="12" name="Picture 11" descr="A computer on a table&#10;&#10;Description automatically generated">
            <a:extLst>
              <a:ext uri="{FF2B5EF4-FFF2-40B4-BE49-F238E27FC236}">
                <a16:creationId xmlns:a16="http://schemas.microsoft.com/office/drawing/2014/main" id="{5088C49F-F2F0-2B83-18C5-336E5F64E5D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79626" y="3189915"/>
            <a:ext cx="3494499" cy="2329666"/>
          </a:xfrm>
          <a:prstGeom prst="rect">
            <a:avLst/>
          </a:prstGeom>
        </p:spPr>
      </p:pic>
      <p:sp>
        <p:nvSpPr>
          <p:cNvPr id="13" name="Rectangle 12">
            <a:extLst>
              <a:ext uri="{FF2B5EF4-FFF2-40B4-BE49-F238E27FC236}">
                <a16:creationId xmlns:a16="http://schemas.microsoft.com/office/drawing/2014/main" id="{977D1662-FBD8-CB37-D0C5-68E959FA2F74}"/>
              </a:ext>
            </a:extLst>
          </p:cNvPr>
          <p:cNvSpPr/>
          <p:nvPr/>
        </p:nvSpPr>
        <p:spPr>
          <a:xfrm>
            <a:off x="3460310" y="2610008"/>
            <a:ext cx="8482307" cy="3077619"/>
          </a:xfrm>
          <a:prstGeom prst="rect">
            <a:avLst/>
          </a:prstGeom>
          <a:solidFill>
            <a:srgbClr val="FFFFFF">
              <a:alpha val="756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0643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animBg="1"/>
      <p:bldP spid="7" grpId="0" animBg="1"/>
      <p:bldP spid="8" grpId="0" animBg="1"/>
      <p:bldP spid="9"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7D18F-9E61-177D-9ECB-222269588D3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69E9104-87D0-D1CC-9D9A-06E2441D17E6}"/>
              </a:ext>
            </a:extLst>
          </p:cNvPr>
          <p:cNvSpPr>
            <a:spLocks noGrp="1"/>
          </p:cNvSpPr>
          <p:nvPr>
            <p:ph type="title"/>
          </p:nvPr>
        </p:nvSpPr>
        <p:spPr/>
        <p:txBody>
          <a:bodyPr/>
          <a:lstStyle/>
          <a:p>
            <a:pPr>
              <a:lnSpc>
                <a:spcPct val="150000"/>
              </a:lnSpc>
            </a:pPr>
            <a:r>
              <a:rPr lang="de-CH" dirty="0"/>
              <a:t>Design-Phase</a:t>
            </a:r>
          </a:p>
        </p:txBody>
      </p:sp>
      <p:sp>
        <p:nvSpPr>
          <p:cNvPr id="3" name="Slide Number Placeholder 2">
            <a:extLst>
              <a:ext uri="{FF2B5EF4-FFF2-40B4-BE49-F238E27FC236}">
                <a16:creationId xmlns:a16="http://schemas.microsoft.com/office/drawing/2014/main" id="{3A38499B-EDD3-54CF-CA88-C836DF413B37}"/>
              </a:ext>
            </a:extLst>
          </p:cNvPr>
          <p:cNvSpPr>
            <a:spLocks noGrp="1"/>
          </p:cNvSpPr>
          <p:nvPr>
            <p:ph type="sldNum" sz="quarter" idx="12"/>
          </p:nvPr>
        </p:nvSpPr>
        <p:spPr/>
        <p:txBody>
          <a:bodyPr/>
          <a:lstStyle/>
          <a:p>
            <a:fld id="{442AD375-037F-43D0-B059-5172DA06796A}" type="slidenum">
              <a:rPr lang="de-CH" smtClean="0"/>
              <a:pPr/>
              <a:t>11</a:t>
            </a:fld>
            <a:endParaRPr lang="de-CH" dirty="0"/>
          </a:p>
        </p:txBody>
      </p:sp>
      <p:sp>
        <p:nvSpPr>
          <p:cNvPr id="10" name="Text Placeholder 9">
            <a:extLst>
              <a:ext uri="{FF2B5EF4-FFF2-40B4-BE49-F238E27FC236}">
                <a16:creationId xmlns:a16="http://schemas.microsoft.com/office/drawing/2014/main" id="{7B86A508-A3D6-ED14-DD44-C2450AA21705}"/>
              </a:ext>
            </a:extLst>
          </p:cNvPr>
          <p:cNvSpPr>
            <a:spLocks noGrp="1"/>
          </p:cNvSpPr>
          <p:nvPr>
            <p:ph type="body" sz="quarter" idx="14"/>
          </p:nvPr>
        </p:nvSpPr>
        <p:spPr/>
        <p:txBody>
          <a:bodyPr/>
          <a:lstStyle/>
          <a:p>
            <a:endParaRPr lang="en-CH"/>
          </a:p>
        </p:txBody>
      </p:sp>
      <p:sp>
        <p:nvSpPr>
          <p:cNvPr id="4" name="Rechteck 3">
            <a:extLst>
              <a:ext uri="{FF2B5EF4-FFF2-40B4-BE49-F238E27FC236}">
                <a16:creationId xmlns:a16="http://schemas.microsoft.com/office/drawing/2014/main" id="{8FB813E8-4B0F-C426-C342-06228D948CDD}"/>
              </a:ext>
            </a:extLst>
          </p:cNvPr>
          <p:cNvSpPr/>
          <p:nvPr/>
        </p:nvSpPr>
        <p:spPr>
          <a:xfrm>
            <a:off x="1127448" y="2270751"/>
            <a:ext cx="1440160" cy="144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sz="8800" dirty="0">
                <a:solidFill>
                  <a:schemeClr val="tx1"/>
                </a:solidFill>
                <a:latin typeface="Roboto" panose="02000000000000000000" pitchFamily="2" charset="0"/>
                <a:ea typeface="Roboto" panose="02000000000000000000" pitchFamily="2" charset="0"/>
                <a:cs typeface="Roboto" panose="02000000000000000000" pitchFamily="2" charset="0"/>
              </a:rPr>
              <a:t>3</a:t>
            </a:r>
          </a:p>
        </p:txBody>
      </p:sp>
      <p:pic>
        <p:nvPicPr>
          <p:cNvPr id="5" name="Picture 4" descr="A diagram of a business process&#10;&#10;AI-generated content may be incorrect.">
            <a:extLst>
              <a:ext uri="{FF2B5EF4-FFF2-40B4-BE49-F238E27FC236}">
                <a16:creationId xmlns:a16="http://schemas.microsoft.com/office/drawing/2014/main" id="{D899F546-8AB2-A922-D419-B026C8281075}"/>
              </a:ext>
            </a:extLst>
          </p:cNvPr>
          <p:cNvPicPr>
            <a:picLocks noChangeAspect="1"/>
          </p:cNvPicPr>
          <p:nvPr/>
        </p:nvPicPr>
        <p:blipFill>
          <a:blip r:embed="rId2"/>
          <a:stretch>
            <a:fillRect/>
          </a:stretch>
        </p:blipFill>
        <p:spPr>
          <a:xfrm>
            <a:off x="615257" y="1924931"/>
            <a:ext cx="10845339" cy="4000957"/>
          </a:xfrm>
          <a:prstGeom prst="rect">
            <a:avLst/>
          </a:prstGeom>
        </p:spPr>
      </p:pic>
      <p:sp>
        <p:nvSpPr>
          <p:cNvPr id="7" name="Rectangle 6">
            <a:extLst>
              <a:ext uri="{FF2B5EF4-FFF2-40B4-BE49-F238E27FC236}">
                <a16:creationId xmlns:a16="http://schemas.microsoft.com/office/drawing/2014/main" id="{13362397-E350-8632-3101-57ECBCC4CA3B}"/>
              </a:ext>
            </a:extLst>
          </p:cNvPr>
          <p:cNvSpPr/>
          <p:nvPr/>
        </p:nvSpPr>
        <p:spPr>
          <a:xfrm>
            <a:off x="972094" y="2365147"/>
            <a:ext cx="10179126" cy="7900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err="1"/>
              <a:t>Priorisierung</a:t>
            </a:r>
            <a:r>
              <a:rPr lang="en-GB" sz="2000" dirty="0"/>
              <a:t> von </a:t>
            </a:r>
            <a:r>
              <a:rPr lang="en-GB" sz="2000" dirty="0" err="1"/>
              <a:t>Anwendungsoptionen</a:t>
            </a:r>
            <a:r>
              <a:rPr lang="en-GB" sz="2000" dirty="0"/>
              <a:t> </a:t>
            </a:r>
          </a:p>
        </p:txBody>
      </p:sp>
      <p:sp>
        <p:nvSpPr>
          <p:cNvPr id="8" name="Rectangle 7">
            <a:extLst>
              <a:ext uri="{FF2B5EF4-FFF2-40B4-BE49-F238E27FC236}">
                <a16:creationId xmlns:a16="http://schemas.microsoft.com/office/drawing/2014/main" id="{8E450428-62A4-98CA-DFC1-79DEFEC20AD8}"/>
              </a:ext>
            </a:extLst>
          </p:cNvPr>
          <p:cNvSpPr/>
          <p:nvPr/>
        </p:nvSpPr>
        <p:spPr>
          <a:xfrm>
            <a:off x="1006437" y="3823906"/>
            <a:ext cx="10179126" cy="8895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err="1"/>
              <a:t>Ziele</a:t>
            </a:r>
            <a:r>
              <a:rPr lang="en-GB" sz="2000" dirty="0"/>
              <a:t> für den KI-</a:t>
            </a:r>
            <a:r>
              <a:rPr lang="en-GB" sz="2000" dirty="0" err="1"/>
              <a:t>Einsatz</a:t>
            </a:r>
            <a:endParaRPr lang="en-GB" sz="2000" dirty="0"/>
          </a:p>
        </p:txBody>
      </p:sp>
      <p:sp>
        <p:nvSpPr>
          <p:cNvPr id="9" name="Rectangle 8">
            <a:extLst>
              <a:ext uri="{FF2B5EF4-FFF2-40B4-BE49-F238E27FC236}">
                <a16:creationId xmlns:a16="http://schemas.microsoft.com/office/drawing/2014/main" id="{B8538ABE-93B1-FCBE-6DDE-4EBD3B22F90A}"/>
              </a:ext>
            </a:extLst>
          </p:cNvPr>
          <p:cNvSpPr/>
          <p:nvPr/>
        </p:nvSpPr>
        <p:spPr>
          <a:xfrm>
            <a:off x="948363" y="5242270"/>
            <a:ext cx="10179126" cy="545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err="1"/>
              <a:t>Konkretisierung</a:t>
            </a:r>
            <a:r>
              <a:rPr lang="en-GB" sz="2000" dirty="0"/>
              <a:t> der KI-</a:t>
            </a:r>
            <a:r>
              <a:rPr lang="en-GB" sz="2000" dirty="0" err="1"/>
              <a:t>Lösungen</a:t>
            </a:r>
            <a:endParaRPr lang="en-GB" sz="2000" dirty="0"/>
          </a:p>
        </p:txBody>
      </p:sp>
    </p:spTree>
    <p:extLst>
      <p:ext uri="{BB962C8B-B14F-4D97-AF65-F5344CB8AC3E}">
        <p14:creationId xmlns:p14="http://schemas.microsoft.com/office/powerpoint/2010/main" val="113560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C7D-79E0-2948-531B-747327FEA6D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F404A39-8290-2B7F-1BD5-DA54EA61288A}"/>
              </a:ext>
            </a:extLst>
          </p:cNvPr>
          <p:cNvSpPr>
            <a:spLocks noGrp="1"/>
          </p:cNvSpPr>
          <p:nvPr>
            <p:ph type="title"/>
          </p:nvPr>
        </p:nvSpPr>
        <p:spPr/>
        <p:txBody>
          <a:bodyPr/>
          <a:lstStyle/>
          <a:p>
            <a:pPr>
              <a:lnSpc>
                <a:spcPct val="150000"/>
              </a:lnSpc>
            </a:pPr>
            <a:r>
              <a:rPr lang="de-CH" dirty="0"/>
              <a:t>Design-Phase</a:t>
            </a:r>
          </a:p>
        </p:txBody>
      </p:sp>
      <p:sp>
        <p:nvSpPr>
          <p:cNvPr id="3" name="Slide Number Placeholder 2">
            <a:extLst>
              <a:ext uri="{FF2B5EF4-FFF2-40B4-BE49-F238E27FC236}">
                <a16:creationId xmlns:a16="http://schemas.microsoft.com/office/drawing/2014/main" id="{E2D5F632-4A1B-4CA6-FB40-3B16350E4F49}"/>
              </a:ext>
            </a:extLst>
          </p:cNvPr>
          <p:cNvSpPr>
            <a:spLocks noGrp="1"/>
          </p:cNvSpPr>
          <p:nvPr>
            <p:ph type="sldNum" sz="quarter" idx="12"/>
          </p:nvPr>
        </p:nvSpPr>
        <p:spPr/>
        <p:txBody>
          <a:bodyPr/>
          <a:lstStyle/>
          <a:p>
            <a:fld id="{442AD375-037F-43D0-B059-5172DA06796A}" type="slidenum">
              <a:rPr lang="de-CH" smtClean="0"/>
              <a:pPr/>
              <a:t>12</a:t>
            </a:fld>
            <a:endParaRPr lang="de-CH" dirty="0"/>
          </a:p>
        </p:txBody>
      </p:sp>
      <p:sp>
        <p:nvSpPr>
          <p:cNvPr id="7" name="Text Placeholder 6">
            <a:extLst>
              <a:ext uri="{FF2B5EF4-FFF2-40B4-BE49-F238E27FC236}">
                <a16:creationId xmlns:a16="http://schemas.microsoft.com/office/drawing/2014/main" id="{46ED6EA1-0A5F-4033-8DCA-ACD39AE3E6B3}"/>
              </a:ext>
            </a:extLst>
          </p:cNvPr>
          <p:cNvSpPr>
            <a:spLocks noGrp="1"/>
          </p:cNvSpPr>
          <p:nvPr>
            <p:ph type="body" sz="quarter" idx="14"/>
          </p:nvPr>
        </p:nvSpPr>
        <p:spPr/>
        <p:txBody>
          <a:bodyPr/>
          <a:lstStyle/>
          <a:p>
            <a:endParaRPr lang="en-CH"/>
          </a:p>
        </p:txBody>
      </p:sp>
      <p:sp>
        <p:nvSpPr>
          <p:cNvPr id="4" name="Rechteck 3">
            <a:extLst>
              <a:ext uri="{FF2B5EF4-FFF2-40B4-BE49-F238E27FC236}">
                <a16:creationId xmlns:a16="http://schemas.microsoft.com/office/drawing/2014/main" id="{6FF3626A-DD44-C590-0C04-B9552BE6452D}"/>
              </a:ext>
            </a:extLst>
          </p:cNvPr>
          <p:cNvSpPr/>
          <p:nvPr/>
        </p:nvSpPr>
        <p:spPr>
          <a:xfrm>
            <a:off x="1127448" y="2270751"/>
            <a:ext cx="1440160" cy="144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sz="8800" dirty="0">
                <a:solidFill>
                  <a:schemeClr val="tx1"/>
                </a:solidFill>
                <a:latin typeface="Roboto" panose="02000000000000000000" pitchFamily="2" charset="0"/>
                <a:ea typeface="Roboto" panose="02000000000000000000" pitchFamily="2" charset="0"/>
                <a:cs typeface="Roboto" panose="02000000000000000000" pitchFamily="2" charset="0"/>
              </a:rPr>
              <a:t>3</a:t>
            </a:r>
          </a:p>
        </p:txBody>
      </p:sp>
      <p:pic>
        <p:nvPicPr>
          <p:cNvPr id="5" name="Picture 4" descr="A diagram of a business process&#10;&#10;AI-generated content may be incorrect.">
            <a:extLst>
              <a:ext uri="{FF2B5EF4-FFF2-40B4-BE49-F238E27FC236}">
                <a16:creationId xmlns:a16="http://schemas.microsoft.com/office/drawing/2014/main" id="{BF9318AE-6C6F-C1F4-2453-0F08414DFDBF}"/>
              </a:ext>
            </a:extLst>
          </p:cNvPr>
          <p:cNvPicPr>
            <a:picLocks noChangeAspect="1"/>
          </p:cNvPicPr>
          <p:nvPr/>
        </p:nvPicPr>
        <p:blipFill>
          <a:blip r:embed="rId2"/>
          <a:stretch>
            <a:fillRect/>
          </a:stretch>
        </p:blipFill>
        <p:spPr>
          <a:xfrm>
            <a:off x="445716" y="1969536"/>
            <a:ext cx="10845339" cy="4000957"/>
          </a:xfrm>
          <a:prstGeom prst="rect">
            <a:avLst/>
          </a:prstGeom>
        </p:spPr>
      </p:pic>
    </p:spTree>
    <p:extLst>
      <p:ext uri="{BB962C8B-B14F-4D97-AF65-F5344CB8AC3E}">
        <p14:creationId xmlns:p14="http://schemas.microsoft.com/office/powerpoint/2010/main" val="2798329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4B9BA-B8AA-590D-FCD4-40177D724FB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AB688C6-3C8A-E13A-A7C9-7EA566C08E25}"/>
              </a:ext>
            </a:extLst>
          </p:cNvPr>
          <p:cNvSpPr>
            <a:spLocks noGrp="1"/>
          </p:cNvSpPr>
          <p:nvPr>
            <p:ph type="title"/>
          </p:nvPr>
        </p:nvSpPr>
        <p:spPr>
          <a:xfrm>
            <a:off x="2927648" y="2270753"/>
            <a:ext cx="8848491" cy="1439997"/>
          </a:xfrm>
        </p:spPr>
        <p:txBody>
          <a:bodyPr/>
          <a:lstStyle/>
          <a:p>
            <a:pPr>
              <a:lnSpc>
                <a:spcPct val="150000"/>
              </a:lnSpc>
            </a:pPr>
            <a:r>
              <a:rPr lang="de-CH" dirty="0"/>
              <a:t>Workshop 1: Unternehmensebene</a:t>
            </a:r>
          </a:p>
        </p:txBody>
      </p:sp>
      <p:sp>
        <p:nvSpPr>
          <p:cNvPr id="4" name="Rechteck 3">
            <a:extLst>
              <a:ext uri="{FF2B5EF4-FFF2-40B4-BE49-F238E27FC236}">
                <a16:creationId xmlns:a16="http://schemas.microsoft.com/office/drawing/2014/main" id="{51DD457C-B7D9-BC34-C88A-569D116756F2}"/>
              </a:ext>
            </a:extLst>
          </p:cNvPr>
          <p:cNvSpPr/>
          <p:nvPr/>
        </p:nvSpPr>
        <p:spPr>
          <a:xfrm>
            <a:off x="1127448" y="2270751"/>
            <a:ext cx="1440160" cy="144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sz="8800" dirty="0">
                <a:solidFill>
                  <a:schemeClr val="bg1"/>
                </a:solidFill>
                <a:latin typeface="Roboto" panose="02000000000000000000" pitchFamily="2" charset="0"/>
                <a:ea typeface="Roboto" panose="02000000000000000000" pitchFamily="2" charset="0"/>
                <a:cs typeface="Roboto" panose="02000000000000000000" pitchFamily="2" charset="0"/>
              </a:rPr>
              <a:t>3</a:t>
            </a:r>
          </a:p>
        </p:txBody>
      </p:sp>
    </p:spTree>
    <p:extLst>
      <p:ext uri="{BB962C8B-B14F-4D97-AF65-F5344CB8AC3E}">
        <p14:creationId xmlns:p14="http://schemas.microsoft.com/office/powerpoint/2010/main" val="265193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CB59F-F986-906F-A944-42F50D42347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EB3C48-6408-BC2C-AD1B-031922683DA2}"/>
              </a:ext>
            </a:extLst>
          </p:cNvPr>
          <p:cNvSpPr>
            <a:spLocks noGrp="1"/>
          </p:cNvSpPr>
          <p:nvPr>
            <p:ph type="title"/>
          </p:nvPr>
        </p:nvSpPr>
        <p:spPr/>
        <p:txBody>
          <a:bodyPr/>
          <a:lstStyle/>
          <a:p>
            <a:pPr>
              <a:lnSpc>
                <a:spcPct val="150000"/>
              </a:lnSpc>
            </a:pPr>
            <a:r>
              <a:rPr lang="de-CH" dirty="0"/>
              <a:t>Design-Phase</a:t>
            </a:r>
          </a:p>
        </p:txBody>
      </p:sp>
      <p:sp>
        <p:nvSpPr>
          <p:cNvPr id="3" name="Slide Number Placeholder 2">
            <a:extLst>
              <a:ext uri="{FF2B5EF4-FFF2-40B4-BE49-F238E27FC236}">
                <a16:creationId xmlns:a16="http://schemas.microsoft.com/office/drawing/2014/main" id="{135D4833-18B4-8849-BE18-912C455280B8}"/>
              </a:ext>
            </a:extLst>
          </p:cNvPr>
          <p:cNvSpPr>
            <a:spLocks noGrp="1"/>
          </p:cNvSpPr>
          <p:nvPr>
            <p:ph type="sldNum" sz="quarter" idx="12"/>
          </p:nvPr>
        </p:nvSpPr>
        <p:spPr/>
        <p:txBody>
          <a:bodyPr/>
          <a:lstStyle/>
          <a:p>
            <a:fld id="{442AD375-037F-43D0-B059-5172DA06796A}" type="slidenum">
              <a:rPr lang="de-CH" smtClean="0"/>
              <a:pPr/>
              <a:t>14</a:t>
            </a:fld>
            <a:endParaRPr lang="de-CH" dirty="0"/>
          </a:p>
        </p:txBody>
      </p:sp>
      <p:sp>
        <p:nvSpPr>
          <p:cNvPr id="7" name="Text Placeholder 6">
            <a:extLst>
              <a:ext uri="{FF2B5EF4-FFF2-40B4-BE49-F238E27FC236}">
                <a16:creationId xmlns:a16="http://schemas.microsoft.com/office/drawing/2014/main" id="{00A7C3C2-7846-14DA-251B-280585F11CBC}"/>
              </a:ext>
            </a:extLst>
          </p:cNvPr>
          <p:cNvSpPr>
            <a:spLocks noGrp="1"/>
          </p:cNvSpPr>
          <p:nvPr>
            <p:ph type="body" sz="quarter" idx="14"/>
          </p:nvPr>
        </p:nvSpPr>
        <p:spPr/>
        <p:txBody>
          <a:bodyPr/>
          <a:lstStyle/>
          <a:p>
            <a:endParaRPr lang="en-CH"/>
          </a:p>
        </p:txBody>
      </p:sp>
      <p:sp>
        <p:nvSpPr>
          <p:cNvPr id="4" name="Rechteck 3">
            <a:extLst>
              <a:ext uri="{FF2B5EF4-FFF2-40B4-BE49-F238E27FC236}">
                <a16:creationId xmlns:a16="http://schemas.microsoft.com/office/drawing/2014/main" id="{52A879E4-ABFF-5635-3E06-17BDF9BAAD21}"/>
              </a:ext>
            </a:extLst>
          </p:cNvPr>
          <p:cNvSpPr/>
          <p:nvPr/>
        </p:nvSpPr>
        <p:spPr>
          <a:xfrm>
            <a:off x="1127448" y="2270751"/>
            <a:ext cx="1440160" cy="144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sz="8800" dirty="0">
                <a:solidFill>
                  <a:schemeClr val="tx1"/>
                </a:solidFill>
                <a:latin typeface="Roboto" panose="02000000000000000000" pitchFamily="2" charset="0"/>
                <a:ea typeface="Roboto" panose="02000000000000000000" pitchFamily="2" charset="0"/>
                <a:cs typeface="Roboto" panose="02000000000000000000" pitchFamily="2" charset="0"/>
              </a:rPr>
              <a:t>3</a:t>
            </a:r>
          </a:p>
        </p:txBody>
      </p:sp>
      <p:pic>
        <p:nvPicPr>
          <p:cNvPr id="5" name="Picture 4" descr="A diagram of a business process&#10;&#10;AI-generated content may be incorrect.">
            <a:extLst>
              <a:ext uri="{FF2B5EF4-FFF2-40B4-BE49-F238E27FC236}">
                <a16:creationId xmlns:a16="http://schemas.microsoft.com/office/drawing/2014/main" id="{9285D3F7-77AB-4C8D-D30D-26C580060473}"/>
              </a:ext>
            </a:extLst>
          </p:cNvPr>
          <p:cNvPicPr>
            <a:picLocks noChangeAspect="1"/>
          </p:cNvPicPr>
          <p:nvPr/>
        </p:nvPicPr>
        <p:blipFill>
          <a:blip r:embed="rId2"/>
          <a:stretch>
            <a:fillRect/>
          </a:stretch>
        </p:blipFill>
        <p:spPr>
          <a:xfrm>
            <a:off x="445716" y="1969536"/>
            <a:ext cx="10845339" cy="4000957"/>
          </a:xfrm>
          <a:prstGeom prst="rect">
            <a:avLst/>
          </a:prstGeom>
        </p:spPr>
      </p:pic>
      <p:sp>
        <p:nvSpPr>
          <p:cNvPr id="18" name="Rectangle 17">
            <a:extLst>
              <a:ext uri="{FF2B5EF4-FFF2-40B4-BE49-F238E27FC236}">
                <a16:creationId xmlns:a16="http://schemas.microsoft.com/office/drawing/2014/main" id="{F8459917-5C38-D845-11AD-7F96DF353ABC}"/>
              </a:ext>
            </a:extLst>
          </p:cNvPr>
          <p:cNvSpPr/>
          <p:nvPr/>
        </p:nvSpPr>
        <p:spPr>
          <a:xfrm>
            <a:off x="89794" y="3282234"/>
            <a:ext cx="10974758" cy="277692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878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8A92F9-7B85-6841-1440-27DE54141629}"/>
              </a:ext>
            </a:extLst>
          </p:cNvPr>
          <p:cNvPicPr>
            <a:picLocks noChangeAspect="1"/>
          </p:cNvPicPr>
          <p:nvPr/>
        </p:nvPicPr>
        <p:blipFill>
          <a:blip r:embed="rId2"/>
          <a:stretch>
            <a:fillRect/>
          </a:stretch>
        </p:blipFill>
        <p:spPr>
          <a:xfrm>
            <a:off x="7367771" y="171861"/>
            <a:ext cx="2916635" cy="1136317"/>
          </a:xfrm>
          <a:prstGeom prst="rect">
            <a:avLst/>
          </a:prstGeom>
        </p:spPr>
      </p:pic>
      <p:sp>
        <p:nvSpPr>
          <p:cNvPr id="4" name="Titel 3"/>
          <p:cNvSpPr>
            <a:spLocks noGrp="1"/>
          </p:cNvSpPr>
          <p:nvPr>
            <p:ph type="title" idx="4294967295"/>
          </p:nvPr>
        </p:nvSpPr>
        <p:spPr>
          <a:xfrm>
            <a:off x="611981" y="57220"/>
            <a:ext cx="10968037" cy="1008062"/>
          </a:xfrm>
        </p:spPr>
        <p:txBody>
          <a:bodyPr/>
          <a:lstStyle/>
          <a:p>
            <a:r>
              <a:rPr lang="de-CH" dirty="0"/>
              <a:t>Iteration 1: Unternehmensebene</a:t>
            </a:r>
            <a:br>
              <a:rPr lang="de-CH" dirty="0"/>
            </a:br>
            <a:r>
              <a:rPr lang="de-CH" dirty="0"/>
              <a:t>Externe Sicht -Markt</a:t>
            </a:r>
          </a:p>
        </p:txBody>
      </p:sp>
      <p:sp>
        <p:nvSpPr>
          <p:cNvPr id="7" name="TextBox 6">
            <a:extLst>
              <a:ext uri="{FF2B5EF4-FFF2-40B4-BE49-F238E27FC236}">
                <a16:creationId xmlns:a16="http://schemas.microsoft.com/office/drawing/2014/main" id="{B3EC406A-B722-220D-A19D-6F97037FC450}"/>
              </a:ext>
            </a:extLst>
          </p:cNvPr>
          <p:cNvSpPr txBox="1"/>
          <p:nvPr/>
        </p:nvSpPr>
        <p:spPr>
          <a:xfrm>
            <a:off x="611981" y="1958485"/>
            <a:ext cx="10968036" cy="2031325"/>
          </a:xfrm>
          <a:prstGeom prst="rect">
            <a:avLst/>
          </a:prstGeom>
          <a:noFill/>
        </p:spPr>
        <p:txBody>
          <a:bodyPr wrap="square">
            <a:spAutoFit/>
          </a:bodyPr>
          <a:lstStyle/>
          <a:p>
            <a:r>
              <a:rPr lang="en-GB" b="1" dirty="0"/>
              <a:t>Tool 1: Portfolio-Matrix </a:t>
            </a:r>
          </a:p>
          <a:p>
            <a:r>
              <a:rPr lang="en-GB" dirty="0"/>
              <a:t>Die Portfolio-Matrix (Henderson, 1970) </a:t>
            </a:r>
            <a:r>
              <a:rPr lang="en-GB" dirty="0" err="1"/>
              <a:t>ist</a:t>
            </a:r>
            <a:r>
              <a:rPr lang="en-GB" dirty="0"/>
              <a:t> </a:t>
            </a:r>
            <a:r>
              <a:rPr lang="en-GB" dirty="0" err="1"/>
              <a:t>eine</a:t>
            </a:r>
            <a:r>
              <a:rPr lang="en-GB" dirty="0"/>
              <a:t> </a:t>
            </a:r>
            <a:r>
              <a:rPr lang="en-GB" dirty="0" err="1"/>
              <a:t>bewährte</a:t>
            </a:r>
            <a:r>
              <a:rPr lang="en-GB" dirty="0"/>
              <a:t> </a:t>
            </a:r>
            <a:r>
              <a:rPr lang="en-GB" dirty="0" err="1"/>
              <a:t>Methode</a:t>
            </a:r>
            <a:r>
              <a:rPr lang="en-GB" dirty="0"/>
              <a:t>, um das </a:t>
            </a:r>
            <a:r>
              <a:rPr lang="en-GB" dirty="0" err="1"/>
              <a:t>Produktportfolio</a:t>
            </a:r>
            <a:r>
              <a:rPr lang="en-GB" dirty="0"/>
              <a:t> des </a:t>
            </a:r>
            <a:r>
              <a:rPr lang="en-GB" dirty="0" err="1"/>
              <a:t>eigenen</a:t>
            </a:r>
            <a:r>
              <a:rPr lang="en-GB" dirty="0"/>
              <a:t> </a:t>
            </a:r>
            <a:r>
              <a:rPr lang="en-GB" dirty="0" err="1"/>
              <a:t>Unternehmens</a:t>
            </a:r>
            <a:r>
              <a:rPr lang="en-GB" dirty="0"/>
              <a:t> </a:t>
            </a:r>
            <a:r>
              <a:rPr lang="en-GB" dirty="0" err="1"/>
              <a:t>analysieren</a:t>
            </a:r>
            <a:r>
              <a:rPr lang="en-GB" dirty="0"/>
              <a:t> </a:t>
            </a:r>
            <a:r>
              <a:rPr lang="en-GB" dirty="0" err="1"/>
              <a:t>zu</a:t>
            </a:r>
            <a:r>
              <a:rPr lang="en-GB" dirty="0"/>
              <a:t> </a:t>
            </a:r>
            <a:r>
              <a:rPr lang="en-GB" dirty="0" err="1"/>
              <a:t>können</a:t>
            </a:r>
            <a:r>
              <a:rPr lang="en-GB" dirty="0"/>
              <a:t>. Sie </a:t>
            </a:r>
            <a:r>
              <a:rPr lang="en-GB" dirty="0" err="1"/>
              <a:t>zeigt</a:t>
            </a:r>
            <a:r>
              <a:rPr lang="en-GB" dirty="0"/>
              <a:t> auf, in </a:t>
            </a:r>
            <a:r>
              <a:rPr lang="en-GB" dirty="0" err="1"/>
              <a:t>welchem</a:t>
            </a:r>
            <a:r>
              <a:rPr lang="en-GB" dirty="0"/>
              <a:t> Stadium </a:t>
            </a:r>
            <a:r>
              <a:rPr lang="en-GB" dirty="0" err="1"/>
              <a:t>sich</a:t>
            </a:r>
            <a:r>
              <a:rPr lang="en-GB" dirty="0"/>
              <a:t> die </a:t>
            </a:r>
            <a:r>
              <a:rPr lang="en-GB" dirty="0" err="1"/>
              <a:t>einzelnen</a:t>
            </a:r>
            <a:r>
              <a:rPr lang="en-GB" dirty="0"/>
              <a:t> </a:t>
            </a:r>
            <a:r>
              <a:rPr lang="en-GB" dirty="0" err="1"/>
              <a:t>Produkte</a:t>
            </a:r>
            <a:r>
              <a:rPr lang="en-GB" dirty="0"/>
              <a:t> (und </a:t>
            </a:r>
            <a:r>
              <a:rPr lang="en-GB" dirty="0" err="1"/>
              <a:t>Dienstleistungen</a:t>
            </a:r>
            <a:r>
              <a:rPr lang="en-GB" dirty="0"/>
              <a:t>) </a:t>
            </a:r>
            <a:r>
              <a:rPr lang="en-GB" dirty="0" err="1"/>
              <a:t>befinden</a:t>
            </a:r>
            <a:r>
              <a:rPr lang="en-GB" dirty="0"/>
              <a:t> und </a:t>
            </a:r>
            <a:r>
              <a:rPr lang="en-GB" dirty="0" err="1"/>
              <a:t>wie</a:t>
            </a:r>
            <a:r>
              <a:rPr lang="en-GB" dirty="0"/>
              <a:t> </a:t>
            </a:r>
            <a:r>
              <a:rPr lang="en-GB" dirty="0" err="1"/>
              <a:t>ausgeglichen</a:t>
            </a:r>
            <a:r>
              <a:rPr lang="en-GB" dirty="0"/>
              <a:t> das </a:t>
            </a:r>
            <a:r>
              <a:rPr lang="en-GB" dirty="0" err="1"/>
              <a:t>gesamte</a:t>
            </a:r>
            <a:r>
              <a:rPr lang="en-GB" dirty="0"/>
              <a:t> Portfolio in </a:t>
            </a:r>
            <a:r>
              <a:rPr lang="en-GB" dirty="0" err="1"/>
              <a:t>sich</a:t>
            </a:r>
            <a:r>
              <a:rPr lang="en-GB" dirty="0"/>
              <a:t> </a:t>
            </a:r>
            <a:r>
              <a:rPr lang="en-GB" dirty="0" err="1"/>
              <a:t>ist</a:t>
            </a:r>
            <a:r>
              <a:rPr lang="en-GB" dirty="0"/>
              <a:t>. </a:t>
            </a:r>
            <a:r>
              <a:rPr lang="en-GB" dirty="0" err="1"/>
              <a:t>Durch</a:t>
            </a:r>
            <a:r>
              <a:rPr lang="en-GB" dirty="0"/>
              <a:t> die Analyse </a:t>
            </a:r>
            <a:r>
              <a:rPr lang="en-GB" dirty="0" err="1"/>
              <a:t>können</a:t>
            </a:r>
            <a:r>
              <a:rPr lang="en-GB" dirty="0"/>
              <a:t> </a:t>
            </a:r>
            <a:r>
              <a:rPr lang="en-GB" dirty="0" err="1"/>
              <a:t>Produkte</a:t>
            </a:r>
            <a:r>
              <a:rPr lang="en-GB" dirty="0"/>
              <a:t>/</a:t>
            </a:r>
            <a:r>
              <a:rPr lang="en-GB" dirty="0" err="1"/>
              <a:t>Dienstleistungen</a:t>
            </a:r>
            <a:r>
              <a:rPr lang="en-GB" dirty="0"/>
              <a:t> </a:t>
            </a:r>
            <a:r>
              <a:rPr lang="en-GB" dirty="0" err="1"/>
              <a:t>ausgelegt</a:t>
            </a:r>
            <a:r>
              <a:rPr lang="en-GB" dirty="0"/>
              <a:t>, </a:t>
            </a:r>
            <a:r>
              <a:rPr lang="en-GB" dirty="0" err="1"/>
              <a:t>besprochen</a:t>
            </a:r>
            <a:r>
              <a:rPr lang="en-GB" dirty="0"/>
              <a:t> und </a:t>
            </a:r>
            <a:r>
              <a:rPr lang="en-GB" dirty="0" err="1"/>
              <a:t>Potenziale</a:t>
            </a:r>
            <a:r>
              <a:rPr lang="en-GB" dirty="0"/>
              <a:t> für den </a:t>
            </a:r>
            <a:r>
              <a:rPr lang="en-GB" dirty="0" err="1"/>
              <a:t>Einsatz</a:t>
            </a:r>
            <a:r>
              <a:rPr lang="en-GB" dirty="0"/>
              <a:t> von KI ("wo </a:t>
            </a:r>
            <a:r>
              <a:rPr lang="en-GB" dirty="0" err="1"/>
              <a:t>lohnt</a:t>
            </a:r>
            <a:r>
              <a:rPr lang="en-GB" dirty="0"/>
              <a:t> </a:t>
            </a:r>
            <a:r>
              <a:rPr lang="en-GB" dirty="0" err="1"/>
              <a:t>sich</a:t>
            </a:r>
            <a:r>
              <a:rPr lang="en-GB" dirty="0"/>
              <a:t> </a:t>
            </a:r>
            <a:r>
              <a:rPr lang="en-GB" dirty="0" err="1"/>
              <a:t>eine</a:t>
            </a:r>
            <a:r>
              <a:rPr lang="en-GB" dirty="0"/>
              <a:t> </a:t>
            </a:r>
            <a:r>
              <a:rPr lang="en-GB" dirty="0" err="1"/>
              <a:t>Investition</a:t>
            </a:r>
            <a:r>
              <a:rPr lang="en-GB" dirty="0"/>
              <a:t>?") </a:t>
            </a:r>
            <a:r>
              <a:rPr lang="en-GB" dirty="0" err="1"/>
              <a:t>bestimmt</a:t>
            </a:r>
            <a:r>
              <a:rPr lang="en-GB" dirty="0"/>
              <a:t> </a:t>
            </a:r>
            <a:r>
              <a:rPr lang="en-GB" dirty="0" err="1"/>
              <a:t>werden</a:t>
            </a:r>
            <a:r>
              <a:rPr lang="en-GB" dirty="0"/>
              <a:t>.</a:t>
            </a:r>
          </a:p>
          <a:p>
            <a:endParaRPr lang="en-GB" dirty="0"/>
          </a:p>
        </p:txBody>
      </p:sp>
      <p:sp>
        <p:nvSpPr>
          <p:cNvPr id="8" name="TextBox 7">
            <a:extLst>
              <a:ext uri="{FF2B5EF4-FFF2-40B4-BE49-F238E27FC236}">
                <a16:creationId xmlns:a16="http://schemas.microsoft.com/office/drawing/2014/main" id="{EC7DAF55-905F-9D63-79CE-E5CE57C09B8A}"/>
              </a:ext>
            </a:extLst>
          </p:cNvPr>
          <p:cNvSpPr txBox="1"/>
          <p:nvPr/>
        </p:nvSpPr>
        <p:spPr>
          <a:xfrm>
            <a:off x="710593" y="4144349"/>
            <a:ext cx="4369922" cy="2585323"/>
          </a:xfrm>
          <a:prstGeom prst="rect">
            <a:avLst/>
          </a:prstGeom>
          <a:noFill/>
        </p:spPr>
        <p:txBody>
          <a:bodyPr wrap="square">
            <a:spAutoFit/>
          </a:bodyPr>
          <a:lstStyle/>
          <a:p>
            <a:pPr marL="285750" indent="-285750">
              <a:buFont typeface="Arial" panose="020B0604020202020204" pitchFamily="34" charset="0"/>
              <a:buChar char="•"/>
            </a:pPr>
            <a:r>
              <a:rPr lang="en-GB" dirty="0">
                <a:highlight>
                  <a:srgbClr val="FFFF00"/>
                </a:highlight>
              </a:rPr>
              <a:t>Bitte die </a:t>
            </a:r>
            <a:r>
              <a:rPr lang="en-GB" dirty="0" err="1">
                <a:highlight>
                  <a:srgbClr val="FFFF00"/>
                </a:highlight>
              </a:rPr>
              <a:t>wichtigsten</a:t>
            </a:r>
            <a:r>
              <a:rPr lang="en-GB" dirty="0">
                <a:highlight>
                  <a:srgbClr val="FFFF00"/>
                </a:highlight>
              </a:rPr>
              <a:t> </a:t>
            </a:r>
            <a:r>
              <a:rPr lang="en-GB" dirty="0" err="1">
                <a:highlight>
                  <a:srgbClr val="FFFF00"/>
                </a:highlight>
              </a:rPr>
              <a:t>Produkte</a:t>
            </a:r>
            <a:r>
              <a:rPr lang="en-GB" dirty="0">
                <a:highlight>
                  <a:srgbClr val="FFFF00"/>
                </a:highlight>
              </a:rPr>
              <a:t> / </a:t>
            </a:r>
            <a:r>
              <a:rPr lang="en-GB" dirty="0" err="1">
                <a:highlight>
                  <a:srgbClr val="FFFF00"/>
                </a:highlight>
              </a:rPr>
              <a:t>Dienstleistungen</a:t>
            </a:r>
            <a:r>
              <a:rPr lang="en-GB" dirty="0">
                <a:highlight>
                  <a:srgbClr val="FFFF00"/>
                </a:highlight>
              </a:rPr>
              <a:t> des KMU </a:t>
            </a:r>
            <a:r>
              <a:rPr lang="en-GB" dirty="0" err="1">
                <a:highlight>
                  <a:srgbClr val="FFFF00"/>
                </a:highlight>
              </a:rPr>
              <a:t>erfassen</a:t>
            </a:r>
            <a:r>
              <a:rPr lang="en-GB" dirty="0">
                <a:highlight>
                  <a:srgbClr val="FFFF00"/>
                </a:highlight>
              </a:rPr>
              <a:t> und in der Matrix den </a:t>
            </a:r>
            <a:r>
              <a:rPr lang="en-GB" dirty="0" err="1">
                <a:highlight>
                  <a:srgbClr val="FFFF00"/>
                </a:highlight>
              </a:rPr>
              <a:t>Ist-Zustand</a:t>
            </a:r>
            <a:r>
              <a:rPr lang="en-GB" dirty="0">
                <a:highlight>
                  <a:srgbClr val="FFFF00"/>
                </a:highlight>
              </a:rPr>
              <a:t> </a:t>
            </a:r>
            <a:r>
              <a:rPr lang="en-GB" dirty="0" err="1">
                <a:highlight>
                  <a:srgbClr val="FFFF00"/>
                </a:highlight>
              </a:rPr>
              <a:t>sowie</a:t>
            </a:r>
            <a:r>
              <a:rPr lang="en-GB" dirty="0">
                <a:highlight>
                  <a:srgbClr val="FFFF00"/>
                </a:highlight>
              </a:rPr>
              <a:t> den </a:t>
            </a:r>
            <a:r>
              <a:rPr lang="en-GB" dirty="0" err="1">
                <a:highlight>
                  <a:srgbClr val="FFFF00"/>
                </a:highlight>
              </a:rPr>
              <a:t>angenommenen</a:t>
            </a:r>
            <a:r>
              <a:rPr lang="en-GB" dirty="0">
                <a:highlight>
                  <a:srgbClr val="FFFF00"/>
                </a:highlight>
              </a:rPr>
              <a:t> Soll-</a:t>
            </a:r>
            <a:r>
              <a:rPr lang="en-GB" dirty="0" err="1">
                <a:highlight>
                  <a:srgbClr val="FFFF00"/>
                </a:highlight>
              </a:rPr>
              <a:t>Zustand</a:t>
            </a:r>
            <a:r>
              <a:rPr lang="en-GB" dirty="0">
                <a:highlight>
                  <a:srgbClr val="FFFF00"/>
                </a:highlight>
              </a:rPr>
              <a:t> </a:t>
            </a:r>
            <a:r>
              <a:rPr lang="en-GB" dirty="0" err="1">
                <a:highlight>
                  <a:srgbClr val="FFFF00"/>
                </a:highlight>
              </a:rPr>
              <a:t>dokumentieren</a:t>
            </a:r>
            <a:r>
              <a:rPr lang="en-GB" dirty="0">
                <a:highlight>
                  <a:srgbClr val="FFFF00"/>
                </a:highlight>
              </a:rPr>
              <a:t>.</a:t>
            </a:r>
          </a:p>
          <a:p>
            <a:pPr marL="285750" indent="-285750">
              <a:buFont typeface="Arial" panose="020B0604020202020204" pitchFamily="34" charset="0"/>
              <a:buChar char="•"/>
            </a:pPr>
            <a:r>
              <a:rPr lang="en-GB" dirty="0" err="1">
                <a:highlight>
                  <a:srgbClr val="FFFF00"/>
                </a:highlight>
              </a:rPr>
              <a:t>Diskussion</a:t>
            </a:r>
            <a:r>
              <a:rPr lang="en-GB" dirty="0">
                <a:highlight>
                  <a:srgbClr val="FFFF00"/>
                </a:highlight>
              </a:rPr>
              <a:t>:</a:t>
            </a:r>
          </a:p>
          <a:p>
            <a:pPr marL="742950" lvl="1" indent="-285750">
              <a:buFont typeface="Arial" panose="020B0604020202020204" pitchFamily="34" charset="0"/>
              <a:buChar char="•"/>
            </a:pPr>
            <a:r>
              <a:rPr lang="en-GB" dirty="0">
                <a:highlight>
                  <a:srgbClr val="FFFF00"/>
                </a:highlight>
              </a:rPr>
              <a:t>Wie </a:t>
            </a:r>
            <a:r>
              <a:rPr lang="en-GB" dirty="0" err="1">
                <a:highlight>
                  <a:srgbClr val="FFFF00"/>
                </a:highlight>
              </a:rPr>
              <a:t>kann</a:t>
            </a:r>
            <a:r>
              <a:rPr lang="en-GB" dirty="0">
                <a:highlight>
                  <a:srgbClr val="FFFF00"/>
                </a:highlight>
              </a:rPr>
              <a:t> </a:t>
            </a:r>
            <a:r>
              <a:rPr lang="en-GB" dirty="0" err="1">
                <a:highlight>
                  <a:srgbClr val="FFFF00"/>
                </a:highlight>
              </a:rPr>
              <a:t>aus</a:t>
            </a:r>
            <a:r>
              <a:rPr lang="en-GB" dirty="0">
                <a:highlight>
                  <a:srgbClr val="FFFF00"/>
                </a:highlight>
              </a:rPr>
              <a:t> Question Mark </a:t>
            </a:r>
            <a:r>
              <a:rPr lang="en-GB" dirty="0" err="1">
                <a:highlight>
                  <a:srgbClr val="FFFF00"/>
                </a:highlight>
              </a:rPr>
              <a:t>ein</a:t>
            </a:r>
            <a:r>
              <a:rPr lang="en-GB" dirty="0">
                <a:highlight>
                  <a:srgbClr val="FFFF00"/>
                </a:highlight>
              </a:rPr>
              <a:t> Star warden?</a:t>
            </a:r>
          </a:p>
          <a:p>
            <a:pPr marL="742950" lvl="1" indent="-285750">
              <a:buFont typeface="Arial" panose="020B0604020202020204" pitchFamily="34" charset="0"/>
              <a:buChar char="•"/>
            </a:pPr>
            <a:r>
              <a:rPr lang="en-GB" dirty="0">
                <a:highlight>
                  <a:srgbClr val="FFFF00"/>
                </a:highlight>
              </a:rPr>
              <a:t>Was </a:t>
            </a:r>
            <a:r>
              <a:rPr lang="en-GB" dirty="0" err="1">
                <a:highlight>
                  <a:srgbClr val="FFFF00"/>
                </a:highlight>
              </a:rPr>
              <a:t>bedroht</a:t>
            </a:r>
            <a:r>
              <a:rPr lang="en-GB" dirty="0">
                <a:highlight>
                  <a:srgbClr val="FFFF00"/>
                </a:highlight>
              </a:rPr>
              <a:t> die Cash Cows?</a:t>
            </a:r>
          </a:p>
        </p:txBody>
      </p:sp>
      <p:sp>
        <p:nvSpPr>
          <p:cNvPr id="11" name="Rectangle 10">
            <a:extLst>
              <a:ext uri="{FF2B5EF4-FFF2-40B4-BE49-F238E27FC236}">
                <a16:creationId xmlns:a16="http://schemas.microsoft.com/office/drawing/2014/main" id="{ECF3E2E0-1CB8-E799-443B-C83C06F99EFC}"/>
              </a:ext>
            </a:extLst>
          </p:cNvPr>
          <p:cNvSpPr/>
          <p:nvPr/>
        </p:nvSpPr>
        <p:spPr>
          <a:xfrm>
            <a:off x="8037959" y="307140"/>
            <a:ext cx="788129" cy="254111"/>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grpSp>
        <p:nvGrpSpPr>
          <p:cNvPr id="20" name="Group 19">
            <a:extLst>
              <a:ext uri="{FF2B5EF4-FFF2-40B4-BE49-F238E27FC236}">
                <a16:creationId xmlns:a16="http://schemas.microsoft.com/office/drawing/2014/main" id="{CA23897D-AF2E-5977-67F2-A407D1A6399C}"/>
              </a:ext>
            </a:extLst>
          </p:cNvPr>
          <p:cNvGrpSpPr/>
          <p:nvPr/>
        </p:nvGrpSpPr>
        <p:grpSpPr>
          <a:xfrm>
            <a:off x="6461082" y="3487239"/>
            <a:ext cx="3766604" cy="3063621"/>
            <a:chOff x="2158922" y="690694"/>
            <a:chExt cx="6455142" cy="5250382"/>
          </a:xfrm>
        </p:grpSpPr>
        <p:pic>
          <p:nvPicPr>
            <p:cNvPr id="3" name="Picture 2" descr="A diagram of a diagram of a cow and a dog&#10;&#10;Description automatically generated">
              <a:extLst>
                <a:ext uri="{FF2B5EF4-FFF2-40B4-BE49-F238E27FC236}">
                  <a16:creationId xmlns:a16="http://schemas.microsoft.com/office/drawing/2014/main" id="{6FE172AE-8745-C4D1-9AC5-81C0C783F9C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158922" y="766894"/>
              <a:ext cx="6455142" cy="5174182"/>
            </a:xfrm>
            <a:prstGeom prst="rect">
              <a:avLst/>
            </a:prstGeom>
          </p:spPr>
        </p:pic>
        <p:sp>
          <p:nvSpPr>
            <p:cNvPr id="6" name="Rectangle 5">
              <a:extLst>
                <a:ext uri="{FF2B5EF4-FFF2-40B4-BE49-F238E27FC236}">
                  <a16:creationId xmlns:a16="http://schemas.microsoft.com/office/drawing/2014/main" id="{603FFFBF-ACD5-1C43-2372-6CE943A7DA7C}"/>
                </a:ext>
              </a:extLst>
            </p:cNvPr>
            <p:cNvSpPr/>
            <p:nvPr/>
          </p:nvSpPr>
          <p:spPr>
            <a:xfrm>
              <a:off x="3127664" y="766894"/>
              <a:ext cx="2441863" cy="2381551"/>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2AE19471-7EEA-C148-818D-C22A63884B6D}"/>
                </a:ext>
              </a:extLst>
            </p:cNvPr>
            <p:cNvSpPr/>
            <p:nvPr/>
          </p:nvSpPr>
          <p:spPr>
            <a:xfrm>
              <a:off x="5794664" y="690694"/>
              <a:ext cx="2441863" cy="2381551"/>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BD937387-31D9-1526-3414-6660E6583611}"/>
                </a:ext>
              </a:extLst>
            </p:cNvPr>
            <p:cNvSpPr/>
            <p:nvPr/>
          </p:nvSpPr>
          <p:spPr>
            <a:xfrm>
              <a:off x="3127663" y="3353986"/>
              <a:ext cx="2441863" cy="1664824"/>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4B47538A-890C-BD21-3755-0F9727AC4FA8}"/>
                </a:ext>
              </a:extLst>
            </p:cNvPr>
            <p:cNvSpPr/>
            <p:nvPr/>
          </p:nvSpPr>
          <p:spPr>
            <a:xfrm>
              <a:off x="5870863" y="3277786"/>
              <a:ext cx="2649682" cy="1741024"/>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D18C7048-D47B-3451-9CF3-E14049DA05E9}"/>
                </a:ext>
              </a:extLst>
            </p:cNvPr>
            <p:cNvSpPr/>
            <p:nvPr/>
          </p:nvSpPr>
          <p:spPr>
            <a:xfrm>
              <a:off x="4194464" y="2431473"/>
              <a:ext cx="571500" cy="571500"/>
            </a:xfrm>
            <a:prstGeom prst="ellipse">
              <a:avLst/>
            </a:prstGeom>
            <a:solidFill>
              <a:srgbClr val="B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6359942C-AA01-B337-D092-2A2B1F88A708}"/>
                </a:ext>
              </a:extLst>
            </p:cNvPr>
            <p:cNvSpPr/>
            <p:nvPr/>
          </p:nvSpPr>
          <p:spPr>
            <a:xfrm>
              <a:off x="6832885" y="2566545"/>
              <a:ext cx="479717" cy="467600"/>
            </a:xfrm>
            <a:prstGeom prst="ellipse">
              <a:avLst/>
            </a:prstGeom>
            <a:solidFill>
              <a:srgbClr val="61B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A06A9960-73D2-997D-BD5E-7150EDDD5607}"/>
                </a:ext>
              </a:extLst>
            </p:cNvPr>
            <p:cNvSpPr/>
            <p:nvPr/>
          </p:nvSpPr>
          <p:spPr>
            <a:xfrm>
              <a:off x="6212030" y="3072245"/>
              <a:ext cx="860714" cy="860714"/>
            </a:xfrm>
            <a:prstGeom prst="ellipse">
              <a:avLst/>
            </a:prstGeom>
            <a:solidFill>
              <a:srgbClr val="FF5B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19627660-C35C-4FA7-CD04-7431DC361578}"/>
                </a:ext>
              </a:extLst>
            </p:cNvPr>
            <p:cNvSpPr/>
            <p:nvPr/>
          </p:nvSpPr>
          <p:spPr>
            <a:xfrm>
              <a:off x="4119723" y="3850758"/>
              <a:ext cx="462668" cy="462668"/>
            </a:xfrm>
            <a:prstGeom prst="ellipse">
              <a:avLst/>
            </a:prstGeom>
            <a:solidFill>
              <a:srgbClr val="D00E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0C799848-92CF-E8E4-534D-5B952FB78715}"/>
                </a:ext>
              </a:extLst>
            </p:cNvPr>
            <p:cNvSpPr/>
            <p:nvPr/>
          </p:nvSpPr>
          <p:spPr>
            <a:xfrm>
              <a:off x="5408467" y="1570760"/>
              <a:ext cx="860713" cy="8607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973227B7-1802-40B5-53CA-2A45A6F5A444}"/>
                </a:ext>
              </a:extLst>
            </p:cNvPr>
            <p:cNvSpPr/>
            <p:nvPr/>
          </p:nvSpPr>
          <p:spPr>
            <a:xfrm>
              <a:off x="7441619" y="3305360"/>
              <a:ext cx="648565" cy="648565"/>
            </a:xfrm>
            <a:prstGeom prst="ellipse">
              <a:avLst/>
            </a:prstGeom>
            <a:solidFill>
              <a:srgbClr val="B0DD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97943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B7B7DB-2773-F893-9CB5-B4F1C5A46C55}"/>
              </a:ext>
            </a:extLst>
          </p:cNvPr>
          <p:cNvPicPr>
            <a:picLocks noChangeAspect="1"/>
          </p:cNvPicPr>
          <p:nvPr/>
        </p:nvPicPr>
        <p:blipFill>
          <a:blip r:embed="rId2"/>
          <a:stretch>
            <a:fillRect/>
          </a:stretch>
        </p:blipFill>
        <p:spPr>
          <a:xfrm>
            <a:off x="7311051" y="176769"/>
            <a:ext cx="2916635" cy="1136317"/>
          </a:xfrm>
          <a:prstGeom prst="rect">
            <a:avLst/>
          </a:prstGeom>
        </p:spPr>
      </p:pic>
      <p:sp>
        <p:nvSpPr>
          <p:cNvPr id="2" name="Title 1">
            <a:extLst>
              <a:ext uri="{FF2B5EF4-FFF2-40B4-BE49-F238E27FC236}">
                <a16:creationId xmlns:a16="http://schemas.microsoft.com/office/drawing/2014/main" id="{2D9E6F34-311E-709E-2F91-714958250A9B}"/>
              </a:ext>
            </a:extLst>
          </p:cNvPr>
          <p:cNvSpPr>
            <a:spLocks noGrp="1"/>
          </p:cNvSpPr>
          <p:nvPr>
            <p:ph type="title"/>
          </p:nvPr>
        </p:nvSpPr>
        <p:spPr/>
        <p:txBody>
          <a:bodyPr/>
          <a:lstStyle/>
          <a:p>
            <a:r>
              <a:rPr lang="de-CH" dirty="0"/>
              <a:t>Iteration 1: Unternehmensebene</a:t>
            </a:r>
            <a:br>
              <a:rPr lang="de-CH" dirty="0"/>
            </a:br>
            <a:r>
              <a:rPr lang="de-CH" dirty="0"/>
              <a:t>Interne Sicht –Stärken und Schwächen</a:t>
            </a:r>
            <a:endParaRPr lang="en-GB" dirty="0"/>
          </a:p>
        </p:txBody>
      </p:sp>
      <p:sp>
        <p:nvSpPr>
          <p:cNvPr id="3" name="Footer Placeholder 2">
            <a:extLst>
              <a:ext uri="{FF2B5EF4-FFF2-40B4-BE49-F238E27FC236}">
                <a16:creationId xmlns:a16="http://schemas.microsoft.com/office/drawing/2014/main" id="{C172FF84-0599-A59E-0671-943EA2EC5B45}"/>
              </a:ext>
            </a:extLst>
          </p:cNvPr>
          <p:cNvSpPr>
            <a:spLocks noGrp="1"/>
          </p:cNvSpPr>
          <p:nvPr>
            <p:ph type="ftr" sz="quarter" idx="15"/>
          </p:nvPr>
        </p:nvSpPr>
        <p:spPr/>
        <p:txBody>
          <a:bodyPr/>
          <a:lstStyle/>
          <a:p>
            <a:pPr>
              <a:defRPr/>
            </a:pPr>
            <a:r>
              <a:rPr lang="de-DE"/>
              <a:t>Künstliche Intelligenz:  Möglichkeiten und Grenzen</a:t>
            </a:r>
            <a:endParaRPr lang="de-CH" dirty="0"/>
          </a:p>
        </p:txBody>
      </p:sp>
      <p:sp>
        <p:nvSpPr>
          <p:cNvPr id="8" name="TextBox 7">
            <a:extLst>
              <a:ext uri="{FF2B5EF4-FFF2-40B4-BE49-F238E27FC236}">
                <a16:creationId xmlns:a16="http://schemas.microsoft.com/office/drawing/2014/main" id="{CD6887DA-493C-4F9F-6C74-D2561D451218}"/>
              </a:ext>
            </a:extLst>
          </p:cNvPr>
          <p:cNvSpPr txBox="1"/>
          <p:nvPr/>
        </p:nvSpPr>
        <p:spPr>
          <a:xfrm>
            <a:off x="611981" y="1958485"/>
            <a:ext cx="10968036" cy="1200329"/>
          </a:xfrm>
          <a:prstGeom prst="rect">
            <a:avLst/>
          </a:prstGeom>
          <a:noFill/>
        </p:spPr>
        <p:txBody>
          <a:bodyPr wrap="square">
            <a:spAutoFit/>
          </a:bodyPr>
          <a:lstStyle/>
          <a:p>
            <a:r>
              <a:rPr lang="en-GB" b="1" dirty="0"/>
              <a:t>Tool 2: Capability Map (interne Sicht)</a:t>
            </a:r>
          </a:p>
          <a:p>
            <a:r>
              <a:rPr lang="de-DE" dirty="0" err="1"/>
              <a:t>Capabilities</a:t>
            </a:r>
            <a:r>
              <a:rPr lang="de-DE" dirty="0"/>
              <a:t> werden definiert als "eine Fähigkeit, die eine Organisation besitzen oder austauschen kann, um ein bestimmtes Ergebnis oder Ziel zu erreichen". Sie bilden die Basis für die Beurteilung von Schwächen und Stärken, die als </a:t>
            </a:r>
            <a:r>
              <a:rPr lang="de-DE" dirty="0" err="1"/>
              <a:t>Heatmap</a:t>
            </a:r>
            <a:r>
              <a:rPr lang="de-DE" dirty="0"/>
              <a:t> dargestellt werden können.</a:t>
            </a:r>
          </a:p>
        </p:txBody>
      </p:sp>
      <p:sp>
        <p:nvSpPr>
          <p:cNvPr id="9" name="TextBox 8">
            <a:extLst>
              <a:ext uri="{FF2B5EF4-FFF2-40B4-BE49-F238E27FC236}">
                <a16:creationId xmlns:a16="http://schemas.microsoft.com/office/drawing/2014/main" id="{EF286BC8-1789-2A15-9DD6-3A1971FF9F13}"/>
              </a:ext>
            </a:extLst>
          </p:cNvPr>
          <p:cNvSpPr txBox="1"/>
          <p:nvPr/>
        </p:nvSpPr>
        <p:spPr>
          <a:xfrm>
            <a:off x="611981" y="4740544"/>
            <a:ext cx="4369922" cy="1200329"/>
          </a:xfrm>
          <a:prstGeom prst="rect">
            <a:avLst/>
          </a:prstGeom>
          <a:noFill/>
        </p:spPr>
        <p:txBody>
          <a:bodyPr wrap="square">
            <a:spAutoFit/>
          </a:bodyPr>
          <a:lstStyle/>
          <a:p>
            <a:pPr marL="285750" indent="-285750">
              <a:buFont typeface="Arial" panose="020B0604020202020204" pitchFamily="34" charset="0"/>
              <a:buChar char="•"/>
            </a:pPr>
            <a:r>
              <a:rPr lang="en-GB" dirty="0">
                <a:highlight>
                  <a:srgbClr val="FFFF00"/>
                </a:highlight>
              </a:rPr>
              <a:t>Bitte </a:t>
            </a:r>
            <a:r>
              <a:rPr lang="en-GB" dirty="0" err="1">
                <a:highlight>
                  <a:srgbClr val="FFFF00"/>
                </a:highlight>
              </a:rPr>
              <a:t>anhand</a:t>
            </a:r>
            <a:r>
              <a:rPr lang="en-GB" dirty="0">
                <a:highlight>
                  <a:srgbClr val="FFFF00"/>
                </a:highlight>
              </a:rPr>
              <a:t> der </a:t>
            </a:r>
            <a:r>
              <a:rPr lang="en-GB" dirty="0" err="1">
                <a:highlight>
                  <a:srgbClr val="FFFF00"/>
                </a:highlight>
              </a:rPr>
              <a:t>wichtigsten</a:t>
            </a:r>
            <a:r>
              <a:rPr lang="en-GB" dirty="0">
                <a:highlight>
                  <a:srgbClr val="FFFF00"/>
                </a:highlight>
              </a:rPr>
              <a:t> </a:t>
            </a:r>
            <a:r>
              <a:rPr lang="en-GB" dirty="0" err="1">
                <a:highlight>
                  <a:srgbClr val="FFFF00"/>
                </a:highlight>
              </a:rPr>
              <a:t>Produkte</a:t>
            </a:r>
            <a:r>
              <a:rPr lang="en-GB" dirty="0">
                <a:highlight>
                  <a:srgbClr val="FFFF00"/>
                </a:highlight>
              </a:rPr>
              <a:t> und </a:t>
            </a:r>
            <a:r>
              <a:rPr lang="en-GB" dirty="0" err="1">
                <a:highlight>
                  <a:srgbClr val="FFFF00"/>
                </a:highlight>
              </a:rPr>
              <a:t>Dienstleistungen</a:t>
            </a:r>
            <a:r>
              <a:rPr lang="en-GB" dirty="0">
                <a:highlight>
                  <a:srgbClr val="FFFF00"/>
                </a:highlight>
              </a:rPr>
              <a:t> die Capabilities </a:t>
            </a:r>
            <a:r>
              <a:rPr lang="en-GB" dirty="0" err="1">
                <a:highlight>
                  <a:srgbClr val="FFFF00"/>
                </a:highlight>
              </a:rPr>
              <a:t>identifizieren</a:t>
            </a:r>
            <a:r>
              <a:rPr lang="en-GB" dirty="0">
                <a:highlight>
                  <a:srgbClr val="FFFF00"/>
                </a:highlight>
              </a:rPr>
              <a:t>, </a:t>
            </a:r>
            <a:r>
              <a:rPr lang="en-GB" dirty="0" err="1">
                <a:highlight>
                  <a:srgbClr val="FFFF00"/>
                </a:highlight>
              </a:rPr>
              <a:t>bewerten</a:t>
            </a:r>
            <a:r>
              <a:rPr lang="en-GB" dirty="0">
                <a:highlight>
                  <a:srgbClr val="FFFF00"/>
                </a:highlight>
              </a:rPr>
              <a:t> und in </a:t>
            </a:r>
            <a:r>
              <a:rPr lang="en-GB" dirty="0" err="1">
                <a:highlight>
                  <a:srgbClr val="FFFF00"/>
                </a:highlight>
              </a:rPr>
              <a:t>einer</a:t>
            </a:r>
            <a:r>
              <a:rPr lang="en-GB" dirty="0">
                <a:highlight>
                  <a:srgbClr val="FFFF00"/>
                </a:highlight>
              </a:rPr>
              <a:t> Heatmap </a:t>
            </a:r>
            <a:r>
              <a:rPr lang="en-GB" dirty="0" err="1">
                <a:highlight>
                  <a:srgbClr val="FFFF00"/>
                </a:highlight>
              </a:rPr>
              <a:t>darstellen</a:t>
            </a:r>
            <a:endParaRPr lang="en-GB" dirty="0">
              <a:highlight>
                <a:srgbClr val="FFFF00"/>
              </a:highlight>
            </a:endParaRPr>
          </a:p>
        </p:txBody>
      </p:sp>
      <p:sp>
        <p:nvSpPr>
          <p:cNvPr id="14" name="Rectangle 13">
            <a:extLst>
              <a:ext uri="{FF2B5EF4-FFF2-40B4-BE49-F238E27FC236}">
                <a16:creationId xmlns:a16="http://schemas.microsoft.com/office/drawing/2014/main" id="{66559A7D-A800-88D9-A72E-BA600130A1FA}"/>
              </a:ext>
            </a:extLst>
          </p:cNvPr>
          <p:cNvSpPr/>
          <p:nvPr/>
        </p:nvSpPr>
        <p:spPr>
          <a:xfrm>
            <a:off x="8769368" y="307625"/>
            <a:ext cx="788129" cy="254111"/>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4" name="Picture 3">
            <a:extLst>
              <a:ext uri="{FF2B5EF4-FFF2-40B4-BE49-F238E27FC236}">
                <a16:creationId xmlns:a16="http://schemas.microsoft.com/office/drawing/2014/main" id="{696F2ABF-5E26-61E0-8B00-FEBACA544F99}"/>
              </a:ext>
            </a:extLst>
          </p:cNvPr>
          <p:cNvPicPr>
            <a:picLocks noChangeAspect="1"/>
          </p:cNvPicPr>
          <p:nvPr/>
        </p:nvPicPr>
        <p:blipFill>
          <a:blip r:embed="rId3"/>
          <a:stretch>
            <a:fillRect/>
          </a:stretch>
        </p:blipFill>
        <p:spPr>
          <a:xfrm>
            <a:off x="5133263" y="3429000"/>
            <a:ext cx="6638194" cy="2867264"/>
          </a:xfrm>
          <a:prstGeom prst="rect">
            <a:avLst/>
          </a:prstGeom>
        </p:spPr>
      </p:pic>
    </p:spTree>
    <p:extLst>
      <p:ext uri="{BB962C8B-B14F-4D97-AF65-F5344CB8AC3E}">
        <p14:creationId xmlns:p14="http://schemas.microsoft.com/office/powerpoint/2010/main" val="2958080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D3EB3-18F8-8F12-6F3C-920A195A0390}"/>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E481AB70-5233-10E8-A7EB-328FE528F2B4}"/>
              </a:ext>
            </a:extLst>
          </p:cNvPr>
          <p:cNvSpPr>
            <a:spLocks noGrp="1"/>
          </p:cNvSpPr>
          <p:nvPr>
            <p:ph type="title" idx="4294967295"/>
          </p:nvPr>
        </p:nvSpPr>
        <p:spPr>
          <a:xfrm>
            <a:off x="611981" y="57220"/>
            <a:ext cx="10968037" cy="1008062"/>
          </a:xfrm>
        </p:spPr>
        <p:txBody>
          <a:bodyPr/>
          <a:lstStyle/>
          <a:p>
            <a:r>
              <a:rPr lang="de-CH" dirty="0"/>
              <a:t>Unternehmensebene:</a:t>
            </a:r>
            <a:br>
              <a:rPr lang="de-CH" dirty="0"/>
            </a:br>
            <a:r>
              <a:rPr lang="de-CH" dirty="0"/>
              <a:t>Bewertung von Anwendungen/Projekten</a:t>
            </a:r>
          </a:p>
        </p:txBody>
      </p:sp>
      <p:sp>
        <p:nvSpPr>
          <p:cNvPr id="7" name="TextBox 6">
            <a:extLst>
              <a:ext uri="{FF2B5EF4-FFF2-40B4-BE49-F238E27FC236}">
                <a16:creationId xmlns:a16="http://schemas.microsoft.com/office/drawing/2014/main" id="{41F2489D-D6C8-C696-DEA1-EB3EB81F875F}"/>
              </a:ext>
            </a:extLst>
          </p:cNvPr>
          <p:cNvSpPr txBox="1"/>
          <p:nvPr/>
        </p:nvSpPr>
        <p:spPr>
          <a:xfrm>
            <a:off x="558763" y="1807158"/>
            <a:ext cx="10609980" cy="4801314"/>
          </a:xfrm>
          <a:prstGeom prst="rect">
            <a:avLst/>
          </a:prstGeom>
          <a:noFill/>
        </p:spPr>
        <p:txBody>
          <a:bodyPr wrap="square">
            <a:spAutoFit/>
          </a:bodyPr>
          <a:lstStyle/>
          <a:p>
            <a:pPr marL="285750" indent="-285750">
              <a:buFont typeface="Wingdings" panose="05000000000000000000" pitchFamily="2" charset="2"/>
              <a:buChar char="§"/>
            </a:pPr>
            <a:r>
              <a:rPr lang="en-GB" dirty="0" err="1">
                <a:highlight>
                  <a:srgbClr val="FFFFFF"/>
                </a:highlight>
              </a:rPr>
              <a:t>Sammlung</a:t>
            </a:r>
            <a:r>
              <a:rPr lang="en-GB" dirty="0">
                <a:highlight>
                  <a:srgbClr val="FFFFFF"/>
                </a:highlight>
              </a:rPr>
              <a:t> </a:t>
            </a:r>
            <a:r>
              <a:rPr lang="en-GB" dirty="0" err="1">
                <a:highlight>
                  <a:srgbClr val="FFFFFF"/>
                </a:highlight>
              </a:rPr>
              <a:t>möglicher</a:t>
            </a:r>
            <a:r>
              <a:rPr lang="en-GB" dirty="0">
                <a:highlight>
                  <a:srgbClr val="FFFFFF"/>
                </a:highlight>
              </a:rPr>
              <a:t> </a:t>
            </a:r>
            <a:r>
              <a:rPr lang="en-GB" dirty="0" err="1">
                <a:highlight>
                  <a:srgbClr val="FFFFFF"/>
                </a:highlight>
              </a:rPr>
              <a:t>Anwendungen</a:t>
            </a:r>
            <a:r>
              <a:rPr lang="en-GB" dirty="0">
                <a:highlight>
                  <a:srgbClr val="FFFFFF"/>
                </a:highlight>
              </a:rPr>
              <a:t> – </a:t>
            </a:r>
            <a:r>
              <a:rPr lang="en-GB" dirty="0" err="1">
                <a:highlight>
                  <a:srgbClr val="FFFFFF"/>
                </a:highlight>
              </a:rPr>
              <a:t>siehe</a:t>
            </a:r>
            <a:r>
              <a:rPr lang="en-GB" dirty="0">
                <a:highlight>
                  <a:srgbClr val="FFFFFF"/>
                </a:highlight>
              </a:rPr>
              <a:t> </a:t>
            </a:r>
            <a:r>
              <a:rPr lang="en-GB" dirty="0" err="1">
                <a:highlight>
                  <a:srgbClr val="FFFFFF"/>
                </a:highlight>
              </a:rPr>
              <a:t>Umfrage</a:t>
            </a:r>
            <a:endParaRPr lang="de-CH" dirty="0">
              <a:highlight>
                <a:srgbClr val="FFFFFF"/>
              </a:highlight>
            </a:endParaRPr>
          </a:p>
          <a:p>
            <a:pPr marL="285750" indent="-285750">
              <a:buFont typeface="Wingdings" panose="05000000000000000000" pitchFamily="2" charset="2"/>
              <a:buChar char="§"/>
            </a:pPr>
            <a:endParaRPr lang="de-CH" dirty="0"/>
          </a:p>
          <a:p>
            <a:r>
              <a:rPr lang="de-CH" b="1" dirty="0"/>
              <a:t>Brainstorming</a:t>
            </a:r>
          </a:p>
          <a:p>
            <a:pPr marL="285750" indent="-285750">
              <a:buFont typeface="Wingdings" panose="05000000000000000000" pitchFamily="2" charset="2"/>
              <a:buChar char="§"/>
            </a:pPr>
            <a:r>
              <a:rPr lang="de-CH" dirty="0"/>
              <a:t>Fokussierung auf Anwendungen, die </a:t>
            </a:r>
          </a:p>
          <a:p>
            <a:pPr marL="742950" lvl="1" indent="-285750">
              <a:buFont typeface="Wingdings" panose="05000000000000000000" pitchFamily="2" charset="2"/>
              <a:buChar char="§"/>
            </a:pPr>
            <a:r>
              <a:rPr lang="de-CH" dirty="0"/>
              <a:t>heute nicht/schlecht funktionieren,</a:t>
            </a:r>
          </a:p>
          <a:p>
            <a:pPr marL="742950" lvl="1" indent="-285750">
              <a:buFont typeface="Wingdings" panose="05000000000000000000" pitchFamily="2" charset="2"/>
              <a:buChar char="§"/>
            </a:pPr>
            <a:r>
              <a:rPr lang="de-CH" dirty="0"/>
              <a:t>wissens- oder datenintensiv sind oder</a:t>
            </a:r>
          </a:p>
          <a:p>
            <a:pPr marL="742950" lvl="1" indent="-285750">
              <a:buFont typeface="Wingdings" panose="05000000000000000000" pitchFamily="2" charset="2"/>
              <a:buChar char="§"/>
            </a:pPr>
            <a:r>
              <a:rPr lang="de-CH" dirty="0"/>
              <a:t>Potential für neue Produkte oder Services bieten</a:t>
            </a:r>
          </a:p>
          <a:p>
            <a:pPr marL="284400" lvl="1" indent="-285750">
              <a:buFont typeface="Wingdings" panose="05000000000000000000" pitchFamily="2" charset="2"/>
              <a:buChar char="§"/>
            </a:pPr>
            <a:endParaRPr lang="de-CH" dirty="0"/>
          </a:p>
          <a:p>
            <a:pPr marL="266700" indent="-266700">
              <a:buFont typeface="Wingdings" panose="05000000000000000000" pitchFamily="2" charset="2"/>
              <a:buChar char="§"/>
              <a:tabLst>
                <a:tab pos="266700" algn="l"/>
              </a:tabLst>
            </a:pPr>
            <a:r>
              <a:rPr lang="de-CH" dirty="0"/>
              <a:t>Es geht generell um Anwendungen, </a:t>
            </a:r>
          </a:p>
          <a:p>
            <a:pPr marL="742950" lvl="1" indent="-285750">
              <a:buFont typeface="Wingdings" panose="05000000000000000000" pitchFamily="2" charset="2"/>
              <a:buChar char="§"/>
            </a:pPr>
            <a:r>
              <a:rPr lang="de-CH" dirty="0"/>
              <a:t>die manuell aufwändig und langwierig sind,</a:t>
            </a:r>
          </a:p>
          <a:p>
            <a:pPr marL="742950" lvl="1" indent="-285750">
              <a:buFont typeface="Wingdings" panose="05000000000000000000" pitchFamily="2" charset="2"/>
              <a:buChar char="§"/>
            </a:pPr>
            <a:r>
              <a:rPr lang="de-CH" dirty="0"/>
              <a:t>kunden- oder zeitkritisch sind,</a:t>
            </a:r>
          </a:p>
          <a:p>
            <a:pPr marL="742950" lvl="1" indent="-285750">
              <a:buFont typeface="Wingdings" panose="05000000000000000000" pitchFamily="2" charset="2"/>
              <a:buChar char="§"/>
            </a:pPr>
            <a:r>
              <a:rPr lang="de-CH" dirty="0"/>
              <a:t>fehleranfällig oder teuer sind,</a:t>
            </a:r>
          </a:p>
          <a:p>
            <a:pPr marL="742950" lvl="1" indent="-285750">
              <a:buFont typeface="Wingdings" panose="05000000000000000000" pitchFamily="2" charset="2"/>
              <a:buChar char="§"/>
            </a:pPr>
            <a:r>
              <a:rPr lang="de-CH" dirty="0"/>
              <a:t>Systembrüche oder viele verschiedene Teilnehmer haben,</a:t>
            </a:r>
          </a:p>
          <a:p>
            <a:pPr marL="742950" lvl="1" indent="-285750">
              <a:buFont typeface="Wingdings" panose="05000000000000000000" pitchFamily="2" charset="2"/>
              <a:buChar char="§"/>
            </a:pPr>
            <a:r>
              <a:rPr lang="de-CH" dirty="0"/>
              <a:t>oft ausgeführt werden (Skalierbarkeit).</a:t>
            </a:r>
          </a:p>
          <a:p>
            <a:pPr marL="742950" lvl="1" indent="-285750">
              <a:buFont typeface="Wingdings" panose="05000000000000000000" pitchFamily="2" charset="2"/>
              <a:buChar char="§"/>
            </a:pPr>
            <a:endParaRPr lang="de-CH" dirty="0"/>
          </a:p>
          <a:p>
            <a:endParaRPr lang="de-CH" dirty="0"/>
          </a:p>
          <a:p>
            <a:endParaRPr lang="en-GB" dirty="0"/>
          </a:p>
        </p:txBody>
      </p:sp>
      <p:pic>
        <p:nvPicPr>
          <p:cNvPr id="5" name="Picture 4">
            <a:extLst>
              <a:ext uri="{FF2B5EF4-FFF2-40B4-BE49-F238E27FC236}">
                <a16:creationId xmlns:a16="http://schemas.microsoft.com/office/drawing/2014/main" id="{8B6AF4FA-6DBD-D915-0F33-6BE3475BEAD7}"/>
              </a:ext>
            </a:extLst>
          </p:cNvPr>
          <p:cNvPicPr>
            <a:picLocks noChangeAspect="1"/>
          </p:cNvPicPr>
          <p:nvPr/>
        </p:nvPicPr>
        <p:blipFill>
          <a:blip r:embed="rId2"/>
          <a:stretch>
            <a:fillRect/>
          </a:stretch>
        </p:blipFill>
        <p:spPr>
          <a:xfrm>
            <a:off x="7311051" y="176769"/>
            <a:ext cx="2916635" cy="1136317"/>
          </a:xfrm>
          <a:prstGeom prst="rect">
            <a:avLst/>
          </a:prstGeom>
        </p:spPr>
      </p:pic>
      <p:sp>
        <p:nvSpPr>
          <p:cNvPr id="6" name="Rectangle 5">
            <a:extLst>
              <a:ext uri="{FF2B5EF4-FFF2-40B4-BE49-F238E27FC236}">
                <a16:creationId xmlns:a16="http://schemas.microsoft.com/office/drawing/2014/main" id="{B641D58E-286D-ECE9-08C0-D6F01356E73D}"/>
              </a:ext>
            </a:extLst>
          </p:cNvPr>
          <p:cNvSpPr/>
          <p:nvPr/>
        </p:nvSpPr>
        <p:spPr>
          <a:xfrm>
            <a:off x="9470231" y="307140"/>
            <a:ext cx="683419" cy="26912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026" name="Picture 2" descr="Wie verändert Künstliche Intelligenz Arbeitspraktiken der Wissensarbeit?">
            <a:extLst>
              <a:ext uri="{FF2B5EF4-FFF2-40B4-BE49-F238E27FC236}">
                <a16:creationId xmlns:a16="http://schemas.microsoft.com/office/drawing/2014/main" id="{FACBB30A-2A28-01F8-50AF-C977ED4114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7325" y="2054962"/>
            <a:ext cx="4352693" cy="2950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74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D3EB3-18F8-8F12-6F3C-920A195A0390}"/>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E481AB70-5233-10E8-A7EB-328FE528F2B4}"/>
              </a:ext>
            </a:extLst>
          </p:cNvPr>
          <p:cNvSpPr>
            <a:spLocks noGrp="1"/>
          </p:cNvSpPr>
          <p:nvPr>
            <p:ph type="title" idx="4294967295"/>
          </p:nvPr>
        </p:nvSpPr>
        <p:spPr>
          <a:xfrm>
            <a:off x="611981" y="57220"/>
            <a:ext cx="10968037" cy="1008062"/>
          </a:xfrm>
        </p:spPr>
        <p:txBody>
          <a:bodyPr/>
          <a:lstStyle/>
          <a:p>
            <a:r>
              <a:rPr lang="de-CH" dirty="0"/>
              <a:t>Unternehmensebene:</a:t>
            </a:r>
            <a:br>
              <a:rPr lang="de-CH" dirty="0"/>
            </a:br>
            <a:r>
              <a:rPr lang="de-CH" dirty="0"/>
              <a:t>Bewertung von Prozessen/Projekten</a:t>
            </a:r>
          </a:p>
        </p:txBody>
      </p:sp>
      <p:sp>
        <p:nvSpPr>
          <p:cNvPr id="7" name="TextBox 6">
            <a:extLst>
              <a:ext uri="{FF2B5EF4-FFF2-40B4-BE49-F238E27FC236}">
                <a16:creationId xmlns:a16="http://schemas.microsoft.com/office/drawing/2014/main" id="{41F2489D-D6C8-C696-DEA1-EB3EB81F875F}"/>
              </a:ext>
            </a:extLst>
          </p:cNvPr>
          <p:cNvSpPr txBox="1"/>
          <p:nvPr/>
        </p:nvSpPr>
        <p:spPr>
          <a:xfrm>
            <a:off x="611981" y="1958485"/>
            <a:ext cx="10968036" cy="1477328"/>
          </a:xfrm>
          <a:prstGeom prst="rect">
            <a:avLst/>
          </a:prstGeom>
          <a:noFill/>
        </p:spPr>
        <p:txBody>
          <a:bodyPr wrap="square">
            <a:spAutoFit/>
          </a:bodyPr>
          <a:lstStyle/>
          <a:p>
            <a:r>
              <a:rPr lang="en-GB" b="1" dirty="0" err="1"/>
              <a:t>Visualisierung</a:t>
            </a:r>
            <a:r>
              <a:rPr lang="en-GB" b="1" dirty="0"/>
              <a:t> der </a:t>
            </a:r>
            <a:r>
              <a:rPr lang="en-GB" b="1" dirty="0" err="1"/>
              <a:t>Projektkandidaten</a:t>
            </a:r>
            <a:endParaRPr lang="en-GB" b="1" dirty="0"/>
          </a:p>
          <a:p>
            <a:pPr marL="285750" indent="-285750">
              <a:buFont typeface="Arial" panose="020B0604020202020204" pitchFamily="34" charset="0"/>
              <a:buChar char="•"/>
            </a:pPr>
            <a:r>
              <a:rPr lang="en-GB" dirty="0" err="1"/>
              <a:t>Visualisieren</a:t>
            </a:r>
            <a:r>
              <a:rPr lang="en-GB" dirty="0"/>
              <a:t> Sie auf </a:t>
            </a:r>
            <a:r>
              <a:rPr lang="en-GB" dirty="0" err="1"/>
              <a:t>einer</a:t>
            </a:r>
            <a:r>
              <a:rPr lang="en-GB" dirty="0"/>
              <a:t> Matrix die </a:t>
            </a:r>
            <a:r>
              <a:rPr lang="en-GB" dirty="0" err="1"/>
              <a:t>identifizierten</a:t>
            </a:r>
            <a:r>
              <a:rPr lang="en-GB" dirty="0"/>
              <a:t> KI-</a:t>
            </a:r>
            <a:r>
              <a:rPr lang="en-GB" dirty="0" err="1"/>
              <a:t>Anwendungen</a:t>
            </a:r>
            <a:r>
              <a:rPr lang="en-GB" dirty="0"/>
              <a:t> </a:t>
            </a:r>
            <a:r>
              <a:rPr lang="en-GB" dirty="0" err="1"/>
              <a:t>bzw</a:t>
            </a:r>
            <a:r>
              <a:rPr lang="en-GB" dirty="0"/>
              <a:t>. KI-</a:t>
            </a:r>
            <a:r>
              <a:rPr lang="en-GB" dirty="0" err="1"/>
              <a:t>Projektkandidaten</a:t>
            </a:r>
            <a:r>
              <a:rPr lang="en-GB" dirty="0"/>
              <a:t> – </a:t>
            </a:r>
            <a:r>
              <a:rPr lang="en-GB" dirty="0" err="1"/>
              <a:t>geben</a:t>
            </a:r>
            <a:r>
              <a:rPr lang="en-GB" dirty="0"/>
              <a:t> </a:t>
            </a:r>
            <a:r>
              <a:rPr lang="en-GB" dirty="0" err="1"/>
              <a:t>sie</a:t>
            </a:r>
            <a:r>
              <a:rPr lang="en-GB" dirty="0"/>
              <a:t> </a:t>
            </a:r>
            <a:r>
              <a:rPr lang="en-GB" dirty="0" err="1"/>
              <a:t>diesen</a:t>
            </a:r>
            <a:r>
              <a:rPr lang="en-GB" dirty="0"/>
              <a:t> </a:t>
            </a:r>
            <a:r>
              <a:rPr lang="en-GB" dirty="0" err="1"/>
              <a:t>einen</a:t>
            </a:r>
            <a:r>
              <a:rPr lang="en-GB" dirty="0"/>
              <a:t> </a:t>
            </a:r>
            <a:r>
              <a:rPr lang="en-GB" dirty="0" err="1"/>
              <a:t>Projektnamen</a:t>
            </a:r>
            <a:endParaRPr lang="en-GB" dirty="0"/>
          </a:p>
          <a:p>
            <a:pPr marL="285750" indent="-285750">
              <a:buFont typeface="Arial" panose="020B0604020202020204" pitchFamily="34" charset="0"/>
              <a:buChar char="•"/>
            </a:pPr>
            <a:r>
              <a:rPr lang="en-GB" dirty="0" err="1"/>
              <a:t>Bestimmen</a:t>
            </a:r>
            <a:r>
              <a:rPr lang="en-GB" dirty="0"/>
              <a:t> Sie, welches </a:t>
            </a:r>
            <a:r>
              <a:rPr lang="en-GB" dirty="0" err="1"/>
              <a:t>ihr</a:t>
            </a:r>
            <a:r>
              <a:rPr lang="en-GB" dirty="0"/>
              <a:t> </a:t>
            </a:r>
            <a:r>
              <a:rPr lang="en-GB" dirty="0" err="1"/>
              <a:t>erstes</a:t>
            </a:r>
            <a:r>
              <a:rPr lang="en-GB" dirty="0"/>
              <a:t> KI-Projekt sein </a:t>
            </a:r>
            <a:r>
              <a:rPr lang="en-GB" dirty="0" err="1"/>
              <a:t>soll</a:t>
            </a:r>
            <a:endParaRPr lang="en-GB" dirty="0"/>
          </a:p>
          <a:p>
            <a:endParaRPr lang="en-GB" dirty="0"/>
          </a:p>
        </p:txBody>
      </p:sp>
      <p:pic>
        <p:nvPicPr>
          <p:cNvPr id="5" name="Picture 4" descr="A diagram of a diagram&#10;&#10;Description automatically generated with medium confidence">
            <a:extLst>
              <a:ext uri="{FF2B5EF4-FFF2-40B4-BE49-F238E27FC236}">
                <a16:creationId xmlns:a16="http://schemas.microsoft.com/office/drawing/2014/main" id="{BFBD0F89-CF37-FBD7-D971-A713D5D5A719}"/>
              </a:ext>
            </a:extLst>
          </p:cNvPr>
          <p:cNvPicPr>
            <a:picLocks noChangeAspect="1"/>
          </p:cNvPicPr>
          <p:nvPr/>
        </p:nvPicPr>
        <p:blipFill>
          <a:blip r:embed="rId2"/>
          <a:stretch>
            <a:fillRect/>
          </a:stretch>
        </p:blipFill>
        <p:spPr>
          <a:xfrm>
            <a:off x="4511518" y="3580783"/>
            <a:ext cx="3511463" cy="2872789"/>
          </a:xfrm>
          <a:prstGeom prst="rect">
            <a:avLst/>
          </a:prstGeom>
        </p:spPr>
      </p:pic>
      <p:sp>
        <p:nvSpPr>
          <p:cNvPr id="3" name="Oval 2">
            <a:extLst>
              <a:ext uri="{FF2B5EF4-FFF2-40B4-BE49-F238E27FC236}">
                <a16:creationId xmlns:a16="http://schemas.microsoft.com/office/drawing/2014/main" id="{43EBCFA2-D5BF-7C09-F7CC-6A8598471E08}"/>
              </a:ext>
            </a:extLst>
          </p:cNvPr>
          <p:cNvSpPr/>
          <p:nvPr/>
        </p:nvSpPr>
        <p:spPr>
          <a:xfrm>
            <a:off x="6384681" y="3488876"/>
            <a:ext cx="1638300" cy="5619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E5B21DDD-6879-0948-C4EE-12733B0AFC1D}"/>
              </a:ext>
            </a:extLst>
          </p:cNvPr>
          <p:cNvSpPr txBox="1"/>
          <p:nvPr/>
        </p:nvSpPr>
        <p:spPr bwMode="auto">
          <a:xfrm rot="830280">
            <a:off x="8684335" y="3946178"/>
            <a:ext cx="2930248" cy="2167116"/>
          </a:xfrm>
          <a:prstGeom prst="foldedCorner">
            <a:avLst/>
          </a:prstGeom>
          <a:solidFill>
            <a:srgbClr val="FFFFCC"/>
          </a:solidFill>
          <a:ln>
            <a:noFill/>
          </a:ln>
          <a:effectLst/>
        </p:spPr>
        <p:txBody>
          <a:bodyPr wrap="square" rtlCol="0">
            <a:spAutoFit/>
          </a:bodyPr>
          <a:lstStyle/>
          <a:p>
            <a:r>
              <a:rPr lang="de-CH" sz="1400" dirty="0">
                <a:solidFill>
                  <a:schemeClr val="tx2"/>
                </a:solidFill>
                <a:latin typeface="Segoe Print" panose="02000600000000000000" pitchFamily="2" charset="0"/>
              </a:rPr>
              <a:t>Kriterien zur Bewertung der Machbarkeit sind z.B. </a:t>
            </a:r>
          </a:p>
          <a:p>
            <a:pPr marL="285750" indent="-285750">
              <a:buFont typeface="Arial" panose="020B0604020202020204" pitchFamily="34" charset="0"/>
              <a:buChar char="•"/>
            </a:pPr>
            <a:r>
              <a:rPr lang="de-DE" sz="1400" dirty="0">
                <a:solidFill>
                  <a:schemeClr val="tx2"/>
                </a:solidFill>
                <a:latin typeface="Segoe Print" panose="02000600000000000000" pitchFamily="2" charset="0"/>
              </a:rPr>
              <a:t>Daten verfügbar</a:t>
            </a:r>
          </a:p>
          <a:p>
            <a:pPr marL="285750" indent="-285750">
              <a:buFont typeface="Arial" panose="020B0604020202020204" pitchFamily="34" charset="0"/>
              <a:buChar char="•"/>
            </a:pPr>
            <a:r>
              <a:rPr lang="de-DE" sz="1400" dirty="0">
                <a:solidFill>
                  <a:schemeClr val="tx2"/>
                </a:solidFill>
                <a:latin typeface="Segoe Print" panose="02000600000000000000" pitchFamily="2" charset="0"/>
              </a:rPr>
              <a:t>Kompetenzen verfügbar</a:t>
            </a:r>
          </a:p>
          <a:p>
            <a:pPr marL="285750" indent="-285750">
              <a:buFont typeface="Arial" panose="020B0604020202020204" pitchFamily="34" charset="0"/>
              <a:buChar char="•"/>
            </a:pPr>
            <a:r>
              <a:rPr lang="de-DE" sz="1400" dirty="0">
                <a:solidFill>
                  <a:schemeClr val="tx2"/>
                </a:solidFill>
                <a:latin typeface="Segoe Print" panose="02000600000000000000" pitchFamily="2" charset="0"/>
              </a:rPr>
              <a:t>Infrastruktur</a:t>
            </a:r>
          </a:p>
          <a:p>
            <a:pPr marL="285750" indent="-285750">
              <a:buFont typeface="Arial" panose="020B0604020202020204" pitchFamily="34" charset="0"/>
              <a:buChar char="•"/>
            </a:pPr>
            <a:r>
              <a:rPr lang="de-DE" sz="1400" dirty="0">
                <a:solidFill>
                  <a:schemeClr val="tx2"/>
                </a:solidFill>
                <a:latin typeface="Segoe Print" panose="02000600000000000000" pitchFamily="2" charset="0"/>
              </a:rPr>
              <a:t>Aufwand </a:t>
            </a:r>
          </a:p>
          <a:p>
            <a:pPr marL="285750" indent="-285750">
              <a:buFont typeface="Arial" panose="020B0604020202020204" pitchFamily="34" charset="0"/>
              <a:buChar char="•"/>
            </a:pPr>
            <a:r>
              <a:rPr lang="de-DE" sz="1400" dirty="0">
                <a:solidFill>
                  <a:schemeClr val="tx2"/>
                </a:solidFill>
                <a:latin typeface="Segoe Print" panose="02000600000000000000" pitchFamily="2" charset="0"/>
              </a:rPr>
              <a:t>Risiken</a:t>
            </a:r>
          </a:p>
          <a:p>
            <a:pPr marL="285750" indent="-285750">
              <a:buFont typeface="Arial" panose="020B0604020202020204" pitchFamily="34" charset="0"/>
              <a:buChar char="•"/>
            </a:pPr>
            <a:r>
              <a:rPr lang="de-DE" sz="1400" dirty="0">
                <a:solidFill>
                  <a:schemeClr val="tx2"/>
                </a:solidFill>
                <a:latin typeface="Segoe Print" panose="02000600000000000000" pitchFamily="2" charset="0"/>
              </a:rPr>
              <a:t>…</a:t>
            </a:r>
          </a:p>
        </p:txBody>
      </p:sp>
      <p:pic>
        <p:nvPicPr>
          <p:cNvPr id="2" name="Picture 1">
            <a:extLst>
              <a:ext uri="{FF2B5EF4-FFF2-40B4-BE49-F238E27FC236}">
                <a16:creationId xmlns:a16="http://schemas.microsoft.com/office/drawing/2014/main" id="{7C134450-66F8-46AE-CD8C-DDFD0A4AA73E}"/>
              </a:ext>
            </a:extLst>
          </p:cNvPr>
          <p:cNvPicPr>
            <a:picLocks noChangeAspect="1"/>
          </p:cNvPicPr>
          <p:nvPr/>
        </p:nvPicPr>
        <p:blipFill>
          <a:blip r:embed="rId3"/>
          <a:stretch>
            <a:fillRect/>
          </a:stretch>
        </p:blipFill>
        <p:spPr>
          <a:xfrm>
            <a:off x="7311051" y="176769"/>
            <a:ext cx="2916635" cy="1136317"/>
          </a:xfrm>
          <a:prstGeom prst="rect">
            <a:avLst/>
          </a:prstGeom>
        </p:spPr>
      </p:pic>
      <p:sp>
        <p:nvSpPr>
          <p:cNvPr id="6" name="Rectangle 5">
            <a:extLst>
              <a:ext uri="{FF2B5EF4-FFF2-40B4-BE49-F238E27FC236}">
                <a16:creationId xmlns:a16="http://schemas.microsoft.com/office/drawing/2014/main" id="{6DADC0C1-3170-3E9D-88FC-6DE64C77D0CB}"/>
              </a:ext>
            </a:extLst>
          </p:cNvPr>
          <p:cNvSpPr/>
          <p:nvPr/>
        </p:nvSpPr>
        <p:spPr>
          <a:xfrm>
            <a:off x="9472613" y="307140"/>
            <a:ext cx="681037" cy="273885"/>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TextBox 7">
            <a:extLst>
              <a:ext uri="{FF2B5EF4-FFF2-40B4-BE49-F238E27FC236}">
                <a16:creationId xmlns:a16="http://schemas.microsoft.com/office/drawing/2014/main" id="{0D000938-0AB9-EAAF-73E0-11D262CECB70}"/>
              </a:ext>
            </a:extLst>
          </p:cNvPr>
          <p:cNvSpPr txBox="1"/>
          <p:nvPr/>
        </p:nvSpPr>
        <p:spPr>
          <a:xfrm>
            <a:off x="806226" y="5482030"/>
            <a:ext cx="6096000" cy="372346"/>
          </a:xfrm>
          <a:prstGeom prst="rect">
            <a:avLst/>
          </a:prstGeom>
          <a:noFill/>
        </p:spPr>
        <p:txBody>
          <a:bodyPr wrap="square">
            <a:spAutoFit/>
          </a:bodyPr>
          <a:lstStyle/>
          <a:p>
            <a:pPr>
              <a:lnSpc>
                <a:spcPct val="107000"/>
              </a:lnSpc>
              <a:spcAft>
                <a:spcPts val="800"/>
              </a:spcAft>
              <a:buNone/>
            </a:pPr>
            <a:r>
              <a:rPr lang="de-CH" sz="1800" kern="100" dirty="0">
                <a:effectLst/>
                <a:highlight>
                  <a:srgbClr val="FFFF00"/>
                </a:highlight>
                <a:latin typeface="Roboto" panose="02000000000000000000" pitchFamily="2" charset="0"/>
                <a:ea typeface="Aptos" panose="020B0004020202020204" pitchFamily="34" charset="0"/>
                <a:cs typeface="Times New Roman" panose="02020603050405020304" pitchFamily="18" charset="0"/>
              </a:rPr>
              <a:t>Workshop: 25 Minuten</a:t>
            </a:r>
            <a:endParaRPr lang="en-CH" sz="1800" kern="100" dirty="0">
              <a:effectLst/>
              <a:highlight>
                <a:srgbClr val="FFFF00"/>
              </a:highlight>
              <a:latin typeface="Roboto" panose="02000000000000000000" pitchFamily="2"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92370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DFABE-C8FF-2AF0-4805-BD181B630DB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509FA04-206E-9D14-672D-195600C2A06F}"/>
              </a:ext>
            </a:extLst>
          </p:cNvPr>
          <p:cNvSpPr>
            <a:spLocks noGrp="1"/>
          </p:cNvSpPr>
          <p:nvPr>
            <p:ph type="title"/>
          </p:nvPr>
        </p:nvSpPr>
        <p:spPr>
          <a:xfrm>
            <a:off x="2927648" y="2270753"/>
            <a:ext cx="8848491" cy="1439997"/>
          </a:xfrm>
        </p:spPr>
        <p:txBody>
          <a:bodyPr/>
          <a:lstStyle/>
          <a:p>
            <a:pPr>
              <a:lnSpc>
                <a:spcPct val="150000"/>
              </a:lnSpc>
            </a:pPr>
            <a:r>
              <a:rPr lang="de-CH" dirty="0"/>
              <a:t>Workshop 2: Prozessebene</a:t>
            </a:r>
          </a:p>
        </p:txBody>
      </p:sp>
      <p:sp>
        <p:nvSpPr>
          <p:cNvPr id="4" name="Rechteck 3">
            <a:extLst>
              <a:ext uri="{FF2B5EF4-FFF2-40B4-BE49-F238E27FC236}">
                <a16:creationId xmlns:a16="http://schemas.microsoft.com/office/drawing/2014/main" id="{D4375C5C-E500-19B8-FE31-A1A71F53C591}"/>
              </a:ext>
            </a:extLst>
          </p:cNvPr>
          <p:cNvSpPr/>
          <p:nvPr/>
        </p:nvSpPr>
        <p:spPr>
          <a:xfrm>
            <a:off x="1127448" y="2270751"/>
            <a:ext cx="1440160" cy="144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sz="8800" dirty="0">
                <a:solidFill>
                  <a:schemeClr val="bg1"/>
                </a:solidFill>
                <a:latin typeface="Roboto" panose="02000000000000000000" pitchFamily="2" charset="0"/>
                <a:ea typeface="Roboto" panose="02000000000000000000" pitchFamily="2" charset="0"/>
                <a:cs typeface="Roboto" panose="02000000000000000000" pitchFamily="2" charset="0"/>
              </a:rPr>
              <a:t>4</a:t>
            </a:r>
          </a:p>
        </p:txBody>
      </p:sp>
    </p:spTree>
    <p:extLst>
      <p:ext uri="{BB962C8B-B14F-4D97-AF65-F5344CB8AC3E}">
        <p14:creationId xmlns:p14="http://schemas.microsoft.com/office/powerpoint/2010/main" val="1014337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C1DB5418-A8AA-E4E6-2EBF-6206CFA54FE6}"/>
              </a:ext>
            </a:extLst>
          </p:cNvPr>
          <p:cNvPicPr>
            <a:picLocks noChangeAspect="1"/>
          </p:cNvPicPr>
          <p:nvPr/>
        </p:nvPicPr>
        <p:blipFill>
          <a:blip r:embed="rId2"/>
          <a:stretch>
            <a:fillRect/>
          </a:stretch>
        </p:blipFill>
        <p:spPr>
          <a:xfrm>
            <a:off x="6823586" y="221486"/>
            <a:ext cx="3368128" cy="1326166"/>
          </a:xfrm>
          <a:prstGeom prst="rect">
            <a:avLst/>
          </a:prstGeom>
        </p:spPr>
      </p:pic>
      <p:sp>
        <p:nvSpPr>
          <p:cNvPr id="4" name="Titel 3"/>
          <p:cNvSpPr>
            <a:spLocks noGrp="1"/>
          </p:cNvSpPr>
          <p:nvPr>
            <p:ph type="title" idx="4294967295"/>
          </p:nvPr>
        </p:nvSpPr>
        <p:spPr>
          <a:xfrm>
            <a:off x="611981" y="57220"/>
            <a:ext cx="10968037" cy="1008062"/>
          </a:xfrm>
        </p:spPr>
        <p:txBody>
          <a:bodyPr/>
          <a:lstStyle/>
          <a:p>
            <a:r>
              <a:rPr lang="de-CH" dirty="0"/>
              <a:t>Prozessebene: Visualisierung</a:t>
            </a:r>
          </a:p>
        </p:txBody>
      </p:sp>
      <p:sp>
        <p:nvSpPr>
          <p:cNvPr id="7" name="TextBox 6">
            <a:extLst>
              <a:ext uri="{FF2B5EF4-FFF2-40B4-BE49-F238E27FC236}">
                <a16:creationId xmlns:a16="http://schemas.microsoft.com/office/drawing/2014/main" id="{B3EC406A-B722-220D-A19D-6F97037FC450}"/>
              </a:ext>
            </a:extLst>
          </p:cNvPr>
          <p:cNvSpPr txBox="1"/>
          <p:nvPr/>
        </p:nvSpPr>
        <p:spPr>
          <a:xfrm>
            <a:off x="611981" y="1958485"/>
            <a:ext cx="10968036" cy="2031325"/>
          </a:xfrm>
          <a:prstGeom prst="rect">
            <a:avLst/>
          </a:prstGeom>
          <a:noFill/>
        </p:spPr>
        <p:txBody>
          <a:bodyPr wrap="square">
            <a:spAutoFit/>
          </a:bodyPr>
          <a:lstStyle/>
          <a:p>
            <a:r>
              <a:rPr lang="en-GB" b="1" dirty="0" err="1"/>
              <a:t>Prozessvisualisierung</a:t>
            </a:r>
            <a:endParaRPr lang="en-GB" b="1" dirty="0"/>
          </a:p>
          <a:p>
            <a:pPr marL="285750" indent="-285750">
              <a:buFont typeface="Arial" panose="020B0604020202020204" pitchFamily="34" charset="0"/>
              <a:buChar char="•"/>
            </a:pPr>
            <a:r>
              <a:rPr lang="de-CH" dirty="0">
                <a:highlight>
                  <a:srgbClr val="FFFFFF"/>
                </a:highlight>
              </a:rPr>
              <a:t>Visualisieren Sie aufgrund der Erkenntnisse aus der Unternehmensebene eine oder mehrere KI-Anwendungen bzw. KI-Projektkandidaten.</a:t>
            </a:r>
          </a:p>
          <a:p>
            <a:pPr marL="285750" indent="-285750">
              <a:buFont typeface="Arial" panose="020B0604020202020204" pitchFamily="34" charset="0"/>
              <a:buChar char="•"/>
            </a:pPr>
            <a:r>
              <a:rPr lang="de-CH" dirty="0">
                <a:highlight>
                  <a:srgbClr val="FFFFFF"/>
                </a:highlight>
              </a:rPr>
              <a:t>Stellen Sie diese als Ablauf oder Prozesskarte dar</a:t>
            </a:r>
          </a:p>
          <a:p>
            <a:pPr marL="285750" indent="-285750">
              <a:buFont typeface="Arial" panose="020B0604020202020204" pitchFamily="34" charset="0"/>
              <a:buChar char="•"/>
            </a:pPr>
            <a:r>
              <a:rPr lang="de-CH" dirty="0">
                <a:highlight>
                  <a:srgbClr val="FFFFFF"/>
                </a:highlight>
              </a:rPr>
              <a:t>Fokussieren Sie auf die wesentlichen Aufgaben</a:t>
            </a:r>
          </a:p>
          <a:p>
            <a:endParaRPr lang="en-GB" b="1" dirty="0"/>
          </a:p>
          <a:p>
            <a:endParaRPr lang="en-GB" dirty="0"/>
          </a:p>
        </p:txBody>
      </p:sp>
      <p:sp>
        <p:nvSpPr>
          <p:cNvPr id="21" name="Rectangle 20">
            <a:extLst>
              <a:ext uri="{FF2B5EF4-FFF2-40B4-BE49-F238E27FC236}">
                <a16:creationId xmlns:a16="http://schemas.microsoft.com/office/drawing/2014/main" id="{77FF41B0-6061-5A77-89C3-67806646903E}"/>
              </a:ext>
            </a:extLst>
          </p:cNvPr>
          <p:cNvSpPr/>
          <p:nvPr/>
        </p:nvSpPr>
        <p:spPr>
          <a:xfrm>
            <a:off x="6938963" y="778669"/>
            <a:ext cx="747712" cy="307181"/>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5" name="Picture 4" descr="A diagram of a problem&#10;&#10;AI-generated content may be incorrect.">
            <a:extLst>
              <a:ext uri="{FF2B5EF4-FFF2-40B4-BE49-F238E27FC236}">
                <a16:creationId xmlns:a16="http://schemas.microsoft.com/office/drawing/2014/main" id="{3BCC3D5F-5870-51CA-4492-08BD20B23BF1}"/>
              </a:ext>
            </a:extLst>
          </p:cNvPr>
          <p:cNvPicPr>
            <a:picLocks noChangeAspect="1"/>
          </p:cNvPicPr>
          <p:nvPr/>
        </p:nvPicPr>
        <p:blipFill>
          <a:blip r:embed="rId3"/>
          <a:stretch>
            <a:fillRect/>
          </a:stretch>
        </p:blipFill>
        <p:spPr>
          <a:xfrm>
            <a:off x="2743629" y="3989810"/>
            <a:ext cx="6704739" cy="2201074"/>
          </a:xfrm>
          <a:prstGeom prst="rect">
            <a:avLst/>
          </a:prstGeom>
        </p:spPr>
      </p:pic>
    </p:spTree>
    <p:extLst>
      <p:ext uri="{BB962C8B-B14F-4D97-AF65-F5344CB8AC3E}">
        <p14:creationId xmlns:p14="http://schemas.microsoft.com/office/powerpoint/2010/main" val="3532205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FE7BD-63CF-DA51-81C7-C93A428F08E0}"/>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E565D767-7A1A-01A3-2BCF-813A80CACA3B}"/>
              </a:ext>
            </a:extLst>
          </p:cNvPr>
          <p:cNvSpPr txBox="1"/>
          <p:nvPr/>
        </p:nvSpPr>
        <p:spPr>
          <a:xfrm>
            <a:off x="908293" y="1832352"/>
            <a:ext cx="2607324" cy="1556003"/>
          </a:xfrm>
          <a:prstGeom prst="rect">
            <a:avLst/>
          </a:prstGeom>
          <a:noFill/>
        </p:spPr>
        <p:txBody>
          <a:bodyPr wrap="square">
            <a:spAutoFit/>
          </a:bodyPr>
          <a:lstStyle/>
          <a:p>
            <a:pPr>
              <a:lnSpc>
                <a:spcPct val="115000"/>
              </a:lnSpc>
              <a:spcAft>
                <a:spcPts val="800"/>
              </a:spcAft>
            </a:pPr>
            <a:r>
              <a:rPr lang="de-CH"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Externe Perspektive:</a:t>
            </a:r>
            <a:endPar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Identifikation des </a:t>
            </a:r>
            <a:b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br>
            <a: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KI-Marktpotenzials</a:t>
            </a:r>
          </a:p>
          <a:p>
            <a:pPr>
              <a:lnSpc>
                <a:spcPct val="115000"/>
              </a:lnSpc>
              <a:spcAft>
                <a:spcPts val="800"/>
              </a:spcAft>
            </a:pPr>
            <a:r>
              <a:rPr lang="de-CH" i="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Strategische Dimension</a:t>
            </a:r>
          </a:p>
        </p:txBody>
      </p:sp>
      <p:pic>
        <p:nvPicPr>
          <p:cNvPr id="43" name="Picture 42" descr="A diagram of a problem&#10;&#10;AI-generated content may be incorrect.">
            <a:extLst>
              <a:ext uri="{FF2B5EF4-FFF2-40B4-BE49-F238E27FC236}">
                <a16:creationId xmlns:a16="http://schemas.microsoft.com/office/drawing/2014/main" id="{553DA570-3BB0-FD6A-077E-9AEA9217B237}"/>
              </a:ext>
            </a:extLst>
          </p:cNvPr>
          <p:cNvPicPr>
            <a:picLocks noChangeAspect="1"/>
          </p:cNvPicPr>
          <p:nvPr/>
        </p:nvPicPr>
        <p:blipFill>
          <a:blip r:embed="rId2"/>
          <a:stretch>
            <a:fillRect/>
          </a:stretch>
        </p:blipFill>
        <p:spPr>
          <a:xfrm>
            <a:off x="4686453" y="2045421"/>
            <a:ext cx="3058089" cy="1003928"/>
          </a:xfrm>
          <a:prstGeom prst="rect">
            <a:avLst/>
          </a:prstGeom>
        </p:spPr>
      </p:pic>
      <p:sp>
        <p:nvSpPr>
          <p:cNvPr id="4" name="Titel 3">
            <a:extLst>
              <a:ext uri="{FF2B5EF4-FFF2-40B4-BE49-F238E27FC236}">
                <a16:creationId xmlns:a16="http://schemas.microsoft.com/office/drawing/2014/main" id="{2D15D613-5AC1-8087-44EC-3D830BEA0DF3}"/>
              </a:ext>
            </a:extLst>
          </p:cNvPr>
          <p:cNvSpPr>
            <a:spLocks noGrp="1"/>
          </p:cNvSpPr>
          <p:nvPr>
            <p:ph type="title" idx="4294967295"/>
          </p:nvPr>
        </p:nvSpPr>
        <p:spPr>
          <a:xfrm>
            <a:off x="611981" y="57220"/>
            <a:ext cx="10968037" cy="1008062"/>
          </a:xfrm>
        </p:spPr>
        <p:txBody>
          <a:bodyPr/>
          <a:lstStyle/>
          <a:p>
            <a:r>
              <a:rPr lang="de-CH" dirty="0"/>
              <a:t>Prozessebene: Markt</a:t>
            </a:r>
          </a:p>
        </p:txBody>
      </p:sp>
      <p:sp>
        <p:nvSpPr>
          <p:cNvPr id="8" name="TextBox 7">
            <a:extLst>
              <a:ext uri="{FF2B5EF4-FFF2-40B4-BE49-F238E27FC236}">
                <a16:creationId xmlns:a16="http://schemas.microsoft.com/office/drawing/2014/main" id="{C84093F8-0FB1-587C-FA79-2BDF9141CD38}"/>
              </a:ext>
            </a:extLst>
          </p:cNvPr>
          <p:cNvSpPr txBox="1"/>
          <p:nvPr/>
        </p:nvSpPr>
        <p:spPr>
          <a:xfrm>
            <a:off x="702453" y="4179096"/>
            <a:ext cx="7245572" cy="2031325"/>
          </a:xfrm>
          <a:prstGeom prst="rect">
            <a:avLst/>
          </a:prstGeom>
          <a:noFill/>
        </p:spPr>
        <p:txBody>
          <a:bodyPr wrap="square">
            <a:spAutoFit/>
          </a:bodyPr>
          <a:lstStyle/>
          <a:p>
            <a:pPr marL="285750" indent="-285750">
              <a:buFont typeface="Arial" panose="020B0604020202020204" pitchFamily="34" charset="0"/>
              <a:buChar char="•"/>
            </a:pPr>
            <a:r>
              <a:rPr lang="en-GB" dirty="0"/>
              <a:t>Wo </a:t>
            </a:r>
            <a:r>
              <a:rPr lang="en-GB" dirty="0" err="1"/>
              <a:t>erkennen</a:t>
            </a:r>
            <a:r>
              <a:rPr lang="en-GB" dirty="0"/>
              <a:t> Sie im </a:t>
            </a:r>
            <a:r>
              <a:rPr lang="en-GB" dirty="0" err="1"/>
              <a:t>visualisierten</a:t>
            </a:r>
            <a:r>
              <a:rPr lang="en-GB" dirty="0"/>
              <a:t> </a:t>
            </a:r>
            <a:r>
              <a:rPr lang="en-GB" dirty="0" err="1"/>
              <a:t>Prozess</a:t>
            </a:r>
            <a:r>
              <a:rPr lang="en-GB" dirty="0"/>
              <a:t> </a:t>
            </a:r>
            <a:r>
              <a:rPr lang="en-GB" b="1" dirty="0"/>
              <a:t>KI-</a:t>
            </a:r>
            <a:r>
              <a:rPr lang="en-GB" b="1" dirty="0" err="1"/>
              <a:t>Potenziale</a:t>
            </a:r>
            <a:r>
              <a:rPr lang="en-GB" dirty="0"/>
              <a:t>, </a:t>
            </a:r>
            <a:br>
              <a:rPr lang="en-GB" dirty="0"/>
            </a:br>
            <a:r>
              <a:rPr lang="en-GB" dirty="0" err="1"/>
              <a:t>bei</a:t>
            </a:r>
            <a:r>
              <a:rPr lang="en-GB" dirty="0"/>
              <a:t> </a:t>
            </a:r>
            <a:r>
              <a:rPr lang="en-GB" dirty="0" err="1"/>
              <a:t>welchen</a:t>
            </a:r>
            <a:r>
              <a:rPr lang="en-GB" dirty="0"/>
              <a:t> </a:t>
            </a:r>
            <a:r>
              <a:rPr lang="en-GB" b="1" dirty="0"/>
              <a:t>die </a:t>
            </a:r>
            <a:r>
              <a:rPr lang="en-GB" b="1" dirty="0" err="1"/>
              <a:t>Kundschaft</a:t>
            </a:r>
            <a:r>
              <a:rPr lang="en-GB" b="1" dirty="0"/>
              <a:t> </a:t>
            </a:r>
            <a:r>
              <a:rPr lang="en-GB" dirty="0" err="1"/>
              <a:t>davon</a:t>
            </a:r>
            <a:r>
              <a:rPr lang="en-GB" dirty="0"/>
              <a:t> </a:t>
            </a:r>
            <a:r>
              <a:rPr lang="en-GB" dirty="0" err="1"/>
              <a:t>nachhaltig</a:t>
            </a:r>
            <a:r>
              <a:rPr lang="en-GB" dirty="0"/>
              <a:t> </a:t>
            </a:r>
            <a:r>
              <a:rPr lang="en-GB" dirty="0" err="1"/>
              <a:t>profitieren</a:t>
            </a:r>
            <a:r>
              <a:rPr lang="en-GB" dirty="0"/>
              <a:t> </a:t>
            </a:r>
            <a:r>
              <a:rPr lang="en-GB" dirty="0" err="1"/>
              <a:t>könnte</a:t>
            </a:r>
            <a:r>
              <a:rPr lang="en-GB" dirty="0"/>
              <a:t>?</a:t>
            </a:r>
          </a:p>
          <a:p>
            <a:pPr marL="285750" indent="-285750">
              <a:buFont typeface="Arial" panose="020B0604020202020204" pitchFamily="34" charset="0"/>
              <a:buChar char="•"/>
            </a:pPr>
            <a:r>
              <a:rPr lang="en-GB" dirty="0" err="1"/>
              <a:t>Dokumentieren</a:t>
            </a:r>
            <a:r>
              <a:rPr lang="en-GB" dirty="0"/>
              <a:t> Sie im </a:t>
            </a:r>
            <a:r>
              <a:rPr lang="en-GB" dirty="0" err="1"/>
              <a:t>Prozessdiagramm</a:t>
            </a:r>
            <a:r>
              <a:rPr lang="en-GB" dirty="0"/>
              <a:t>, </a:t>
            </a:r>
            <a:r>
              <a:rPr lang="en-GB" dirty="0" err="1"/>
              <a:t>welche</a:t>
            </a:r>
            <a:r>
              <a:rPr lang="en-GB" dirty="0"/>
              <a:t> </a:t>
            </a:r>
            <a:r>
              <a:rPr lang="en-GB" dirty="0" err="1"/>
              <a:t>Aktivitäten</a:t>
            </a:r>
            <a:r>
              <a:rPr lang="en-GB" dirty="0"/>
              <a:t> im </a:t>
            </a:r>
            <a:r>
              <a:rPr lang="en-GB" dirty="0" err="1"/>
              <a:t>Prozess</a:t>
            </a:r>
            <a:r>
              <a:rPr lang="en-GB" dirty="0"/>
              <a:t> von KI </a:t>
            </a:r>
            <a:r>
              <a:rPr lang="en-GB" dirty="0" err="1"/>
              <a:t>profitieren</a:t>
            </a:r>
            <a:r>
              <a:rPr lang="en-GB" dirty="0"/>
              <a:t> </a:t>
            </a:r>
            <a:r>
              <a:rPr lang="en-GB" dirty="0" err="1"/>
              <a:t>könnten</a:t>
            </a:r>
            <a:r>
              <a:rPr lang="en-GB" dirty="0"/>
              <a:t>.</a:t>
            </a:r>
          </a:p>
          <a:p>
            <a:pPr marL="285750" indent="-285750">
              <a:buFont typeface="Arial" panose="020B0604020202020204" pitchFamily="34" charset="0"/>
              <a:buChar char="•"/>
            </a:pPr>
            <a:r>
              <a:rPr lang="en-GB" dirty="0" err="1"/>
              <a:t>Erstellen</a:t>
            </a:r>
            <a:r>
              <a:rPr lang="en-GB" dirty="0"/>
              <a:t> Sie </a:t>
            </a:r>
            <a:r>
              <a:rPr lang="en-GB" dirty="0" err="1"/>
              <a:t>eine</a:t>
            </a:r>
            <a:r>
              <a:rPr lang="en-GB" dirty="0"/>
              <a:t> </a:t>
            </a:r>
            <a:r>
              <a:rPr lang="en-GB" dirty="0" err="1"/>
              <a:t>Liste</a:t>
            </a:r>
            <a:r>
              <a:rPr lang="en-GB" dirty="0"/>
              <a:t> der </a:t>
            </a:r>
            <a:r>
              <a:rPr lang="en-GB" dirty="0" err="1"/>
              <a:t>strategischen</a:t>
            </a:r>
            <a:r>
              <a:rPr lang="en-GB" dirty="0"/>
              <a:t> KI-</a:t>
            </a:r>
            <a:r>
              <a:rPr lang="en-GB" dirty="0" err="1"/>
              <a:t>Marktpotenziale</a:t>
            </a:r>
            <a:r>
              <a:rPr lang="en-GB" dirty="0"/>
              <a:t> und </a:t>
            </a:r>
            <a:r>
              <a:rPr lang="en-GB" dirty="0" err="1"/>
              <a:t>positionieren</a:t>
            </a:r>
            <a:r>
              <a:rPr lang="en-GB" dirty="0"/>
              <a:t> Sie </a:t>
            </a:r>
            <a:r>
              <a:rPr lang="en-GB" dirty="0" err="1"/>
              <a:t>diese</a:t>
            </a:r>
            <a:r>
              <a:rPr lang="en-GB" dirty="0"/>
              <a:t> als </a:t>
            </a:r>
            <a:r>
              <a:rPr lang="en-GB" dirty="0" err="1"/>
              <a:t>Ziele</a:t>
            </a:r>
            <a:r>
              <a:rPr lang="en-GB" dirty="0"/>
              <a:t> in der Balanced Scorecard, </a:t>
            </a:r>
            <a:r>
              <a:rPr lang="en-GB" dirty="0" err="1"/>
              <a:t>primär</a:t>
            </a:r>
            <a:r>
              <a:rPr lang="en-GB" dirty="0"/>
              <a:t> in den </a:t>
            </a:r>
            <a:r>
              <a:rPr lang="en-GB" dirty="0" err="1"/>
              <a:t>Ebenen</a:t>
            </a:r>
            <a:r>
              <a:rPr lang="en-GB" dirty="0"/>
              <a:t> </a:t>
            </a:r>
            <a:r>
              <a:rPr lang="en-GB" dirty="0" err="1"/>
              <a:t>Kunden</a:t>
            </a:r>
            <a:r>
              <a:rPr lang="en-GB" dirty="0"/>
              <a:t> </a:t>
            </a:r>
            <a:r>
              <a:rPr lang="en-GB" dirty="0" err="1"/>
              <a:t>oder</a:t>
            </a:r>
            <a:r>
              <a:rPr lang="en-GB" dirty="0"/>
              <a:t> Potential.</a:t>
            </a:r>
          </a:p>
        </p:txBody>
      </p:sp>
      <p:sp>
        <p:nvSpPr>
          <p:cNvPr id="14" name="Right Arrow 13">
            <a:extLst>
              <a:ext uri="{FF2B5EF4-FFF2-40B4-BE49-F238E27FC236}">
                <a16:creationId xmlns:a16="http://schemas.microsoft.com/office/drawing/2014/main" id="{8A66C485-6006-54F6-A166-0803B038BEB3}"/>
              </a:ext>
            </a:extLst>
          </p:cNvPr>
          <p:cNvSpPr/>
          <p:nvPr/>
        </p:nvSpPr>
        <p:spPr>
          <a:xfrm>
            <a:off x="7977228" y="2226560"/>
            <a:ext cx="767255" cy="654269"/>
          </a:xfrm>
          <a:prstGeom prst="rightArrow">
            <a:avLst/>
          </a:prstGeom>
          <a:noFill/>
        </p:spPr>
        <p:style>
          <a:lnRef idx="1">
            <a:schemeClr val="dk1"/>
          </a:lnRef>
          <a:fillRef idx="2">
            <a:schemeClr val="dk1"/>
          </a:fillRef>
          <a:effectRef idx="1">
            <a:schemeClr val="dk1"/>
          </a:effectRef>
          <a:fontRef idx="minor">
            <a:schemeClr val="dk1"/>
          </a:fontRef>
        </p:style>
        <p:txBody>
          <a:bodyPr rtlCol="0" anchor="ctr"/>
          <a:lstStyle/>
          <a:p>
            <a:pPr algn="ctr"/>
            <a:endParaRPr lang="en-CH"/>
          </a:p>
        </p:txBody>
      </p:sp>
      <p:sp>
        <p:nvSpPr>
          <p:cNvPr id="15" name="Right Arrow 14">
            <a:extLst>
              <a:ext uri="{FF2B5EF4-FFF2-40B4-BE49-F238E27FC236}">
                <a16:creationId xmlns:a16="http://schemas.microsoft.com/office/drawing/2014/main" id="{90C89D25-02E0-B7E2-5171-B2915D4026A7}"/>
              </a:ext>
            </a:extLst>
          </p:cNvPr>
          <p:cNvSpPr/>
          <p:nvPr/>
        </p:nvSpPr>
        <p:spPr>
          <a:xfrm rot="10800000">
            <a:off x="3701941" y="2220032"/>
            <a:ext cx="767255" cy="6542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TextBox 15">
            <a:extLst>
              <a:ext uri="{FF2B5EF4-FFF2-40B4-BE49-F238E27FC236}">
                <a16:creationId xmlns:a16="http://schemas.microsoft.com/office/drawing/2014/main" id="{904E48EF-731C-2071-C31D-660FD85A62DF}"/>
              </a:ext>
            </a:extLst>
          </p:cNvPr>
          <p:cNvSpPr txBox="1"/>
          <p:nvPr/>
        </p:nvSpPr>
        <p:spPr>
          <a:xfrm>
            <a:off x="908293" y="1832353"/>
            <a:ext cx="2607324" cy="1556003"/>
          </a:xfrm>
          <a:prstGeom prst="rect">
            <a:avLst/>
          </a:prstGeom>
          <a:noFill/>
        </p:spPr>
        <p:txBody>
          <a:bodyPr wrap="square">
            <a:spAutoFit/>
          </a:bodyPr>
          <a:lstStyle/>
          <a:p>
            <a:pPr>
              <a:lnSpc>
                <a:spcPct val="115000"/>
              </a:lnSpc>
              <a:spcAft>
                <a:spcPts val="800"/>
              </a:spcAft>
            </a:pPr>
            <a:r>
              <a:rPr lang="de-CH"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t>Externe Perspektive:</a:t>
            </a:r>
            <a:endParaRPr lang="de-CH" b="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de-CH" b="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t>Identifikation des </a:t>
            </a:r>
            <a:br>
              <a:rPr lang="de-CH" b="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br>
            <a:r>
              <a:rPr lang="de-CH" b="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t>KI-Marktpotenzials</a:t>
            </a:r>
          </a:p>
          <a:p>
            <a:pPr>
              <a:lnSpc>
                <a:spcPct val="115000"/>
              </a:lnSpc>
              <a:spcAft>
                <a:spcPts val="800"/>
              </a:spcAft>
            </a:pPr>
            <a:r>
              <a:rPr lang="de-CH" i="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t>Strategische Dimension</a:t>
            </a:r>
          </a:p>
        </p:txBody>
      </p:sp>
      <p:sp>
        <p:nvSpPr>
          <p:cNvPr id="17" name="TextBox 16">
            <a:extLst>
              <a:ext uri="{FF2B5EF4-FFF2-40B4-BE49-F238E27FC236}">
                <a16:creationId xmlns:a16="http://schemas.microsoft.com/office/drawing/2014/main" id="{7044E213-C8EA-2C4D-8BB5-59569C9C541D}"/>
              </a:ext>
            </a:extLst>
          </p:cNvPr>
          <p:cNvSpPr txBox="1"/>
          <p:nvPr/>
        </p:nvSpPr>
        <p:spPr>
          <a:xfrm>
            <a:off x="8844842" y="1818555"/>
            <a:ext cx="2980442" cy="1556003"/>
          </a:xfrm>
          <a:prstGeom prst="rect">
            <a:avLst/>
          </a:prstGeom>
          <a:noFill/>
        </p:spPr>
        <p:txBody>
          <a:bodyPr wrap="square">
            <a:spAutoFit/>
          </a:bodyPr>
          <a:lstStyle/>
          <a:p>
            <a:pPr>
              <a:lnSpc>
                <a:spcPct val="115000"/>
              </a:lnSpc>
              <a:spcAft>
                <a:spcPts val="800"/>
              </a:spcAft>
            </a:pPr>
            <a:r>
              <a:rPr lang="de-CH"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Interne Perspektive:</a:t>
            </a:r>
            <a:endPar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Identifikation der </a:t>
            </a:r>
            <a:b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br>
            <a: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KI-Prozessoptimierung</a:t>
            </a:r>
          </a:p>
          <a:p>
            <a:pPr>
              <a:lnSpc>
                <a:spcPct val="115000"/>
              </a:lnSpc>
              <a:spcAft>
                <a:spcPts val="800"/>
              </a:spcAft>
            </a:pPr>
            <a:r>
              <a:rPr lang="de-CH" i="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Operative Dimension</a:t>
            </a:r>
          </a:p>
        </p:txBody>
      </p:sp>
      <p:sp>
        <p:nvSpPr>
          <p:cNvPr id="18" name="Rectangle 17">
            <a:extLst>
              <a:ext uri="{FF2B5EF4-FFF2-40B4-BE49-F238E27FC236}">
                <a16:creationId xmlns:a16="http://schemas.microsoft.com/office/drawing/2014/main" id="{F083253B-A564-9BD3-0915-D46AB189973A}"/>
              </a:ext>
            </a:extLst>
          </p:cNvPr>
          <p:cNvSpPr/>
          <p:nvPr/>
        </p:nvSpPr>
        <p:spPr>
          <a:xfrm>
            <a:off x="824645" y="1839204"/>
            <a:ext cx="2561339" cy="155600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Oval 5">
            <a:extLst>
              <a:ext uri="{FF2B5EF4-FFF2-40B4-BE49-F238E27FC236}">
                <a16:creationId xmlns:a16="http://schemas.microsoft.com/office/drawing/2014/main" id="{1FE13370-D84D-C02B-5D3D-E9C72FC3706C}"/>
              </a:ext>
            </a:extLst>
          </p:cNvPr>
          <p:cNvSpPr/>
          <p:nvPr/>
        </p:nvSpPr>
        <p:spPr>
          <a:xfrm>
            <a:off x="6502400" y="2182122"/>
            <a:ext cx="511032" cy="29883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56D1814A-5B3B-4492-CC96-2BD04DABF0EA}"/>
              </a:ext>
            </a:extLst>
          </p:cNvPr>
          <p:cNvSpPr/>
          <p:nvPr/>
        </p:nvSpPr>
        <p:spPr>
          <a:xfrm>
            <a:off x="7161442" y="2402278"/>
            <a:ext cx="590550" cy="25290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a:extLst>
              <a:ext uri="{FF2B5EF4-FFF2-40B4-BE49-F238E27FC236}">
                <a16:creationId xmlns:a16="http://schemas.microsoft.com/office/drawing/2014/main" id="{23B1300A-DFB9-6A8A-54FA-52414BDABD20}"/>
              </a:ext>
            </a:extLst>
          </p:cNvPr>
          <p:cNvGrpSpPr/>
          <p:nvPr/>
        </p:nvGrpSpPr>
        <p:grpSpPr>
          <a:xfrm>
            <a:off x="8418039" y="3782320"/>
            <a:ext cx="3466478" cy="2705100"/>
            <a:chOff x="6525117" y="3429000"/>
            <a:chExt cx="4247658" cy="3314700"/>
          </a:xfrm>
        </p:grpSpPr>
        <p:sp>
          <p:nvSpPr>
            <p:cNvPr id="9" name="Rectangle 8">
              <a:extLst>
                <a:ext uri="{FF2B5EF4-FFF2-40B4-BE49-F238E27FC236}">
                  <a16:creationId xmlns:a16="http://schemas.microsoft.com/office/drawing/2014/main" id="{0F2ECA73-071A-A59B-0655-073DB7604318}"/>
                </a:ext>
              </a:extLst>
            </p:cNvPr>
            <p:cNvSpPr/>
            <p:nvPr/>
          </p:nvSpPr>
          <p:spPr>
            <a:xfrm>
              <a:off x="7448550" y="3429000"/>
              <a:ext cx="3324225" cy="828675"/>
            </a:xfrm>
            <a:prstGeom prst="rect">
              <a:avLst/>
            </a:prstGeom>
            <a:solidFill>
              <a:srgbClr val="CBD9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10" name="Rectangle 9">
              <a:extLst>
                <a:ext uri="{FF2B5EF4-FFF2-40B4-BE49-F238E27FC236}">
                  <a16:creationId xmlns:a16="http://schemas.microsoft.com/office/drawing/2014/main" id="{7ABFAAFB-69B4-6F7A-6A0F-3335EBF345D3}"/>
                </a:ext>
              </a:extLst>
            </p:cNvPr>
            <p:cNvSpPr/>
            <p:nvPr/>
          </p:nvSpPr>
          <p:spPr>
            <a:xfrm>
              <a:off x="7448550" y="4257675"/>
              <a:ext cx="3324225" cy="828675"/>
            </a:xfrm>
            <a:prstGeom prst="rect">
              <a:avLst/>
            </a:prstGeom>
            <a:solidFill>
              <a:srgbClr val="CBD9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0" name="Rectangle 19">
              <a:extLst>
                <a:ext uri="{FF2B5EF4-FFF2-40B4-BE49-F238E27FC236}">
                  <a16:creationId xmlns:a16="http://schemas.microsoft.com/office/drawing/2014/main" id="{BDBE4D24-8046-C9F6-6402-46AF16EAB0D8}"/>
                </a:ext>
              </a:extLst>
            </p:cNvPr>
            <p:cNvSpPr/>
            <p:nvPr/>
          </p:nvSpPr>
          <p:spPr>
            <a:xfrm>
              <a:off x="7448550" y="5086350"/>
              <a:ext cx="3324225" cy="828675"/>
            </a:xfrm>
            <a:prstGeom prst="rect">
              <a:avLst/>
            </a:prstGeom>
            <a:solidFill>
              <a:srgbClr val="CBD9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1" name="Rectangle 20">
              <a:extLst>
                <a:ext uri="{FF2B5EF4-FFF2-40B4-BE49-F238E27FC236}">
                  <a16:creationId xmlns:a16="http://schemas.microsoft.com/office/drawing/2014/main" id="{239A9393-EFE7-4F5B-8AFB-D3FACCC5132E}"/>
                </a:ext>
              </a:extLst>
            </p:cNvPr>
            <p:cNvSpPr/>
            <p:nvPr/>
          </p:nvSpPr>
          <p:spPr>
            <a:xfrm>
              <a:off x="7448550" y="5915025"/>
              <a:ext cx="3324225" cy="828675"/>
            </a:xfrm>
            <a:prstGeom prst="rect">
              <a:avLst/>
            </a:prstGeom>
            <a:solidFill>
              <a:srgbClr val="CBD9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2" name="TextBox 21">
              <a:extLst>
                <a:ext uri="{FF2B5EF4-FFF2-40B4-BE49-F238E27FC236}">
                  <a16:creationId xmlns:a16="http://schemas.microsoft.com/office/drawing/2014/main" id="{BA8137D3-9F25-1145-05FC-BE4F9BBFA09B}"/>
                </a:ext>
              </a:extLst>
            </p:cNvPr>
            <p:cNvSpPr txBox="1"/>
            <p:nvPr/>
          </p:nvSpPr>
          <p:spPr>
            <a:xfrm>
              <a:off x="6525117" y="3615926"/>
              <a:ext cx="967823" cy="339421"/>
            </a:xfrm>
            <a:prstGeom prst="rect">
              <a:avLst/>
            </a:prstGeom>
            <a:noFill/>
          </p:spPr>
          <p:txBody>
            <a:bodyPr wrap="none" rtlCol="0">
              <a:spAutoFit/>
            </a:bodyPr>
            <a:lstStyle/>
            <a:p>
              <a:pPr algn="r"/>
              <a:r>
                <a:rPr lang="de-CH" sz="1200" dirty="0"/>
                <a:t>Finanzen</a:t>
              </a:r>
              <a:endParaRPr lang="en-GB" sz="1200" dirty="0"/>
            </a:p>
          </p:txBody>
        </p:sp>
        <p:sp>
          <p:nvSpPr>
            <p:cNvPr id="23" name="TextBox 22">
              <a:extLst>
                <a:ext uri="{FF2B5EF4-FFF2-40B4-BE49-F238E27FC236}">
                  <a16:creationId xmlns:a16="http://schemas.microsoft.com/office/drawing/2014/main" id="{C59C2930-3531-D55A-61A4-A13A6A1841AD}"/>
                </a:ext>
              </a:extLst>
            </p:cNvPr>
            <p:cNvSpPr txBox="1"/>
            <p:nvPr/>
          </p:nvSpPr>
          <p:spPr>
            <a:xfrm>
              <a:off x="6624096" y="4446329"/>
              <a:ext cx="854996" cy="339421"/>
            </a:xfrm>
            <a:prstGeom prst="rect">
              <a:avLst/>
            </a:prstGeom>
            <a:noFill/>
          </p:spPr>
          <p:txBody>
            <a:bodyPr wrap="none" rtlCol="0">
              <a:spAutoFit/>
            </a:bodyPr>
            <a:lstStyle/>
            <a:p>
              <a:pPr algn="r"/>
              <a:r>
                <a:rPr lang="de-CH" sz="1200" dirty="0"/>
                <a:t>Kunden</a:t>
              </a:r>
              <a:endParaRPr lang="en-GB" sz="1200" dirty="0"/>
            </a:p>
          </p:txBody>
        </p:sp>
        <p:sp>
          <p:nvSpPr>
            <p:cNvPr id="24" name="TextBox 23">
              <a:extLst>
                <a:ext uri="{FF2B5EF4-FFF2-40B4-BE49-F238E27FC236}">
                  <a16:creationId xmlns:a16="http://schemas.microsoft.com/office/drawing/2014/main" id="{5A979393-725C-55FB-701C-21CA5B6E38E4}"/>
                </a:ext>
              </a:extLst>
            </p:cNvPr>
            <p:cNvSpPr txBox="1"/>
            <p:nvPr/>
          </p:nvSpPr>
          <p:spPr>
            <a:xfrm>
              <a:off x="6525959" y="5316021"/>
              <a:ext cx="953131" cy="339421"/>
            </a:xfrm>
            <a:prstGeom prst="rect">
              <a:avLst/>
            </a:prstGeom>
            <a:noFill/>
          </p:spPr>
          <p:txBody>
            <a:bodyPr wrap="none" rtlCol="0">
              <a:spAutoFit/>
            </a:bodyPr>
            <a:lstStyle/>
            <a:p>
              <a:pPr algn="r"/>
              <a:r>
                <a:rPr lang="de-CH" sz="1200" dirty="0"/>
                <a:t>Prozesse</a:t>
              </a:r>
              <a:endParaRPr lang="en-GB" sz="1200" dirty="0"/>
            </a:p>
          </p:txBody>
        </p:sp>
        <p:sp>
          <p:nvSpPr>
            <p:cNvPr id="25" name="TextBox 24">
              <a:extLst>
                <a:ext uri="{FF2B5EF4-FFF2-40B4-BE49-F238E27FC236}">
                  <a16:creationId xmlns:a16="http://schemas.microsoft.com/office/drawing/2014/main" id="{0FF544EB-6793-7275-8995-26454CD62E45}"/>
                </a:ext>
              </a:extLst>
            </p:cNvPr>
            <p:cNvSpPr txBox="1"/>
            <p:nvPr/>
          </p:nvSpPr>
          <p:spPr>
            <a:xfrm>
              <a:off x="6534289" y="6165890"/>
              <a:ext cx="944802" cy="339421"/>
            </a:xfrm>
            <a:prstGeom prst="rect">
              <a:avLst/>
            </a:prstGeom>
            <a:noFill/>
          </p:spPr>
          <p:txBody>
            <a:bodyPr wrap="none" rtlCol="0">
              <a:spAutoFit/>
            </a:bodyPr>
            <a:lstStyle/>
            <a:p>
              <a:pPr algn="r"/>
              <a:r>
                <a:rPr lang="de-CH" sz="1200" dirty="0"/>
                <a:t>Potential</a:t>
              </a:r>
              <a:endParaRPr lang="en-GB" sz="1200" dirty="0"/>
            </a:p>
          </p:txBody>
        </p:sp>
      </p:grpSp>
      <p:sp>
        <p:nvSpPr>
          <p:cNvPr id="26" name="Isosceles Triangle 25">
            <a:extLst>
              <a:ext uri="{FF2B5EF4-FFF2-40B4-BE49-F238E27FC236}">
                <a16:creationId xmlns:a16="http://schemas.microsoft.com/office/drawing/2014/main" id="{7071E72D-5E33-4344-2F31-08EC6C3DC131}"/>
              </a:ext>
            </a:extLst>
          </p:cNvPr>
          <p:cNvSpPr/>
          <p:nvPr/>
        </p:nvSpPr>
        <p:spPr>
          <a:xfrm>
            <a:off x="9684480" y="4616071"/>
            <a:ext cx="545370" cy="394079"/>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Isosceles Triangle 26">
            <a:extLst>
              <a:ext uri="{FF2B5EF4-FFF2-40B4-BE49-F238E27FC236}">
                <a16:creationId xmlns:a16="http://schemas.microsoft.com/office/drawing/2014/main" id="{337F6D0F-C0C5-5BDB-69B7-E7A0317861E7}"/>
              </a:ext>
            </a:extLst>
          </p:cNvPr>
          <p:cNvSpPr/>
          <p:nvPr/>
        </p:nvSpPr>
        <p:spPr>
          <a:xfrm>
            <a:off x="10115121" y="5898794"/>
            <a:ext cx="545370" cy="394079"/>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01A070A0-42CD-52E9-71D7-0BB087DC0014}"/>
              </a:ext>
            </a:extLst>
          </p:cNvPr>
          <p:cNvPicPr>
            <a:picLocks noChangeAspect="1"/>
          </p:cNvPicPr>
          <p:nvPr/>
        </p:nvPicPr>
        <p:blipFill>
          <a:blip r:embed="rId3"/>
          <a:stretch>
            <a:fillRect/>
          </a:stretch>
        </p:blipFill>
        <p:spPr>
          <a:xfrm>
            <a:off x="6823586" y="221486"/>
            <a:ext cx="3368128" cy="1326166"/>
          </a:xfrm>
          <a:prstGeom prst="rect">
            <a:avLst/>
          </a:prstGeom>
        </p:spPr>
      </p:pic>
      <p:sp>
        <p:nvSpPr>
          <p:cNvPr id="11" name="Rectangle 10">
            <a:extLst>
              <a:ext uri="{FF2B5EF4-FFF2-40B4-BE49-F238E27FC236}">
                <a16:creationId xmlns:a16="http://schemas.microsoft.com/office/drawing/2014/main" id="{92B4B145-E32D-2E0F-680B-FD6772DA5681}"/>
              </a:ext>
            </a:extLst>
          </p:cNvPr>
          <p:cNvSpPr/>
          <p:nvPr/>
        </p:nvSpPr>
        <p:spPr>
          <a:xfrm>
            <a:off x="7731427" y="790037"/>
            <a:ext cx="760110" cy="294839"/>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12" name="Straight Arrow Connector 11">
            <a:extLst>
              <a:ext uri="{FF2B5EF4-FFF2-40B4-BE49-F238E27FC236}">
                <a16:creationId xmlns:a16="http://schemas.microsoft.com/office/drawing/2014/main" id="{9F0F1E68-3D73-770D-833D-CFABEA30C00D}"/>
              </a:ext>
            </a:extLst>
          </p:cNvPr>
          <p:cNvCxnSpPr>
            <a:cxnSpLocks/>
            <a:stCxn id="7" idx="5"/>
            <a:endCxn id="26" idx="1"/>
          </p:cNvCxnSpPr>
          <p:nvPr/>
        </p:nvCxnSpPr>
        <p:spPr>
          <a:xfrm>
            <a:off x="7665508" y="2618146"/>
            <a:ext cx="2155315" cy="2194965"/>
          </a:xfrm>
          <a:prstGeom prst="straightConnector1">
            <a:avLst/>
          </a:prstGeom>
          <a:ln w="19050">
            <a:solidFill>
              <a:srgbClr val="4F81BD"/>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E9F731C-84B5-5EB2-D734-52B4E01E2F32}"/>
              </a:ext>
            </a:extLst>
          </p:cNvPr>
          <p:cNvCxnSpPr>
            <a:cxnSpLocks/>
            <a:stCxn id="6" idx="5"/>
            <a:endCxn id="27" idx="1"/>
          </p:cNvCxnSpPr>
          <p:nvPr/>
        </p:nvCxnSpPr>
        <p:spPr>
          <a:xfrm>
            <a:off x="6938593" y="2437195"/>
            <a:ext cx="3312871" cy="3658639"/>
          </a:xfrm>
          <a:prstGeom prst="straightConnector1">
            <a:avLst/>
          </a:prstGeom>
          <a:ln w="19050">
            <a:solidFill>
              <a:srgbClr val="4F81BD"/>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BAD66-01E5-AADE-3BE5-5680E5A9B730}"/>
              </a:ext>
            </a:extLst>
          </p:cNvPr>
          <p:cNvCxnSpPr>
            <a:cxnSpLocks/>
            <a:stCxn id="39" idx="5"/>
            <a:endCxn id="27" idx="1"/>
          </p:cNvCxnSpPr>
          <p:nvPr/>
        </p:nvCxnSpPr>
        <p:spPr>
          <a:xfrm>
            <a:off x="7377443" y="3024851"/>
            <a:ext cx="2874021" cy="3070983"/>
          </a:xfrm>
          <a:prstGeom prst="straightConnector1">
            <a:avLst/>
          </a:prstGeom>
          <a:ln w="19050">
            <a:solidFill>
              <a:srgbClr val="4F81BD"/>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50A16CBD-A9F2-6D99-1A6B-37FBC503A956}"/>
              </a:ext>
            </a:extLst>
          </p:cNvPr>
          <p:cNvSpPr/>
          <p:nvPr/>
        </p:nvSpPr>
        <p:spPr>
          <a:xfrm>
            <a:off x="6868347" y="2769778"/>
            <a:ext cx="596443" cy="29883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ight Arrow 14">
            <a:extLst>
              <a:ext uri="{FF2B5EF4-FFF2-40B4-BE49-F238E27FC236}">
                <a16:creationId xmlns:a16="http://schemas.microsoft.com/office/drawing/2014/main" id="{0146D899-10DB-5C58-DAFC-C71A5F061502}"/>
              </a:ext>
            </a:extLst>
          </p:cNvPr>
          <p:cNvSpPr/>
          <p:nvPr/>
        </p:nvSpPr>
        <p:spPr>
          <a:xfrm rot="10800000">
            <a:off x="3700261" y="2227230"/>
            <a:ext cx="767255" cy="654269"/>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66768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16" grpId="0"/>
      <p:bldP spid="18" grpId="0" animBg="1"/>
      <p:bldP spid="6" grpId="0" animBg="1"/>
      <p:bldP spid="7" grpId="0" animBg="1"/>
      <p:bldP spid="26" grpId="0" animBg="1"/>
      <p:bldP spid="27" grpId="0" animBg="1"/>
      <p:bldP spid="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2FFD-5335-6C7F-7EC4-05A3D579CAAF}"/>
            </a:ext>
          </a:extLst>
        </p:cNvPr>
        <p:cNvGrpSpPr/>
        <p:nvPr/>
      </p:nvGrpSpPr>
      <p:grpSpPr>
        <a:xfrm>
          <a:off x="0" y="0"/>
          <a:ext cx="0" cy="0"/>
          <a:chOff x="0" y="0"/>
          <a:chExt cx="0" cy="0"/>
        </a:xfrm>
      </p:grpSpPr>
      <p:pic>
        <p:nvPicPr>
          <p:cNvPr id="11" name="Picture 10" descr="A diagram of a problem&#10;&#10;AI-generated content may be incorrect.">
            <a:extLst>
              <a:ext uri="{FF2B5EF4-FFF2-40B4-BE49-F238E27FC236}">
                <a16:creationId xmlns:a16="http://schemas.microsoft.com/office/drawing/2014/main" id="{D7365CF0-A531-3954-9DEE-84E487ADE657}"/>
              </a:ext>
            </a:extLst>
          </p:cNvPr>
          <p:cNvPicPr>
            <a:picLocks noChangeAspect="1"/>
          </p:cNvPicPr>
          <p:nvPr/>
        </p:nvPicPr>
        <p:blipFill>
          <a:blip r:embed="rId2"/>
          <a:stretch>
            <a:fillRect/>
          </a:stretch>
        </p:blipFill>
        <p:spPr>
          <a:xfrm>
            <a:off x="4686453" y="2045421"/>
            <a:ext cx="3058089" cy="1003928"/>
          </a:xfrm>
          <a:prstGeom prst="rect">
            <a:avLst/>
          </a:prstGeom>
        </p:spPr>
      </p:pic>
      <p:sp>
        <p:nvSpPr>
          <p:cNvPr id="4" name="Titel 3">
            <a:extLst>
              <a:ext uri="{FF2B5EF4-FFF2-40B4-BE49-F238E27FC236}">
                <a16:creationId xmlns:a16="http://schemas.microsoft.com/office/drawing/2014/main" id="{458600D0-F00D-53BD-4855-3C5C56179359}"/>
              </a:ext>
            </a:extLst>
          </p:cNvPr>
          <p:cNvSpPr>
            <a:spLocks noGrp="1"/>
          </p:cNvSpPr>
          <p:nvPr>
            <p:ph type="title" idx="4294967295"/>
          </p:nvPr>
        </p:nvSpPr>
        <p:spPr>
          <a:xfrm>
            <a:off x="651310" y="-46934"/>
            <a:ext cx="10968037" cy="1008062"/>
          </a:xfrm>
        </p:spPr>
        <p:txBody>
          <a:bodyPr/>
          <a:lstStyle/>
          <a:p>
            <a:r>
              <a:rPr lang="de-CH" dirty="0"/>
              <a:t>Iteration 2: Prozessebene operativ</a:t>
            </a:r>
          </a:p>
        </p:txBody>
      </p:sp>
      <p:sp>
        <p:nvSpPr>
          <p:cNvPr id="3" name="TextBox 2">
            <a:extLst>
              <a:ext uri="{FF2B5EF4-FFF2-40B4-BE49-F238E27FC236}">
                <a16:creationId xmlns:a16="http://schemas.microsoft.com/office/drawing/2014/main" id="{67AA45E7-2FEF-464C-C3FE-FCB3CEA531CE}"/>
              </a:ext>
            </a:extLst>
          </p:cNvPr>
          <p:cNvSpPr txBox="1"/>
          <p:nvPr/>
        </p:nvSpPr>
        <p:spPr>
          <a:xfrm>
            <a:off x="660404" y="3752114"/>
            <a:ext cx="6560344" cy="2585323"/>
          </a:xfrm>
          <a:prstGeom prst="rect">
            <a:avLst/>
          </a:prstGeom>
          <a:noFill/>
        </p:spPr>
        <p:txBody>
          <a:bodyPr wrap="square">
            <a:spAutoFit/>
          </a:bodyPr>
          <a:lstStyle/>
          <a:p>
            <a:pPr marL="285750" indent="-285750">
              <a:buFont typeface="Arial" panose="020B0604020202020204" pitchFamily="34" charset="0"/>
              <a:buChar char="•"/>
            </a:pPr>
            <a:r>
              <a:rPr lang="en-GB" dirty="0"/>
              <a:t>Wo </a:t>
            </a:r>
            <a:r>
              <a:rPr lang="en-GB" dirty="0" err="1"/>
              <a:t>erkennen</a:t>
            </a:r>
            <a:r>
              <a:rPr lang="en-GB" dirty="0"/>
              <a:t> Sie </a:t>
            </a:r>
            <a:r>
              <a:rPr lang="en-GB" dirty="0" err="1"/>
              <a:t>im</a:t>
            </a:r>
            <a:r>
              <a:rPr lang="en-GB" dirty="0"/>
              <a:t> </a:t>
            </a:r>
            <a:r>
              <a:rPr lang="en-GB" dirty="0" err="1"/>
              <a:t>visualisierten</a:t>
            </a:r>
            <a:r>
              <a:rPr lang="en-GB" dirty="0"/>
              <a:t> </a:t>
            </a:r>
            <a:r>
              <a:rPr lang="en-GB" dirty="0" err="1"/>
              <a:t>Prozess</a:t>
            </a:r>
            <a:r>
              <a:rPr lang="en-GB" dirty="0"/>
              <a:t> </a:t>
            </a:r>
            <a:r>
              <a:rPr lang="en-GB" b="1" dirty="0"/>
              <a:t>operative KI-</a:t>
            </a:r>
            <a:r>
              <a:rPr lang="en-GB" b="1" dirty="0" err="1"/>
              <a:t>Optimierungspotenziale</a:t>
            </a:r>
            <a:r>
              <a:rPr lang="en-GB" dirty="0"/>
              <a:t>, </a:t>
            </a:r>
            <a:r>
              <a:rPr lang="en-GB" dirty="0" err="1"/>
              <a:t>bei</a:t>
            </a:r>
            <a:r>
              <a:rPr lang="en-GB" dirty="0"/>
              <a:t> </a:t>
            </a:r>
            <a:r>
              <a:rPr lang="en-GB" dirty="0" err="1"/>
              <a:t>welchen</a:t>
            </a:r>
            <a:r>
              <a:rPr lang="en-GB" dirty="0"/>
              <a:t> </a:t>
            </a:r>
            <a:r>
              <a:rPr lang="en-GB" b="1" dirty="0"/>
              <a:t>das </a:t>
            </a:r>
            <a:r>
              <a:rPr lang="en-GB" b="1" dirty="0" err="1"/>
              <a:t>Unternehmen</a:t>
            </a:r>
            <a:r>
              <a:rPr lang="en-GB" b="1" dirty="0"/>
              <a:t> </a:t>
            </a:r>
            <a:r>
              <a:rPr lang="en-GB" dirty="0" err="1"/>
              <a:t>davon</a:t>
            </a:r>
            <a:r>
              <a:rPr lang="en-GB" dirty="0"/>
              <a:t> </a:t>
            </a:r>
            <a:r>
              <a:rPr lang="en-GB" dirty="0" err="1"/>
              <a:t>nachhaltig</a:t>
            </a:r>
            <a:r>
              <a:rPr lang="en-GB" dirty="0"/>
              <a:t> </a:t>
            </a:r>
            <a:r>
              <a:rPr lang="en-GB" dirty="0" err="1"/>
              <a:t>profitieren</a:t>
            </a:r>
            <a:r>
              <a:rPr lang="en-GB" dirty="0"/>
              <a:t> </a:t>
            </a:r>
            <a:r>
              <a:rPr lang="en-GB" dirty="0" err="1"/>
              <a:t>könnte</a:t>
            </a:r>
            <a:r>
              <a:rPr lang="en-GB" dirty="0"/>
              <a:t>?</a:t>
            </a:r>
          </a:p>
          <a:p>
            <a:pPr marL="285750" indent="-285750">
              <a:buFont typeface="Arial" panose="020B0604020202020204" pitchFamily="34" charset="0"/>
              <a:buChar char="•"/>
            </a:pPr>
            <a:r>
              <a:rPr lang="en-GB" dirty="0" err="1"/>
              <a:t>Dokumentieren</a:t>
            </a:r>
            <a:r>
              <a:rPr lang="en-GB" dirty="0"/>
              <a:t> Sie </a:t>
            </a:r>
            <a:r>
              <a:rPr lang="en-GB" dirty="0" err="1"/>
              <a:t>im</a:t>
            </a:r>
            <a:r>
              <a:rPr lang="en-GB" dirty="0"/>
              <a:t> </a:t>
            </a:r>
            <a:r>
              <a:rPr lang="en-GB" dirty="0" err="1"/>
              <a:t>Prozessdiagramm</a:t>
            </a:r>
            <a:r>
              <a:rPr lang="en-GB" dirty="0"/>
              <a:t>, </a:t>
            </a:r>
            <a:r>
              <a:rPr lang="en-GB" dirty="0" err="1"/>
              <a:t>welche</a:t>
            </a:r>
            <a:r>
              <a:rPr lang="en-GB" dirty="0"/>
              <a:t> </a:t>
            </a:r>
            <a:r>
              <a:rPr lang="en-GB" dirty="0" err="1"/>
              <a:t>Aktivitäten</a:t>
            </a:r>
            <a:r>
              <a:rPr lang="en-GB" dirty="0"/>
              <a:t> </a:t>
            </a:r>
            <a:r>
              <a:rPr lang="en-GB" dirty="0" err="1"/>
              <a:t>im</a:t>
            </a:r>
            <a:r>
              <a:rPr lang="en-GB" dirty="0"/>
              <a:t> </a:t>
            </a:r>
            <a:r>
              <a:rPr lang="en-GB" dirty="0" err="1"/>
              <a:t>Prozess</a:t>
            </a:r>
            <a:r>
              <a:rPr lang="en-GB" dirty="0"/>
              <a:t> von KI </a:t>
            </a:r>
            <a:r>
              <a:rPr lang="en-GB" dirty="0" err="1"/>
              <a:t>profitieren</a:t>
            </a:r>
            <a:r>
              <a:rPr lang="en-GB" dirty="0"/>
              <a:t> </a:t>
            </a:r>
            <a:r>
              <a:rPr lang="en-GB" dirty="0" err="1"/>
              <a:t>könnten</a:t>
            </a:r>
            <a:r>
              <a:rPr lang="en-GB" dirty="0"/>
              <a:t>.</a:t>
            </a:r>
          </a:p>
          <a:p>
            <a:pPr marL="285750" indent="-285750">
              <a:buFont typeface="Arial" panose="020B0604020202020204" pitchFamily="34" charset="0"/>
              <a:buChar char="•"/>
            </a:pPr>
            <a:r>
              <a:rPr lang="en-GB" dirty="0" err="1"/>
              <a:t>Erstellen</a:t>
            </a:r>
            <a:r>
              <a:rPr lang="en-GB" dirty="0"/>
              <a:t> Sie </a:t>
            </a:r>
            <a:r>
              <a:rPr lang="en-GB" dirty="0" err="1"/>
              <a:t>eine</a:t>
            </a:r>
            <a:r>
              <a:rPr lang="en-GB" dirty="0"/>
              <a:t> </a:t>
            </a:r>
            <a:r>
              <a:rPr lang="en-GB" dirty="0" err="1"/>
              <a:t>Liste</a:t>
            </a:r>
            <a:r>
              <a:rPr lang="en-GB" dirty="0"/>
              <a:t> der </a:t>
            </a:r>
            <a:r>
              <a:rPr lang="en-GB" dirty="0" err="1"/>
              <a:t>operativen</a:t>
            </a:r>
            <a:r>
              <a:rPr lang="en-GB" dirty="0"/>
              <a:t> KI-</a:t>
            </a:r>
            <a:r>
              <a:rPr lang="en-GB" dirty="0" err="1"/>
              <a:t>Optimierungspotenziale</a:t>
            </a:r>
            <a:r>
              <a:rPr lang="en-GB" dirty="0"/>
              <a:t> und </a:t>
            </a:r>
            <a:r>
              <a:rPr lang="en-GB" dirty="0" err="1"/>
              <a:t>positionieren</a:t>
            </a:r>
            <a:r>
              <a:rPr lang="en-GB" dirty="0"/>
              <a:t> Sie </a:t>
            </a:r>
            <a:r>
              <a:rPr lang="en-GB" dirty="0" err="1"/>
              <a:t>diese</a:t>
            </a:r>
            <a:r>
              <a:rPr lang="en-GB" dirty="0"/>
              <a:t> </a:t>
            </a:r>
            <a:r>
              <a:rPr lang="en-GB" dirty="0" err="1"/>
              <a:t>als</a:t>
            </a:r>
            <a:r>
              <a:rPr lang="en-GB" dirty="0"/>
              <a:t> </a:t>
            </a:r>
            <a:r>
              <a:rPr lang="en-GB" dirty="0" err="1"/>
              <a:t>Ziele</a:t>
            </a:r>
            <a:r>
              <a:rPr lang="en-GB" dirty="0"/>
              <a:t> in der Balanced </a:t>
            </a:r>
            <a:r>
              <a:rPr lang="en-GB" dirty="0" err="1"/>
              <a:t>Scorecared</a:t>
            </a:r>
            <a:r>
              <a:rPr lang="en-GB" dirty="0"/>
              <a:t>, </a:t>
            </a:r>
            <a:r>
              <a:rPr lang="en-GB" dirty="0" err="1"/>
              <a:t>primär</a:t>
            </a:r>
            <a:r>
              <a:rPr lang="en-GB" dirty="0"/>
              <a:t> in den </a:t>
            </a:r>
            <a:r>
              <a:rPr lang="en-GB" dirty="0" err="1"/>
              <a:t>Ebenen</a:t>
            </a:r>
            <a:r>
              <a:rPr lang="en-GB" dirty="0"/>
              <a:t> </a:t>
            </a:r>
            <a:r>
              <a:rPr lang="en-GB" dirty="0" err="1"/>
              <a:t>Prozesse</a:t>
            </a:r>
            <a:r>
              <a:rPr lang="en-GB" dirty="0"/>
              <a:t> </a:t>
            </a:r>
            <a:r>
              <a:rPr lang="en-GB" dirty="0" err="1"/>
              <a:t>oder</a:t>
            </a:r>
            <a:r>
              <a:rPr lang="en-GB" dirty="0"/>
              <a:t> </a:t>
            </a:r>
            <a:r>
              <a:rPr lang="en-GB" dirty="0" err="1"/>
              <a:t>Potenzial</a:t>
            </a:r>
            <a:r>
              <a:rPr lang="en-GB" dirty="0"/>
              <a:t>.</a:t>
            </a:r>
          </a:p>
        </p:txBody>
      </p:sp>
      <p:grpSp>
        <p:nvGrpSpPr>
          <p:cNvPr id="10" name="Group 9">
            <a:extLst>
              <a:ext uri="{FF2B5EF4-FFF2-40B4-BE49-F238E27FC236}">
                <a16:creationId xmlns:a16="http://schemas.microsoft.com/office/drawing/2014/main" id="{6B5BE59F-D6EB-61E7-C6EF-0E27424FDD96}"/>
              </a:ext>
            </a:extLst>
          </p:cNvPr>
          <p:cNvGrpSpPr/>
          <p:nvPr/>
        </p:nvGrpSpPr>
        <p:grpSpPr>
          <a:xfrm>
            <a:off x="8017989" y="3868047"/>
            <a:ext cx="3466478" cy="2705100"/>
            <a:chOff x="6525117" y="3429000"/>
            <a:chExt cx="4247658" cy="3314700"/>
          </a:xfrm>
        </p:grpSpPr>
        <p:sp>
          <p:nvSpPr>
            <p:cNvPr id="18" name="Rectangle 17">
              <a:extLst>
                <a:ext uri="{FF2B5EF4-FFF2-40B4-BE49-F238E27FC236}">
                  <a16:creationId xmlns:a16="http://schemas.microsoft.com/office/drawing/2014/main" id="{C5366E38-CE94-826D-BEF4-E4CACEB01D9F}"/>
                </a:ext>
              </a:extLst>
            </p:cNvPr>
            <p:cNvSpPr/>
            <p:nvPr/>
          </p:nvSpPr>
          <p:spPr>
            <a:xfrm>
              <a:off x="7448550" y="3429000"/>
              <a:ext cx="3324225" cy="828675"/>
            </a:xfrm>
            <a:prstGeom prst="rect">
              <a:avLst/>
            </a:prstGeom>
            <a:solidFill>
              <a:srgbClr val="CBD9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19" name="Rectangle 18">
              <a:extLst>
                <a:ext uri="{FF2B5EF4-FFF2-40B4-BE49-F238E27FC236}">
                  <a16:creationId xmlns:a16="http://schemas.microsoft.com/office/drawing/2014/main" id="{7A3C15BA-9801-222C-8AD8-9B85B2080B3E}"/>
                </a:ext>
              </a:extLst>
            </p:cNvPr>
            <p:cNvSpPr/>
            <p:nvPr/>
          </p:nvSpPr>
          <p:spPr>
            <a:xfrm>
              <a:off x="7448550" y="4257675"/>
              <a:ext cx="3324225" cy="828675"/>
            </a:xfrm>
            <a:prstGeom prst="rect">
              <a:avLst/>
            </a:prstGeom>
            <a:solidFill>
              <a:srgbClr val="CBD9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0" name="Rectangle 19">
              <a:extLst>
                <a:ext uri="{FF2B5EF4-FFF2-40B4-BE49-F238E27FC236}">
                  <a16:creationId xmlns:a16="http://schemas.microsoft.com/office/drawing/2014/main" id="{B647AD71-007F-5B77-E7CC-350ED40E59A3}"/>
                </a:ext>
              </a:extLst>
            </p:cNvPr>
            <p:cNvSpPr/>
            <p:nvPr/>
          </p:nvSpPr>
          <p:spPr>
            <a:xfrm>
              <a:off x="7448550" y="5086350"/>
              <a:ext cx="3324225" cy="828675"/>
            </a:xfrm>
            <a:prstGeom prst="rect">
              <a:avLst/>
            </a:prstGeom>
            <a:solidFill>
              <a:srgbClr val="CBD9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1" name="Rectangle 20">
              <a:extLst>
                <a:ext uri="{FF2B5EF4-FFF2-40B4-BE49-F238E27FC236}">
                  <a16:creationId xmlns:a16="http://schemas.microsoft.com/office/drawing/2014/main" id="{0D55BC79-8115-4CEF-DE49-0C703D37625E}"/>
                </a:ext>
              </a:extLst>
            </p:cNvPr>
            <p:cNvSpPr/>
            <p:nvPr/>
          </p:nvSpPr>
          <p:spPr>
            <a:xfrm>
              <a:off x="7448550" y="5915025"/>
              <a:ext cx="3324225" cy="828675"/>
            </a:xfrm>
            <a:prstGeom prst="rect">
              <a:avLst/>
            </a:prstGeom>
            <a:solidFill>
              <a:srgbClr val="CBD9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2" name="TextBox 21">
              <a:extLst>
                <a:ext uri="{FF2B5EF4-FFF2-40B4-BE49-F238E27FC236}">
                  <a16:creationId xmlns:a16="http://schemas.microsoft.com/office/drawing/2014/main" id="{42C85D3D-1092-49C4-5A5F-3BE987A9B9E6}"/>
                </a:ext>
              </a:extLst>
            </p:cNvPr>
            <p:cNvSpPr txBox="1"/>
            <p:nvPr/>
          </p:nvSpPr>
          <p:spPr>
            <a:xfrm>
              <a:off x="6525117" y="3615926"/>
              <a:ext cx="967823" cy="339421"/>
            </a:xfrm>
            <a:prstGeom prst="rect">
              <a:avLst/>
            </a:prstGeom>
            <a:noFill/>
          </p:spPr>
          <p:txBody>
            <a:bodyPr wrap="none" rtlCol="0">
              <a:spAutoFit/>
            </a:bodyPr>
            <a:lstStyle/>
            <a:p>
              <a:pPr algn="r"/>
              <a:r>
                <a:rPr lang="de-CH" sz="1200" dirty="0"/>
                <a:t>Finanzen</a:t>
              </a:r>
              <a:endParaRPr lang="en-GB" sz="1200" dirty="0"/>
            </a:p>
          </p:txBody>
        </p:sp>
        <p:sp>
          <p:nvSpPr>
            <p:cNvPr id="23" name="TextBox 22">
              <a:extLst>
                <a:ext uri="{FF2B5EF4-FFF2-40B4-BE49-F238E27FC236}">
                  <a16:creationId xmlns:a16="http://schemas.microsoft.com/office/drawing/2014/main" id="{4333BDBA-57F2-ECCB-A3B1-05EF44FD0097}"/>
                </a:ext>
              </a:extLst>
            </p:cNvPr>
            <p:cNvSpPr txBox="1"/>
            <p:nvPr/>
          </p:nvSpPr>
          <p:spPr>
            <a:xfrm>
              <a:off x="6624096" y="4446329"/>
              <a:ext cx="854996" cy="339421"/>
            </a:xfrm>
            <a:prstGeom prst="rect">
              <a:avLst/>
            </a:prstGeom>
            <a:noFill/>
          </p:spPr>
          <p:txBody>
            <a:bodyPr wrap="none" rtlCol="0">
              <a:spAutoFit/>
            </a:bodyPr>
            <a:lstStyle/>
            <a:p>
              <a:pPr algn="r"/>
              <a:r>
                <a:rPr lang="de-CH" sz="1200" dirty="0"/>
                <a:t>Kunden</a:t>
              </a:r>
              <a:endParaRPr lang="en-GB" sz="1200" dirty="0"/>
            </a:p>
          </p:txBody>
        </p:sp>
        <p:sp>
          <p:nvSpPr>
            <p:cNvPr id="24" name="TextBox 23">
              <a:extLst>
                <a:ext uri="{FF2B5EF4-FFF2-40B4-BE49-F238E27FC236}">
                  <a16:creationId xmlns:a16="http://schemas.microsoft.com/office/drawing/2014/main" id="{C8A42792-2939-9111-3E00-3B76A55EC036}"/>
                </a:ext>
              </a:extLst>
            </p:cNvPr>
            <p:cNvSpPr txBox="1"/>
            <p:nvPr/>
          </p:nvSpPr>
          <p:spPr>
            <a:xfrm>
              <a:off x="6525959" y="5316021"/>
              <a:ext cx="953131" cy="339421"/>
            </a:xfrm>
            <a:prstGeom prst="rect">
              <a:avLst/>
            </a:prstGeom>
            <a:noFill/>
          </p:spPr>
          <p:txBody>
            <a:bodyPr wrap="none" rtlCol="0">
              <a:spAutoFit/>
            </a:bodyPr>
            <a:lstStyle/>
            <a:p>
              <a:pPr algn="r"/>
              <a:r>
                <a:rPr lang="de-CH" sz="1200" dirty="0"/>
                <a:t>Prozesse</a:t>
              </a:r>
              <a:endParaRPr lang="en-GB" sz="1200" dirty="0"/>
            </a:p>
          </p:txBody>
        </p:sp>
        <p:sp>
          <p:nvSpPr>
            <p:cNvPr id="25" name="TextBox 24">
              <a:extLst>
                <a:ext uri="{FF2B5EF4-FFF2-40B4-BE49-F238E27FC236}">
                  <a16:creationId xmlns:a16="http://schemas.microsoft.com/office/drawing/2014/main" id="{2277080F-E103-5D3F-47A7-ACF6E9F8A603}"/>
                </a:ext>
              </a:extLst>
            </p:cNvPr>
            <p:cNvSpPr txBox="1"/>
            <p:nvPr/>
          </p:nvSpPr>
          <p:spPr>
            <a:xfrm>
              <a:off x="6534289" y="6165890"/>
              <a:ext cx="944802" cy="339421"/>
            </a:xfrm>
            <a:prstGeom prst="rect">
              <a:avLst/>
            </a:prstGeom>
            <a:noFill/>
          </p:spPr>
          <p:txBody>
            <a:bodyPr wrap="none" rtlCol="0">
              <a:spAutoFit/>
            </a:bodyPr>
            <a:lstStyle/>
            <a:p>
              <a:pPr algn="r"/>
              <a:r>
                <a:rPr lang="de-CH" sz="1200" dirty="0"/>
                <a:t>Potential</a:t>
              </a:r>
              <a:endParaRPr lang="en-GB" sz="1200" dirty="0"/>
            </a:p>
          </p:txBody>
        </p:sp>
      </p:grpSp>
      <p:sp>
        <p:nvSpPr>
          <p:cNvPr id="26" name="Isosceles Triangle 25">
            <a:extLst>
              <a:ext uri="{FF2B5EF4-FFF2-40B4-BE49-F238E27FC236}">
                <a16:creationId xmlns:a16="http://schemas.microsoft.com/office/drawing/2014/main" id="{00FF6A40-4363-0E6C-989E-FCEA1BE209AD}"/>
              </a:ext>
            </a:extLst>
          </p:cNvPr>
          <p:cNvSpPr/>
          <p:nvPr/>
        </p:nvSpPr>
        <p:spPr>
          <a:xfrm>
            <a:off x="9446456" y="4701799"/>
            <a:ext cx="383343" cy="277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Isosceles Triangle 26">
            <a:extLst>
              <a:ext uri="{FF2B5EF4-FFF2-40B4-BE49-F238E27FC236}">
                <a16:creationId xmlns:a16="http://schemas.microsoft.com/office/drawing/2014/main" id="{8BF664F5-C176-2265-9FDC-4F4F203A1F09}"/>
              </a:ext>
            </a:extLst>
          </p:cNvPr>
          <p:cNvSpPr/>
          <p:nvPr/>
        </p:nvSpPr>
        <p:spPr>
          <a:xfrm>
            <a:off x="9877097" y="5984522"/>
            <a:ext cx="383343" cy="277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Isosceles Triangle 27">
            <a:extLst>
              <a:ext uri="{FF2B5EF4-FFF2-40B4-BE49-F238E27FC236}">
                <a16:creationId xmlns:a16="http://schemas.microsoft.com/office/drawing/2014/main" id="{190275BE-2FA8-8D01-0771-E83620A34235}"/>
              </a:ext>
            </a:extLst>
          </p:cNvPr>
          <p:cNvSpPr/>
          <p:nvPr/>
        </p:nvSpPr>
        <p:spPr>
          <a:xfrm>
            <a:off x="10430414" y="5335795"/>
            <a:ext cx="383343" cy="277000"/>
          </a:xfrm>
          <a:prstGeom prst="triangle">
            <a:avLst/>
          </a:prstGeom>
          <a:solidFill>
            <a:srgbClr val="FF9933"/>
          </a:solidFill>
          <a:ln>
            <a:solidFill>
              <a:srgbClr val="EE7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Isosceles Triangle 28">
            <a:extLst>
              <a:ext uri="{FF2B5EF4-FFF2-40B4-BE49-F238E27FC236}">
                <a16:creationId xmlns:a16="http://schemas.microsoft.com/office/drawing/2014/main" id="{CBEDB669-1034-B594-861B-F170DF651526}"/>
              </a:ext>
            </a:extLst>
          </p:cNvPr>
          <p:cNvSpPr/>
          <p:nvPr/>
        </p:nvSpPr>
        <p:spPr>
          <a:xfrm>
            <a:off x="10792966" y="6021906"/>
            <a:ext cx="383343" cy="277000"/>
          </a:xfrm>
          <a:prstGeom prst="triangle">
            <a:avLst/>
          </a:prstGeom>
          <a:solidFill>
            <a:srgbClr val="FF9933"/>
          </a:solidFill>
          <a:ln>
            <a:solidFill>
              <a:srgbClr val="EE7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Isosceles Triangle 29">
            <a:extLst>
              <a:ext uri="{FF2B5EF4-FFF2-40B4-BE49-F238E27FC236}">
                <a16:creationId xmlns:a16="http://schemas.microsoft.com/office/drawing/2014/main" id="{31A2C2DC-A7FB-18C2-A030-27A943C3ECC0}"/>
              </a:ext>
            </a:extLst>
          </p:cNvPr>
          <p:cNvSpPr/>
          <p:nvPr/>
        </p:nvSpPr>
        <p:spPr>
          <a:xfrm>
            <a:off x="10700256" y="4655885"/>
            <a:ext cx="383343" cy="277000"/>
          </a:xfrm>
          <a:prstGeom prst="triangle">
            <a:avLst/>
          </a:prstGeom>
          <a:solidFill>
            <a:srgbClr val="FF9933"/>
          </a:solidFill>
          <a:ln>
            <a:solidFill>
              <a:srgbClr val="EE7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a:extLst>
              <a:ext uri="{FF2B5EF4-FFF2-40B4-BE49-F238E27FC236}">
                <a16:creationId xmlns:a16="http://schemas.microsoft.com/office/drawing/2014/main" id="{E30465A1-E871-8205-CBFD-B9C68B64CB20}"/>
              </a:ext>
            </a:extLst>
          </p:cNvPr>
          <p:cNvPicPr>
            <a:picLocks noChangeAspect="1"/>
          </p:cNvPicPr>
          <p:nvPr/>
        </p:nvPicPr>
        <p:blipFill>
          <a:blip r:embed="rId3"/>
          <a:stretch>
            <a:fillRect/>
          </a:stretch>
        </p:blipFill>
        <p:spPr>
          <a:xfrm>
            <a:off x="6823586" y="221486"/>
            <a:ext cx="3368128" cy="1326166"/>
          </a:xfrm>
          <a:prstGeom prst="rect">
            <a:avLst/>
          </a:prstGeom>
        </p:spPr>
      </p:pic>
      <p:sp>
        <p:nvSpPr>
          <p:cNvPr id="6" name="Rectangle 5">
            <a:extLst>
              <a:ext uri="{FF2B5EF4-FFF2-40B4-BE49-F238E27FC236}">
                <a16:creationId xmlns:a16="http://schemas.microsoft.com/office/drawing/2014/main" id="{4C486753-4258-A1E3-BA7C-4196F75A6113}"/>
              </a:ext>
            </a:extLst>
          </p:cNvPr>
          <p:cNvSpPr/>
          <p:nvPr/>
        </p:nvSpPr>
        <p:spPr>
          <a:xfrm>
            <a:off x="8536782" y="775855"/>
            <a:ext cx="745332" cy="314758"/>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3" name="Oval 32">
            <a:extLst>
              <a:ext uri="{FF2B5EF4-FFF2-40B4-BE49-F238E27FC236}">
                <a16:creationId xmlns:a16="http://schemas.microsoft.com/office/drawing/2014/main" id="{009F0EC4-DD3E-8F62-BA98-A860BF982FE3}"/>
              </a:ext>
            </a:extLst>
          </p:cNvPr>
          <p:cNvSpPr/>
          <p:nvPr/>
        </p:nvSpPr>
        <p:spPr>
          <a:xfrm>
            <a:off x="7164958" y="2422616"/>
            <a:ext cx="609301" cy="2433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4A2A3CEF-5938-70CE-C7BC-B042F4E54438}"/>
              </a:ext>
            </a:extLst>
          </p:cNvPr>
          <p:cNvSpPr/>
          <p:nvPr/>
        </p:nvSpPr>
        <p:spPr>
          <a:xfrm>
            <a:off x="6784902" y="2792448"/>
            <a:ext cx="737564" cy="25290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00A164E1-DC00-6F50-77C0-573935997229}"/>
              </a:ext>
            </a:extLst>
          </p:cNvPr>
          <p:cNvSpPr txBox="1"/>
          <p:nvPr/>
        </p:nvSpPr>
        <p:spPr>
          <a:xfrm>
            <a:off x="707533" y="6337437"/>
            <a:ext cx="6096000" cy="372346"/>
          </a:xfrm>
          <a:prstGeom prst="rect">
            <a:avLst/>
          </a:prstGeom>
          <a:noFill/>
        </p:spPr>
        <p:txBody>
          <a:bodyPr wrap="square">
            <a:spAutoFit/>
          </a:bodyPr>
          <a:lstStyle/>
          <a:p>
            <a:pPr>
              <a:lnSpc>
                <a:spcPct val="107000"/>
              </a:lnSpc>
              <a:spcAft>
                <a:spcPts val="800"/>
              </a:spcAft>
              <a:buNone/>
            </a:pPr>
            <a:r>
              <a:rPr lang="de-CH" sz="1800" kern="100" dirty="0">
                <a:effectLst/>
                <a:highlight>
                  <a:srgbClr val="FFFF00"/>
                </a:highlight>
                <a:latin typeface="Roboto" panose="02000000000000000000" pitchFamily="2" charset="0"/>
                <a:ea typeface="Aptos" panose="020B0004020202020204" pitchFamily="34" charset="0"/>
                <a:cs typeface="Times New Roman" panose="02020603050405020304" pitchFamily="18" charset="0"/>
              </a:rPr>
              <a:t>Präsentation der Ergebnisse: 25 Minuten</a:t>
            </a:r>
            <a:endParaRPr lang="en-CH" sz="1800" kern="100" dirty="0">
              <a:effectLst/>
              <a:highlight>
                <a:srgbClr val="FFFF00"/>
              </a:highlight>
              <a:latin typeface="Roboto" panose="02000000000000000000" pitchFamily="2" charset="0"/>
              <a:ea typeface="Aptos" panose="020B0004020202020204" pitchFamily="34" charset="0"/>
              <a:cs typeface="Times New Roman" panose="02020603050405020304" pitchFamily="18" charset="0"/>
            </a:endParaRPr>
          </a:p>
        </p:txBody>
      </p:sp>
      <p:cxnSp>
        <p:nvCxnSpPr>
          <p:cNvPr id="38" name="Straight Arrow Connector 37">
            <a:extLst>
              <a:ext uri="{FF2B5EF4-FFF2-40B4-BE49-F238E27FC236}">
                <a16:creationId xmlns:a16="http://schemas.microsoft.com/office/drawing/2014/main" id="{06947042-B28D-31D6-233E-C6158FAD86D6}"/>
              </a:ext>
            </a:extLst>
          </p:cNvPr>
          <p:cNvCxnSpPr>
            <a:cxnSpLocks/>
            <a:stCxn id="34" idx="5"/>
            <a:endCxn id="28" idx="1"/>
          </p:cNvCxnSpPr>
          <p:nvPr/>
        </p:nvCxnSpPr>
        <p:spPr>
          <a:xfrm>
            <a:off x="7414452" y="3008316"/>
            <a:ext cx="3111798" cy="2465979"/>
          </a:xfrm>
          <a:prstGeom prst="straightConnector1">
            <a:avLst/>
          </a:prstGeom>
          <a:ln w="19050">
            <a:solidFill>
              <a:srgbClr val="FF99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C5C3ECC-5A56-4458-AFDD-167BE29FD4B7}"/>
              </a:ext>
            </a:extLst>
          </p:cNvPr>
          <p:cNvCxnSpPr>
            <a:cxnSpLocks/>
            <a:stCxn id="33" idx="5"/>
            <a:endCxn id="30" idx="1"/>
          </p:cNvCxnSpPr>
          <p:nvPr/>
        </p:nvCxnSpPr>
        <p:spPr>
          <a:xfrm>
            <a:off x="7685029" y="2630354"/>
            <a:ext cx="3111063" cy="2164031"/>
          </a:xfrm>
          <a:prstGeom prst="straightConnector1">
            <a:avLst/>
          </a:prstGeom>
          <a:ln w="19050">
            <a:solidFill>
              <a:srgbClr val="FF99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6061B36-8A21-040E-E385-CC957AE8D3E1}"/>
              </a:ext>
            </a:extLst>
          </p:cNvPr>
          <p:cNvCxnSpPr>
            <a:cxnSpLocks/>
            <a:stCxn id="34" idx="4"/>
            <a:endCxn id="29" idx="1"/>
          </p:cNvCxnSpPr>
          <p:nvPr/>
        </p:nvCxnSpPr>
        <p:spPr>
          <a:xfrm>
            <a:off x="7153684" y="3045353"/>
            <a:ext cx="3735118" cy="3115053"/>
          </a:xfrm>
          <a:prstGeom prst="straightConnector1">
            <a:avLst/>
          </a:prstGeom>
          <a:ln w="19050">
            <a:solidFill>
              <a:srgbClr val="FF99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7D55C1C-040B-63F5-C4F4-5906176BDD29}"/>
              </a:ext>
            </a:extLst>
          </p:cNvPr>
          <p:cNvSpPr txBox="1"/>
          <p:nvPr/>
        </p:nvSpPr>
        <p:spPr>
          <a:xfrm>
            <a:off x="908293" y="1832352"/>
            <a:ext cx="2607324" cy="1556003"/>
          </a:xfrm>
          <a:prstGeom prst="rect">
            <a:avLst/>
          </a:prstGeom>
          <a:noFill/>
        </p:spPr>
        <p:txBody>
          <a:bodyPr wrap="square">
            <a:spAutoFit/>
          </a:bodyPr>
          <a:lstStyle/>
          <a:p>
            <a:pPr>
              <a:lnSpc>
                <a:spcPct val="115000"/>
              </a:lnSpc>
              <a:spcAft>
                <a:spcPts val="800"/>
              </a:spcAft>
            </a:pPr>
            <a:r>
              <a:rPr lang="de-CH"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Externe Perspektive:</a:t>
            </a:r>
            <a:endPar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Identifikation des </a:t>
            </a:r>
            <a:b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br>
            <a:r>
              <a:rPr lang="de-CH" b="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KI-Marktpotenzials</a:t>
            </a:r>
          </a:p>
          <a:p>
            <a:pPr>
              <a:lnSpc>
                <a:spcPct val="115000"/>
              </a:lnSpc>
              <a:spcAft>
                <a:spcPts val="800"/>
              </a:spcAft>
            </a:pPr>
            <a:r>
              <a:rPr lang="de-CH" i="1" kern="100" dirty="0">
                <a:solidFill>
                  <a:schemeClr val="bg1">
                    <a:lumMod val="65000"/>
                  </a:schemeClr>
                </a:solidFill>
                <a:effectLst/>
                <a:latin typeface="Aptos" panose="020B0004020202020204" pitchFamily="34" charset="0"/>
                <a:ea typeface="Aptos" panose="020B0004020202020204" pitchFamily="34" charset="0"/>
                <a:cs typeface="Times New Roman" panose="02020603050405020304" pitchFamily="18" charset="0"/>
              </a:rPr>
              <a:t>Strategische Dimension</a:t>
            </a:r>
          </a:p>
        </p:txBody>
      </p:sp>
      <p:sp>
        <p:nvSpPr>
          <p:cNvPr id="56" name="Right Arrow 13">
            <a:extLst>
              <a:ext uri="{FF2B5EF4-FFF2-40B4-BE49-F238E27FC236}">
                <a16:creationId xmlns:a16="http://schemas.microsoft.com/office/drawing/2014/main" id="{F222FABA-DC16-23DF-5A76-A06B18D2FB72}"/>
              </a:ext>
            </a:extLst>
          </p:cNvPr>
          <p:cNvSpPr/>
          <p:nvPr/>
        </p:nvSpPr>
        <p:spPr>
          <a:xfrm>
            <a:off x="7952719" y="2227230"/>
            <a:ext cx="767255" cy="6542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7" name="TextBox 56">
            <a:extLst>
              <a:ext uri="{FF2B5EF4-FFF2-40B4-BE49-F238E27FC236}">
                <a16:creationId xmlns:a16="http://schemas.microsoft.com/office/drawing/2014/main" id="{F50F27B1-6559-5F16-83D1-922A64C1B85A}"/>
              </a:ext>
            </a:extLst>
          </p:cNvPr>
          <p:cNvSpPr txBox="1"/>
          <p:nvPr/>
        </p:nvSpPr>
        <p:spPr>
          <a:xfrm>
            <a:off x="8842268" y="1818554"/>
            <a:ext cx="2980442" cy="1556003"/>
          </a:xfrm>
          <a:prstGeom prst="rect">
            <a:avLst/>
          </a:prstGeom>
          <a:noFill/>
        </p:spPr>
        <p:txBody>
          <a:bodyPr wrap="square">
            <a:spAutoFit/>
          </a:bodyPr>
          <a:lstStyle/>
          <a:p>
            <a:pPr>
              <a:lnSpc>
                <a:spcPct val="115000"/>
              </a:lnSpc>
              <a:spcAft>
                <a:spcPts val="800"/>
              </a:spcAft>
            </a:pPr>
            <a:r>
              <a:rPr lang="de-CH"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t>Interne Perspektive:</a:t>
            </a:r>
            <a:endParaRPr lang="de-CH" b="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de-CH" b="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t>Identifikation der </a:t>
            </a:r>
            <a:br>
              <a:rPr lang="de-CH" b="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br>
            <a:r>
              <a:rPr lang="de-CH" b="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t>KI-Prozessoptimierung</a:t>
            </a:r>
          </a:p>
          <a:p>
            <a:pPr>
              <a:lnSpc>
                <a:spcPct val="115000"/>
              </a:lnSpc>
              <a:spcAft>
                <a:spcPts val="800"/>
              </a:spcAft>
            </a:pPr>
            <a:r>
              <a:rPr lang="de-CH" i="1" kern="100" dirty="0">
                <a:solidFill>
                  <a:schemeClr val="accent6">
                    <a:lumMod val="75000"/>
                  </a:schemeClr>
                </a:solidFill>
                <a:effectLst/>
                <a:latin typeface="Aptos" panose="020B0004020202020204" pitchFamily="34" charset="0"/>
                <a:ea typeface="Aptos" panose="020B0004020202020204" pitchFamily="34" charset="0"/>
                <a:cs typeface="Times New Roman" panose="02020603050405020304" pitchFamily="18" charset="0"/>
              </a:rPr>
              <a:t>Operative Dimension</a:t>
            </a:r>
          </a:p>
        </p:txBody>
      </p:sp>
      <p:sp>
        <p:nvSpPr>
          <p:cNvPr id="58" name="Rectangle 57">
            <a:extLst>
              <a:ext uri="{FF2B5EF4-FFF2-40B4-BE49-F238E27FC236}">
                <a16:creationId xmlns:a16="http://schemas.microsoft.com/office/drawing/2014/main" id="{4BA6DA74-CE11-B8A8-7313-B50D0BCC459F}"/>
              </a:ext>
            </a:extLst>
          </p:cNvPr>
          <p:cNvSpPr/>
          <p:nvPr/>
        </p:nvSpPr>
        <p:spPr>
          <a:xfrm>
            <a:off x="8862249" y="1818553"/>
            <a:ext cx="2803635" cy="155600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0" name="Right Arrow 14">
            <a:extLst>
              <a:ext uri="{FF2B5EF4-FFF2-40B4-BE49-F238E27FC236}">
                <a16:creationId xmlns:a16="http://schemas.microsoft.com/office/drawing/2014/main" id="{FBD4E29E-1503-33AB-144B-FFD7396199AB}"/>
              </a:ext>
            </a:extLst>
          </p:cNvPr>
          <p:cNvSpPr/>
          <p:nvPr/>
        </p:nvSpPr>
        <p:spPr>
          <a:xfrm rot="10800000">
            <a:off x="3700261" y="2227230"/>
            <a:ext cx="767255" cy="654269"/>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319321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animBg="1"/>
      <p:bldP spid="29" grpId="0" animBg="1"/>
      <p:bldP spid="30" grpId="0" animBg="1"/>
      <p:bldP spid="33" grpId="0" animBg="1"/>
      <p:bldP spid="3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B83E57-762D-F221-4E4B-C30CC6BE9CA4}"/>
              </a:ext>
            </a:extLst>
          </p:cNvPr>
          <p:cNvSpPr>
            <a:spLocks noGrp="1"/>
          </p:cNvSpPr>
          <p:nvPr>
            <p:ph type="title"/>
          </p:nvPr>
        </p:nvSpPr>
        <p:spPr/>
        <p:txBody>
          <a:bodyPr/>
          <a:lstStyle/>
          <a:p>
            <a:r>
              <a:rPr lang="en-US" dirty="0" err="1"/>
              <a:t>Zeitplan</a:t>
            </a:r>
            <a:endParaRPr lang="en-CH" dirty="0"/>
          </a:p>
        </p:txBody>
      </p:sp>
      <p:sp>
        <p:nvSpPr>
          <p:cNvPr id="6" name="Text Placeholder 5">
            <a:extLst>
              <a:ext uri="{FF2B5EF4-FFF2-40B4-BE49-F238E27FC236}">
                <a16:creationId xmlns:a16="http://schemas.microsoft.com/office/drawing/2014/main" id="{62A5F341-5A10-01A9-0260-EDD5F1E083F4}"/>
              </a:ext>
            </a:extLst>
          </p:cNvPr>
          <p:cNvSpPr>
            <a:spLocks noGrp="1"/>
          </p:cNvSpPr>
          <p:nvPr>
            <p:ph type="body" sz="quarter" idx="14"/>
          </p:nvPr>
        </p:nvSpPr>
        <p:spPr/>
        <p:txBody>
          <a:bodyPr/>
          <a:lstStyle/>
          <a:p>
            <a:endParaRPr lang="en-CH"/>
          </a:p>
        </p:txBody>
      </p:sp>
      <p:graphicFrame>
        <p:nvGraphicFramePr>
          <p:cNvPr id="9" name="Table 8">
            <a:extLst>
              <a:ext uri="{FF2B5EF4-FFF2-40B4-BE49-F238E27FC236}">
                <a16:creationId xmlns:a16="http://schemas.microsoft.com/office/drawing/2014/main" id="{101BC9E9-891F-498B-87F0-9A4816DBB42D}"/>
              </a:ext>
            </a:extLst>
          </p:cNvPr>
          <p:cNvGraphicFramePr>
            <a:graphicFrameLocks noGrp="1"/>
          </p:cNvGraphicFramePr>
          <p:nvPr>
            <p:extLst>
              <p:ext uri="{D42A27DB-BD31-4B8C-83A1-F6EECF244321}">
                <p14:modId xmlns:p14="http://schemas.microsoft.com/office/powerpoint/2010/main" val="3775721349"/>
              </p:ext>
            </p:extLst>
          </p:nvPr>
        </p:nvGraphicFramePr>
        <p:xfrm>
          <a:off x="1809210" y="1927781"/>
          <a:ext cx="8573579" cy="3553206"/>
        </p:xfrm>
        <a:graphic>
          <a:graphicData uri="http://schemas.openxmlformats.org/drawingml/2006/table">
            <a:tbl>
              <a:tblPr firstRow="1" firstCol="1" bandRow="1">
                <a:tableStyleId>{5C22544A-7EE6-4342-B048-85BDC9FD1C3A}</a:tableStyleId>
              </a:tblPr>
              <a:tblGrid>
                <a:gridCol w="500139">
                  <a:extLst>
                    <a:ext uri="{9D8B030D-6E8A-4147-A177-3AD203B41FA5}">
                      <a16:colId xmlns:a16="http://schemas.microsoft.com/office/drawing/2014/main" val="3083389872"/>
                    </a:ext>
                  </a:extLst>
                </a:gridCol>
                <a:gridCol w="6381428">
                  <a:extLst>
                    <a:ext uri="{9D8B030D-6E8A-4147-A177-3AD203B41FA5}">
                      <a16:colId xmlns:a16="http://schemas.microsoft.com/office/drawing/2014/main" val="3589327714"/>
                    </a:ext>
                  </a:extLst>
                </a:gridCol>
                <a:gridCol w="1692012">
                  <a:extLst>
                    <a:ext uri="{9D8B030D-6E8A-4147-A177-3AD203B41FA5}">
                      <a16:colId xmlns:a16="http://schemas.microsoft.com/office/drawing/2014/main" val="796719715"/>
                    </a:ext>
                  </a:extLst>
                </a:gridCol>
              </a:tblGrid>
              <a:tr h="0">
                <a:tc>
                  <a:txBody>
                    <a:bodyPr/>
                    <a:lstStyle/>
                    <a:p>
                      <a:pPr>
                        <a:lnSpc>
                          <a:spcPct val="107000"/>
                        </a:lnSpc>
                        <a:spcAft>
                          <a:spcPts val="800"/>
                        </a:spcAft>
                        <a:buNone/>
                      </a:pPr>
                      <a:r>
                        <a:rPr lang="de-CH" sz="2000"/>
                        <a:t>#</a:t>
                      </a:r>
                      <a:endParaRPr lang="en-CH" sz="2000"/>
                    </a:p>
                  </a:txBody>
                  <a:tcPr marL="68580" marR="68580" marT="0" marB="0"/>
                </a:tc>
                <a:tc>
                  <a:txBody>
                    <a:bodyPr/>
                    <a:lstStyle/>
                    <a:p>
                      <a:pPr>
                        <a:lnSpc>
                          <a:spcPct val="107000"/>
                        </a:lnSpc>
                        <a:spcAft>
                          <a:spcPts val="800"/>
                        </a:spcAft>
                        <a:buNone/>
                      </a:pPr>
                      <a:r>
                        <a:rPr lang="de-CH" sz="2000"/>
                        <a:t>Was/Thema</a:t>
                      </a:r>
                      <a:endParaRPr lang="en-CH" sz="2000"/>
                    </a:p>
                  </a:txBody>
                  <a:tcPr marL="68580" marR="68580" marT="0" marB="0"/>
                </a:tc>
                <a:tc>
                  <a:txBody>
                    <a:bodyPr/>
                    <a:lstStyle/>
                    <a:p>
                      <a:pPr>
                        <a:lnSpc>
                          <a:spcPct val="107000"/>
                        </a:lnSpc>
                        <a:spcAft>
                          <a:spcPts val="800"/>
                        </a:spcAft>
                        <a:buNone/>
                      </a:pPr>
                      <a:r>
                        <a:rPr lang="de-CH" sz="2000"/>
                        <a:t>Zeitplan</a:t>
                      </a:r>
                      <a:endParaRPr lang="en-CH" sz="2000"/>
                    </a:p>
                  </a:txBody>
                  <a:tcPr marL="68580" marR="68580" marT="0" marB="0"/>
                </a:tc>
                <a:extLst>
                  <a:ext uri="{0D108BD9-81ED-4DB2-BD59-A6C34878D82A}">
                    <a16:rowId xmlns:a16="http://schemas.microsoft.com/office/drawing/2014/main" val="3234009855"/>
                  </a:ext>
                </a:extLst>
              </a:tr>
              <a:tr h="0">
                <a:tc>
                  <a:txBody>
                    <a:bodyPr/>
                    <a:lstStyle/>
                    <a:p>
                      <a:pPr>
                        <a:lnSpc>
                          <a:spcPct val="107000"/>
                        </a:lnSpc>
                        <a:spcAft>
                          <a:spcPts val="800"/>
                        </a:spcAft>
                        <a:buNone/>
                      </a:pPr>
                      <a:r>
                        <a:rPr lang="de-CH" sz="2000"/>
                        <a:t>1</a:t>
                      </a:r>
                      <a:endParaRPr lang="en-CH" sz="2000"/>
                    </a:p>
                  </a:txBody>
                  <a:tcPr marL="68580" marR="68580" marT="0" marB="0"/>
                </a:tc>
                <a:tc>
                  <a:txBody>
                    <a:bodyPr/>
                    <a:lstStyle/>
                    <a:p>
                      <a:pPr>
                        <a:lnSpc>
                          <a:spcPct val="107000"/>
                        </a:lnSpc>
                        <a:spcAft>
                          <a:spcPts val="800"/>
                        </a:spcAft>
                        <a:buNone/>
                      </a:pPr>
                      <a:r>
                        <a:rPr lang="de-CH" sz="2000" dirty="0"/>
                        <a:t>Intro</a:t>
                      </a:r>
                      <a:endParaRPr lang="en-CH" sz="2000" dirty="0"/>
                    </a:p>
                  </a:txBody>
                  <a:tcPr marL="68580" marR="68580" marT="0" marB="0"/>
                </a:tc>
                <a:tc>
                  <a:txBody>
                    <a:bodyPr/>
                    <a:lstStyle/>
                    <a:p>
                      <a:pPr>
                        <a:lnSpc>
                          <a:spcPct val="107000"/>
                        </a:lnSpc>
                        <a:spcAft>
                          <a:spcPts val="800"/>
                        </a:spcAft>
                        <a:buNone/>
                      </a:pPr>
                      <a:r>
                        <a:rPr lang="de-CH" sz="2000"/>
                        <a:t>09:30 – 09:55</a:t>
                      </a:r>
                      <a:endParaRPr lang="en-CH" sz="2000"/>
                    </a:p>
                  </a:txBody>
                  <a:tcPr marL="68580" marR="68580" marT="0" marB="0"/>
                </a:tc>
                <a:extLst>
                  <a:ext uri="{0D108BD9-81ED-4DB2-BD59-A6C34878D82A}">
                    <a16:rowId xmlns:a16="http://schemas.microsoft.com/office/drawing/2014/main" val="2658300836"/>
                  </a:ext>
                </a:extLst>
              </a:tr>
              <a:tr h="0">
                <a:tc>
                  <a:txBody>
                    <a:bodyPr/>
                    <a:lstStyle/>
                    <a:p>
                      <a:pPr>
                        <a:lnSpc>
                          <a:spcPct val="107000"/>
                        </a:lnSpc>
                        <a:spcAft>
                          <a:spcPts val="800"/>
                        </a:spcAft>
                        <a:buNone/>
                      </a:pPr>
                      <a:r>
                        <a:rPr lang="de-CH" sz="2000"/>
                        <a:t>2</a:t>
                      </a:r>
                      <a:endParaRPr lang="en-CH" sz="2000"/>
                    </a:p>
                  </a:txBody>
                  <a:tcPr marL="68580" marR="68580" marT="0" marB="0"/>
                </a:tc>
                <a:tc>
                  <a:txBody>
                    <a:bodyPr/>
                    <a:lstStyle/>
                    <a:p>
                      <a:pPr>
                        <a:lnSpc>
                          <a:spcPct val="107000"/>
                        </a:lnSpc>
                        <a:spcAft>
                          <a:spcPts val="800"/>
                        </a:spcAft>
                        <a:buNone/>
                      </a:pPr>
                      <a:r>
                        <a:rPr lang="de-CH" sz="2000" dirty="0"/>
                        <a:t>Gruppenbildung.</a:t>
                      </a:r>
                      <a:endParaRPr lang="en-CH" sz="2000" dirty="0"/>
                    </a:p>
                  </a:txBody>
                  <a:tcPr marL="68580" marR="68580" marT="0" marB="0"/>
                </a:tc>
                <a:tc>
                  <a:txBody>
                    <a:bodyPr/>
                    <a:lstStyle/>
                    <a:p>
                      <a:pPr>
                        <a:lnSpc>
                          <a:spcPct val="107000"/>
                        </a:lnSpc>
                        <a:spcAft>
                          <a:spcPts val="800"/>
                        </a:spcAft>
                        <a:buNone/>
                      </a:pPr>
                      <a:r>
                        <a:rPr lang="de-CH" sz="2000"/>
                        <a:t>09:55 – 10:00</a:t>
                      </a:r>
                      <a:endParaRPr lang="en-CH" sz="2000"/>
                    </a:p>
                  </a:txBody>
                  <a:tcPr marL="68580" marR="68580" marT="0" marB="0"/>
                </a:tc>
                <a:extLst>
                  <a:ext uri="{0D108BD9-81ED-4DB2-BD59-A6C34878D82A}">
                    <a16:rowId xmlns:a16="http://schemas.microsoft.com/office/drawing/2014/main" val="1918628802"/>
                  </a:ext>
                </a:extLst>
              </a:tr>
              <a:tr h="0">
                <a:tc>
                  <a:txBody>
                    <a:bodyPr/>
                    <a:lstStyle/>
                    <a:p>
                      <a:pPr>
                        <a:lnSpc>
                          <a:spcPct val="107000"/>
                        </a:lnSpc>
                        <a:spcAft>
                          <a:spcPts val="800"/>
                        </a:spcAft>
                        <a:buNone/>
                      </a:pPr>
                      <a:r>
                        <a:rPr lang="de-CH" sz="2000"/>
                        <a:t>3</a:t>
                      </a:r>
                      <a:endParaRPr lang="en-CH" sz="2000"/>
                    </a:p>
                  </a:txBody>
                  <a:tcPr marL="68580" marR="68580" marT="0" marB="0"/>
                </a:tc>
                <a:tc>
                  <a:txBody>
                    <a:bodyPr/>
                    <a:lstStyle/>
                    <a:p>
                      <a:pPr>
                        <a:lnSpc>
                          <a:spcPct val="100000"/>
                        </a:lnSpc>
                        <a:spcAft>
                          <a:spcPts val="600"/>
                        </a:spcAft>
                        <a:buNone/>
                      </a:pPr>
                      <a:r>
                        <a:rPr lang="de-CH" sz="2000" dirty="0"/>
                        <a:t>Workshop 1:</a:t>
                      </a:r>
                      <a:endParaRPr lang="en-CH" sz="2000" dirty="0"/>
                    </a:p>
                    <a:p>
                      <a:pPr>
                        <a:lnSpc>
                          <a:spcPct val="100000"/>
                        </a:lnSpc>
                        <a:spcAft>
                          <a:spcPts val="600"/>
                        </a:spcAft>
                        <a:buNone/>
                      </a:pPr>
                      <a:r>
                        <a:rPr lang="de-CH" sz="2000" dirty="0"/>
                        <a:t>Unternehmensebene: Bewertung von Prozessen/Projekten</a:t>
                      </a:r>
                      <a:endParaRPr lang="en-CH" sz="2000" dirty="0"/>
                    </a:p>
                  </a:txBody>
                  <a:tcPr marL="68580" marR="68580" marT="0" marB="0"/>
                </a:tc>
                <a:tc>
                  <a:txBody>
                    <a:bodyPr/>
                    <a:lstStyle/>
                    <a:p>
                      <a:pPr>
                        <a:lnSpc>
                          <a:spcPct val="107000"/>
                        </a:lnSpc>
                        <a:spcAft>
                          <a:spcPts val="800"/>
                        </a:spcAft>
                        <a:buNone/>
                      </a:pPr>
                      <a:r>
                        <a:rPr lang="de-CH" sz="2000"/>
                        <a:t>10:05 – 10:35</a:t>
                      </a:r>
                      <a:endParaRPr lang="en-CH" sz="2000"/>
                    </a:p>
                  </a:txBody>
                  <a:tcPr marL="68580" marR="68580" marT="0" marB="0"/>
                </a:tc>
                <a:extLst>
                  <a:ext uri="{0D108BD9-81ED-4DB2-BD59-A6C34878D82A}">
                    <a16:rowId xmlns:a16="http://schemas.microsoft.com/office/drawing/2014/main" val="767351171"/>
                  </a:ext>
                </a:extLst>
              </a:tr>
              <a:tr h="0">
                <a:tc>
                  <a:txBody>
                    <a:bodyPr/>
                    <a:lstStyle/>
                    <a:p>
                      <a:pPr>
                        <a:lnSpc>
                          <a:spcPct val="107000"/>
                        </a:lnSpc>
                        <a:spcAft>
                          <a:spcPts val="800"/>
                        </a:spcAft>
                        <a:buNone/>
                      </a:pPr>
                      <a:r>
                        <a:rPr lang="de-CH" sz="2000"/>
                        <a:t>4</a:t>
                      </a:r>
                      <a:endParaRPr lang="en-CH" sz="2000"/>
                    </a:p>
                  </a:txBody>
                  <a:tcPr marL="68580" marR="68580" marT="0" marB="0"/>
                </a:tc>
                <a:tc>
                  <a:txBody>
                    <a:bodyPr/>
                    <a:lstStyle/>
                    <a:p>
                      <a:pPr>
                        <a:lnSpc>
                          <a:spcPct val="100000"/>
                        </a:lnSpc>
                        <a:spcAft>
                          <a:spcPts val="600"/>
                        </a:spcAft>
                        <a:buNone/>
                      </a:pPr>
                      <a:r>
                        <a:rPr lang="de-CH" sz="2000" dirty="0"/>
                        <a:t>Workshop 2:</a:t>
                      </a:r>
                    </a:p>
                    <a:p>
                      <a:pPr>
                        <a:lnSpc>
                          <a:spcPct val="100000"/>
                        </a:lnSpc>
                        <a:spcAft>
                          <a:spcPts val="600"/>
                        </a:spcAft>
                        <a:buNone/>
                      </a:pPr>
                      <a:r>
                        <a:rPr lang="de-CH" sz="2000" dirty="0"/>
                        <a:t>Prozessebene: Visualisierung, Ziele</a:t>
                      </a:r>
                      <a:endParaRPr lang="en-CH" sz="2000" dirty="0"/>
                    </a:p>
                  </a:txBody>
                  <a:tcPr marL="68580" marR="68580" marT="0" marB="0"/>
                </a:tc>
                <a:tc>
                  <a:txBody>
                    <a:bodyPr/>
                    <a:lstStyle/>
                    <a:p>
                      <a:pPr>
                        <a:lnSpc>
                          <a:spcPct val="107000"/>
                        </a:lnSpc>
                        <a:spcAft>
                          <a:spcPts val="800"/>
                        </a:spcAft>
                        <a:buNone/>
                      </a:pPr>
                      <a:r>
                        <a:rPr lang="de-CH" sz="2000"/>
                        <a:t>10:35 – 11:05</a:t>
                      </a:r>
                      <a:endParaRPr lang="en-CH" sz="2000"/>
                    </a:p>
                  </a:txBody>
                  <a:tcPr marL="68580" marR="68580" marT="0" marB="0"/>
                </a:tc>
                <a:extLst>
                  <a:ext uri="{0D108BD9-81ED-4DB2-BD59-A6C34878D82A}">
                    <a16:rowId xmlns:a16="http://schemas.microsoft.com/office/drawing/2014/main" val="1211186866"/>
                  </a:ext>
                </a:extLst>
              </a:tr>
              <a:tr h="0">
                <a:tc>
                  <a:txBody>
                    <a:bodyPr/>
                    <a:lstStyle/>
                    <a:p>
                      <a:pPr>
                        <a:lnSpc>
                          <a:spcPct val="107000"/>
                        </a:lnSpc>
                        <a:spcAft>
                          <a:spcPts val="800"/>
                        </a:spcAft>
                        <a:buNone/>
                      </a:pPr>
                      <a:r>
                        <a:rPr lang="de-CH" sz="2000"/>
                        <a:t>5</a:t>
                      </a:r>
                      <a:endParaRPr lang="en-CH" sz="2000"/>
                    </a:p>
                  </a:txBody>
                  <a:tcPr marL="68580" marR="68580" marT="0" marB="0"/>
                </a:tc>
                <a:tc>
                  <a:txBody>
                    <a:bodyPr/>
                    <a:lstStyle/>
                    <a:p>
                      <a:pPr>
                        <a:lnSpc>
                          <a:spcPct val="107000"/>
                        </a:lnSpc>
                        <a:spcAft>
                          <a:spcPts val="800"/>
                        </a:spcAft>
                        <a:buNone/>
                      </a:pPr>
                      <a:r>
                        <a:rPr lang="de-CH" sz="2000"/>
                        <a:t>Vorbereitung Präsentation</a:t>
                      </a:r>
                      <a:endParaRPr lang="en-CH" sz="2000"/>
                    </a:p>
                  </a:txBody>
                  <a:tcPr marL="68580" marR="68580" marT="0" marB="0"/>
                </a:tc>
                <a:tc>
                  <a:txBody>
                    <a:bodyPr/>
                    <a:lstStyle/>
                    <a:p>
                      <a:pPr>
                        <a:lnSpc>
                          <a:spcPct val="107000"/>
                        </a:lnSpc>
                        <a:spcAft>
                          <a:spcPts val="800"/>
                        </a:spcAft>
                        <a:buNone/>
                      </a:pPr>
                      <a:r>
                        <a:rPr lang="de-CH" sz="2000"/>
                        <a:t>11:05 – 11:30</a:t>
                      </a:r>
                      <a:endParaRPr lang="en-CH" sz="2000"/>
                    </a:p>
                  </a:txBody>
                  <a:tcPr marL="68580" marR="68580" marT="0" marB="0"/>
                </a:tc>
                <a:extLst>
                  <a:ext uri="{0D108BD9-81ED-4DB2-BD59-A6C34878D82A}">
                    <a16:rowId xmlns:a16="http://schemas.microsoft.com/office/drawing/2014/main" val="258246139"/>
                  </a:ext>
                </a:extLst>
              </a:tr>
              <a:tr h="0">
                <a:tc>
                  <a:txBody>
                    <a:bodyPr/>
                    <a:lstStyle/>
                    <a:p>
                      <a:pPr>
                        <a:lnSpc>
                          <a:spcPct val="107000"/>
                        </a:lnSpc>
                        <a:spcAft>
                          <a:spcPts val="800"/>
                        </a:spcAft>
                        <a:buNone/>
                      </a:pPr>
                      <a:r>
                        <a:rPr lang="de-CH" sz="2000"/>
                        <a:t>5</a:t>
                      </a:r>
                      <a:endParaRPr lang="en-CH" sz="2000"/>
                    </a:p>
                  </a:txBody>
                  <a:tcPr marL="68580" marR="68580" marT="0" marB="0"/>
                </a:tc>
                <a:tc>
                  <a:txBody>
                    <a:bodyPr/>
                    <a:lstStyle/>
                    <a:p>
                      <a:pPr>
                        <a:lnSpc>
                          <a:spcPct val="107000"/>
                        </a:lnSpc>
                        <a:spcAft>
                          <a:spcPts val="800"/>
                        </a:spcAft>
                        <a:buNone/>
                      </a:pPr>
                      <a:r>
                        <a:rPr lang="de-CH" sz="2000"/>
                        <a:t>Präsentationen (der Resultate aus Workshops)</a:t>
                      </a:r>
                      <a:endParaRPr lang="en-CH" sz="2000"/>
                    </a:p>
                  </a:txBody>
                  <a:tcPr marL="68580" marR="68580" marT="0" marB="0"/>
                </a:tc>
                <a:tc>
                  <a:txBody>
                    <a:bodyPr/>
                    <a:lstStyle/>
                    <a:p>
                      <a:pPr>
                        <a:lnSpc>
                          <a:spcPct val="107000"/>
                        </a:lnSpc>
                        <a:spcAft>
                          <a:spcPts val="800"/>
                        </a:spcAft>
                        <a:buNone/>
                      </a:pPr>
                      <a:r>
                        <a:rPr lang="de-CH" sz="2000"/>
                        <a:t>11:30 – 12:00</a:t>
                      </a:r>
                      <a:endParaRPr lang="en-CH" sz="2000"/>
                    </a:p>
                  </a:txBody>
                  <a:tcPr marL="68580" marR="68580" marT="0" marB="0"/>
                </a:tc>
                <a:extLst>
                  <a:ext uri="{0D108BD9-81ED-4DB2-BD59-A6C34878D82A}">
                    <a16:rowId xmlns:a16="http://schemas.microsoft.com/office/drawing/2014/main" val="3061060172"/>
                  </a:ext>
                </a:extLst>
              </a:tr>
              <a:tr h="0">
                <a:tc>
                  <a:txBody>
                    <a:bodyPr/>
                    <a:lstStyle/>
                    <a:p>
                      <a:pPr>
                        <a:lnSpc>
                          <a:spcPct val="107000"/>
                        </a:lnSpc>
                        <a:spcAft>
                          <a:spcPts val="800"/>
                        </a:spcAft>
                        <a:buNone/>
                      </a:pPr>
                      <a:r>
                        <a:rPr lang="de-CH" sz="2000"/>
                        <a:t>6</a:t>
                      </a:r>
                      <a:endParaRPr lang="en-CH" sz="2000"/>
                    </a:p>
                  </a:txBody>
                  <a:tcPr marL="68580" marR="68580" marT="0" marB="0"/>
                </a:tc>
                <a:tc>
                  <a:txBody>
                    <a:bodyPr/>
                    <a:lstStyle/>
                    <a:p>
                      <a:pPr>
                        <a:lnSpc>
                          <a:spcPct val="107000"/>
                        </a:lnSpc>
                        <a:spcAft>
                          <a:spcPts val="800"/>
                        </a:spcAft>
                        <a:buNone/>
                      </a:pPr>
                      <a:r>
                        <a:rPr lang="de-CH" sz="2000"/>
                        <a:t>Mittagessen</a:t>
                      </a:r>
                      <a:endParaRPr lang="en-CH" sz="2000"/>
                    </a:p>
                  </a:txBody>
                  <a:tcPr marL="68580" marR="68580" marT="0" marB="0"/>
                </a:tc>
                <a:tc>
                  <a:txBody>
                    <a:bodyPr/>
                    <a:lstStyle/>
                    <a:p>
                      <a:pPr>
                        <a:lnSpc>
                          <a:spcPct val="107000"/>
                        </a:lnSpc>
                        <a:spcAft>
                          <a:spcPts val="800"/>
                        </a:spcAft>
                        <a:buNone/>
                      </a:pPr>
                      <a:r>
                        <a:rPr lang="de-CH" sz="2000"/>
                        <a:t>12:00 – 13:15</a:t>
                      </a:r>
                      <a:endParaRPr lang="en-CH" sz="2000"/>
                    </a:p>
                  </a:txBody>
                  <a:tcPr marL="68580" marR="68580" marT="0" marB="0"/>
                </a:tc>
                <a:extLst>
                  <a:ext uri="{0D108BD9-81ED-4DB2-BD59-A6C34878D82A}">
                    <a16:rowId xmlns:a16="http://schemas.microsoft.com/office/drawing/2014/main" val="90957348"/>
                  </a:ext>
                </a:extLst>
              </a:tr>
              <a:tr h="0">
                <a:tc>
                  <a:txBody>
                    <a:bodyPr/>
                    <a:lstStyle/>
                    <a:p>
                      <a:pPr>
                        <a:lnSpc>
                          <a:spcPct val="107000"/>
                        </a:lnSpc>
                        <a:spcAft>
                          <a:spcPts val="800"/>
                        </a:spcAft>
                        <a:buNone/>
                      </a:pPr>
                      <a:r>
                        <a:rPr lang="de-CH" sz="2000"/>
                        <a:t>7</a:t>
                      </a:r>
                      <a:endParaRPr lang="en-CH" sz="2000"/>
                    </a:p>
                  </a:txBody>
                  <a:tcPr marL="68580" marR="68580" marT="0" marB="0"/>
                </a:tc>
                <a:tc>
                  <a:txBody>
                    <a:bodyPr/>
                    <a:lstStyle/>
                    <a:p>
                      <a:pPr>
                        <a:lnSpc>
                          <a:spcPct val="107000"/>
                        </a:lnSpc>
                        <a:spcAft>
                          <a:spcPts val="800"/>
                        </a:spcAft>
                        <a:buNone/>
                      </a:pPr>
                      <a:r>
                        <a:rPr lang="de-CH" sz="2000"/>
                        <a:t>Abschluss und Ausblick – wie geht es weiter?</a:t>
                      </a:r>
                      <a:endParaRPr lang="en-CH" sz="2000"/>
                    </a:p>
                  </a:txBody>
                  <a:tcPr marL="68580" marR="68580" marT="0" marB="0"/>
                </a:tc>
                <a:tc>
                  <a:txBody>
                    <a:bodyPr/>
                    <a:lstStyle/>
                    <a:p>
                      <a:pPr>
                        <a:lnSpc>
                          <a:spcPct val="107000"/>
                        </a:lnSpc>
                        <a:spcAft>
                          <a:spcPts val="800"/>
                        </a:spcAft>
                        <a:buNone/>
                      </a:pPr>
                      <a:r>
                        <a:rPr lang="de-CH" sz="2000" dirty="0"/>
                        <a:t>13:15 – 13:30</a:t>
                      </a:r>
                      <a:endParaRPr lang="en-CH" sz="2000" dirty="0"/>
                    </a:p>
                  </a:txBody>
                  <a:tcPr marL="68580" marR="68580" marT="0" marB="0"/>
                </a:tc>
                <a:extLst>
                  <a:ext uri="{0D108BD9-81ED-4DB2-BD59-A6C34878D82A}">
                    <a16:rowId xmlns:a16="http://schemas.microsoft.com/office/drawing/2014/main" val="2191006835"/>
                  </a:ext>
                </a:extLst>
              </a:tr>
            </a:tbl>
          </a:graphicData>
        </a:graphic>
      </p:graphicFrame>
      <p:sp>
        <p:nvSpPr>
          <p:cNvPr id="10" name="Rectangle 1">
            <a:extLst>
              <a:ext uri="{FF2B5EF4-FFF2-40B4-BE49-F238E27FC236}">
                <a16:creationId xmlns:a16="http://schemas.microsoft.com/office/drawing/2014/main" id="{59B4E62A-BB5A-7D85-2177-0C2DA7933CB0}"/>
              </a:ext>
            </a:extLst>
          </p:cNvPr>
          <p:cNvSpPr>
            <a:spLocks noChangeArrowheads="1"/>
          </p:cNvSpPr>
          <p:nvPr/>
        </p:nvSpPr>
        <p:spPr bwMode="auto">
          <a:xfrm>
            <a:off x="4089498" y="192778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H"/>
          </a:p>
        </p:txBody>
      </p:sp>
    </p:spTree>
    <p:extLst>
      <p:ext uri="{BB962C8B-B14F-4D97-AF65-F5344CB8AC3E}">
        <p14:creationId xmlns:p14="http://schemas.microsoft.com/office/powerpoint/2010/main" val="2024222681"/>
      </p:ext>
    </p:extLst>
  </p:cSld>
  <p:clrMapOvr>
    <a:masterClrMapping/>
  </p:clrMapOvr>
</p:sld>
</file>

<file path=ppt/theme/theme1.xml><?xml version="1.0" encoding="utf-8"?>
<a:theme xmlns:a="http://schemas.openxmlformats.org/drawingml/2006/main" name="Benutzerdefiniertes 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äsentation2" id="{42D8B66F-F14E-864F-A2FF-BEF731D32B2F}" vid="{C46401ED-3AD9-B149-B4CD-6E04615E9B7E}"/>
    </a:ext>
  </a:ext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A7A9C8C-ADA1-4D11-B54E-E41F528CADDE}">
  <we:reference id="22ff87a5-132f-4d52-9e97-94d888e4dd91" version="3.8.0.0" store="EXCatalog" storeType="EXCatalog"/>
  <we:alternateReferences>
    <we:reference id="WA104380050" version="3.8.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79E0402BF8C7D14C96FA1C9E93A281F2" ma:contentTypeVersion="3" ma:contentTypeDescription="Ein neues Dokument erstellen." ma:contentTypeScope="" ma:versionID="a3db8632d672d3247980d528cd297b56">
  <xsd:schema xmlns:xsd="http://www.w3.org/2001/XMLSchema" xmlns:xs="http://www.w3.org/2001/XMLSchema" xmlns:p="http://schemas.microsoft.com/office/2006/metadata/properties" xmlns:ns2="f365344a-68ab-4435-8a1f-4cde1402a788" targetNamespace="http://schemas.microsoft.com/office/2006/metadata/properties" ma:root="true" ma:fieldsID="48c35e4ef7c926ee1074e361b31fe8b5" ns2:_="">
    <xsd:import namespace="f365344a-68ab-4435-8a1f-4cde1402a7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65344a-68ab-4435-8a1f-4cde1402a7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930855-23BF-4212-BF9C-2244FAFA053B}">
  <ds:schemaRefs>
    <ds:schemaRef ds:uri="44e2fce8-be2d-4aff-bf4a-65ec84941d94"/>
    <ds:schemaRef ds:uri="530d7382-24ef-4749-a675-107d131d3772"/>
    <ds:schemaRef ds:uri="79502b80-7de8-49e8-8b94-b53f788c6516"/>
    <ds:schemaRef ds:uri="81804051-e5b9-4807-9722-e7d31143db2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7D1041A-29C8-46E6-9FAB-A673D76AAC07}"/>
</file>

<file path=customXml/itemProps3.xml><?xml version="1.0" encoding="utf-8"?>
<ds:datastoreItem xmlns:ds="http://schemas.openxmlformats.org/officeDocument/2006/customXml" ds:itemID="{44CA6AB2-BD51-4416-9D4B-213F888940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Benutzerdefiniertes Design</Template>
  <TotalTime>0</TotalTime>
  <Words>1003</Words>
  <Application>Microsoft Office PowerPoint</Application>
  <PresentationFormat>Widescreen</PresentationFormat>
  <Paragraphs>209</Paragraphs>
  <Slides>23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Aptos</vt:lpstr>
      <vt:lpstr>Arial</vt:lpstr>
      <vt:lpstr>Arial Narrow</vt:lpstr>
      <vt:lpstr>Calibri</vt:lpstr>
      <vt:lpstr>Frutiger LT Com 55 Roman</vt:lpstr>
      <vt:lpstr>Roboto</vt:lpstr>
      <vt:lpstr>Roboto Light</vt:lpstr>
      <vt:lpstr>Segoe Print</vt:lpstr>
      <vt:lpstr>Tahoma</vt:lpstr>
      <vt:lpstr>Wingdings</vt:lpstr>
      <vt:lpstr>Benutzerdefiniertes Design</vt:lpstr>
      <vt:lpstr>KI-Zentrum für KMU:  Potenziale der KI …                … für XYZ erkennen     </vt:lpstr>
      <vt:lpstr>Was ist KI</vt:lpstr>
      <vt:lpstr>Einstiegsfrage</vt:lpstr>
      <vt:lpstr>KI ist mehr als ChatGPT und CoPilot</vt:lpstr>
      <vt:lpstr>Methoden der KI</vt:lpstr>
      <vt:lpstr>Datenbasierte KI</vt:lpstr>
      <vt:lpstr>Wissensbasierte Systeme</vt:lpstr>
      <vt:lpstr>KI ist mehr als ChatGPT und CoPilot</vt:lpstr>
      <vt:lpstr>Methodik KI-4-KMU</vt:lpstr>
      <vt:lpstr>Design-Phase</vt:lpstr>
      <vt:lpstr>Design-Phase</vt:lpstr>
      <vt:lpstr>Design-Phase</vt:lpstr>
      <vt:lpstr>Workshop 1: Unternehmensebene</vt:lpstr>
      <vt:lpstr>Design-Phase</vt:lpstr>
      <vt:lpstr>Iteration 1: Unternehmensebene Externe Sicht -Markt</vt:lpstr>
      <vt:lpstr>Iteration 1: Unternehmensebene Interne Sicht –Stärken und Schwächen</vt:lpstr>
      <vt:lpstr>Unternehmensebene: Bewertung von Anwendungen/Projekten</vt:lpstr>
      <vt:lpstr>Unternehmensebene: Bewertung von Prozessen/Projekten</vt:lpstr>
      <vt:lpstr>Workshop 2: Prozessebene</vt:lpstr>
      <vt:lpstr>Prozessebene: Visualisierung</vt:lpstr>
      <vt:lpstr>Prozessebene: Markt</vt:lpstr>
      <vt:lpstr>Iteration 2: Prozessebene operativ</vt:lpstr>
      <vt:lpstr>Zeitplan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Marc Strebel</dc:creator>
  <cp:lastModifiedBy>Knut Hinkelmann</cp:lastModifiedBy>
  <cp:revision>88</cp:revision>
  <cp:lastPrinted>2024-06-18T18:46:06Z</cp:lastPrinted>
  <dcterms:created xsi:type="dcterms:W3CDTF">2020-03-10T10:14:58Z</dcterms:created>
  <dcterms:modified xsi:type="dcterms:W3CDTF">2025-10-06T14:42:51Z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0x01010079E0402BF8C7D14C96FA1C9E93A281F2</vt:lpwstr>
  </property>
  <property fmtid="{D5CDD505-2E9C-101B-9397-08002B2CF9AE}" pid="3" name="MediaServiceImageTags">
    <vt:lpwstr/>
  </property>
</Properties>
</file>